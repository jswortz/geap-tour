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agent-evaluation" TargetMode="External"/><Relationship Id="rId3" Type="http://schemas.openxmlformats.org/officeDocument/2006/relationships/hyperlink" Target="https://github.com/jswortz/geap-tour/tree/evaluations" TargetMode="External"/><Relationship Id="rId4" Type="http://schemas.openxmlformats.org/officeDocument/2006/relationships/hyperlink" Target="https://github.com/jswortz/geap-tour/blob/evaluations/docs/evaluation_demo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agent-evaluation" TargetMode="External"/><Relationship Id="rId3" Type="http://schemas.openxmlformats.org/officeDocument/2006/relationships/hyperlink" Target="https://github.com/jswortz/geap-tour/blob/evaluations/docs/evaluation_demo.md" TargetMode="External"/><Relationship Id="rId4" Type="http://schemas.openxmlformats.org/officeDocument/2006/relationships/hyperlink" Target="https://github.com/jswortz/geap-tour/blob/evaluations/docs/eval_operations.md" TargetMode="Externa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manage-metrics" TargetMode="External"/><Relationship Id="rId3" Type="http://schemas.openxmlformats.org/officeDocument/2006/relationships/hyperlink" Target="https://github.com/jswortz/geap-tour/blob/evaluations/src/eval/metric_registry.py" TargetMode="External"/><Relationship Id="rId4" Type="http://schemas.openxmlformats.org/officeDocument/2006/relationships/hyperlink" Target="https://github.com/jswortz/geap-tour/blob/evaluations/src/eval/agent_eval_configs.py" TargetMode="External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evaluate-agents" TargetMode="External"/><Relationship Id="rId3" Type="http://schemas.openxmlformats.org/officeDocument/2006/relationships/hyperlink" Target="https://github.com/jswortz/geap-tour/blob/evaluations/src/eval/multi_agent_batch_eval.py" TargetMode="External"/><Relationship Id="rId4" Type="http://schemas.openxmlformats.org/officeDocument/2006/relationships/hyperlink" Target="https://github.com/jswortz/geap-tour/blob/evaluations/src/eval/simulated_eval.py" TargetMode="External"/><Relationship Id="rId5" Type="http://schemas.openxmlformats.org/officeDocument/2006/relationships/hyperlink" Target="https://github.com/jswortz/geap-tour/blob/evaluations/src/eval/env_simulation.py" TargetMode="External"/><Relationship Id="rId6" Type="http://schemas.openxmlformats.org/officeDocument/2006/relationships/hyperlink" Target="https://github.com/jswortz/geap-tour/blob/evaluations/src/eval/offline_trace_eval.py" TargetMode="External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evaluate-online" TargetMode="External"/><Relationship Id="rId3" Type="http://schemas.openxmlformats.org/officeDocument/2006/relationships/hyperlink" Target="https://github.com/jswortz/geap-tour/blob/evaluations/src/eval/setup_online_evaluators.py" TargetMode="External"/><Relationship Id="rId4" Type="http://schemas.openxmlformats.org/officeDocument/2006/relationships/hyperlink" Target="https://github.com/jswortz/geap-tour/blob/evaluations/src/eval/publish_metrics.py" TargetMode="External"/><Relationship Id="rId5" Type="http://schemas.openxmlformats.org/officeDocument/2006/relationships/hyperlink" Target="https://github.com/jswortz/geap-tour/blob/evaluations/src/eval/quality_alerts.py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optimize-agent" TargetMode="External"/><Relationship Id="rId3" Type="http://schemas.openxmlformats.org/officeDocument/2006/relationships/hyperlink" Target="https://github.com/jswortz/geap-tour/blob/evaluations/src/eval/sdk_optimize.py" TargetMode="External"/><Relationship Id="rId4" Type="http://schemas.openxmlformats.org/officeDocument/2006/relationships/hyperlink" Target="https://github.com/jswortz/geap-tour/blob/evaluations/src/optimize/run_optimize.py" TargetMode="External"/><Relationship Id="rId5" Type="http://schemas.openxmlformats.org/officeDocument/2006/relationships/hyperlink" Target="https://github.com/jswortz/geap-tour/blob/evaluations/src/eval/agents_cli_demo.sh" TargetMode="External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cloud.google.com/gemini-enterprise-agent-platform/optimize/evaluation/agent-evaluation" TargetMode="External"/><Relationship Id="rId3" Type="http://schemas.openxmlformats.org/officeDocument/2006/relationships/hyperlink" Target="https://github.com/jswortz/geap-tour/blob/evaluations/docs/eval_operations.md" TargetMode="External"/><Relationship Id="rId4" Type="http://schemas.openxmlformats.org/officeDocument/2006/relationships/hyperlink" Target="https://github.com/jswortz/geap-tour/blob/evaluations/docs/evaluation_demo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Gemini Enterprise Agent Platform › Optimize ›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1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3311" y="1234440"/>
            <a:ext cx="4005072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GEMINI ENTERPRISE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>
                <a:solidFill>
                  <a:srgbClr val="202124"/>
                </a:solidFill>
                <a:latin typeface="Arial"/>
              </a:rPr>
              <a:t>Evaluating Agents on the </a:t>
            </a:r>
            <a:r>
              <a:rPr sz="4200">
                <a:solidFill>
                  <a:srgbClr val="1A73E8"/>
                </a:solidFill>
                <a:latin typeface="Arial"/>
              </a:rPr>
              <a:t>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063240"/>
            <a:ext cx="87169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5F6368"/>
                </a:solidFill>
              </a:rPr>
              <a:t>The Quality Flywheel. Measure, monitor, and keep improving agent quality end to end. A hands-on walkthrough that covers everything in the Optimize / Evaluation docs, run against real deployed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448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F6368"/>
                </a:solidFill>
                <a:latin typeface="Arial"/>
              </a:rPr>
              <a:t>Design   ›   Execution   ›   Scoring   ›   Refinement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4572000"/>
            <a:ext cx="8716975" cy="45720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25400" bIns="25400"/>
          <a:lstStyle/>
          <a:p>
            <a:pPr algn="ctr"/>
            <a:r>
              <a:rPr sz="1200">
                <a:solidFill>
                  <a:srgbClr val="8AB4F8"/>
                </a:solidFill>
                <a:latin typeface="Consolas"/>
              </a:rPr>
              <a:t>$ </a:t>
            </a:r>
            <a:r>
              <a:rPr sz="1200">
                <a:solidFill>
                  <a:srgbClr val="E8EAED"/>
                </a:solidFill>
                <a:latin typeface="Consolas"/>
              </a:rPr>
              <a:t>uv run python -m src.eval.demo.full_eval_demo --agent-id $AGENT_ENGINE_ID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>
                <a:solidFill>
                  <a:srgbClr val="1A73E8"/>
                </a:solidFill>
                <a:hlinkClick r:id="rId2"/>
              </a:rPr>
              <a:t>Docs: Optimize / Evaluation ↗</a:t>
            </a:r>
            <a:r>
              <a:rPr sz="1200">
                <a:solidFill>
                  <a:srgbClr val="5F6368"/>
                </a:solidFill>
              </a:rPr>
              <a:t>      ·      </a:t>
            </a:r>
            <a:r>
              <a:rPr sz="1200">
                <a:solidFill>
                  <a:srgbClr val="1A73E8"/>
                </a:solidFill>
                <a:hlinkClick r:id="rId3"/>
              </a:rPr>
              <a:t>github.com/jswortz/geap-tour ↗</a:t>
            </a:r>
            <a:r>
              <a:rPr sz="1200">
                <a:solidFill>
                  <a:srgbClr val="5F6368"/>
                </a:solidFill>
              </a:rPr>
              <a:t>      ·      </a:t>
            </a:r>
            <a:r>
              <a:rPr sz="1200">
                <a:solidFill>
                  <a:srgbClr val="1A73E8"/>
                </a:solidFill>
                <a:hlinkClick r:id="rId4"/>
              </a:rPr>
              <a:t>Demo walkthrough 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Gemini Enterprise Agent Platform › Optimize ›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2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3017520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THE QUALITY FLYWHEEL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>
                <a:solidFill>
                  <a:srgbClr val="202124"/>
                </a:solidFill>
                <a:latin typeface="Arial"/>
              </a:rPr>
              <a:t>Evaluating agents on the </a:t>
            </a:r>
            <a:r>
              <a:rPr sz="3000">
                <a:solidFill>
                  <a:srgbClr val="1A73E8"/>
                </a:solidFill>
                <a:latin typeface="Arial"/>
              </a:rPr>
              <a:t>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Turn “it seems to work” into something you can measure. Evaluation is a loop across four phases: Design, Execution, Scoring, Refinement.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Define</a:t>
            </a:r>
            <a:r>
              <a:rPr sz="1250" b="0">
                <a:solidFill>
                  <a:srgbClr val="3C4043"/>
                </a:solidFill>
                <a:latin typeface="Arial"/>
              </a:rPr>
              <a:t> eval cases and metrics, </a:t>
            </a:r>
            <a:r>
              <a:rPr sz="1250" b="1">
                <a:solidFill>
                  <a:srgbClr val="202124"/>
                </a:solidFill>
                <a:latin typeface="Arial"/>
              </a:rPr>
              <a:t>run</a:t>
            </a:r>
            <a:r>
              <a:rPr sz="1250" b="0">
                <a:solidFill>
                  <a:srgbClr val="3C4043"/>
                </a:solidFill>
                <a:latin typeface="Arial"/>
              </a:rPr>
              <a:t> inferences to produce traces, </a:t>
            </a:r>
            <a:r>
              <a:rPr sz="1250" b="1">
                <a:solidFill>
                  <a:srgbClr val="202124"/>
                </a:solidFill>
                <a:latin typeface="Arial"/>
              </a:rPr>
              <a:t>score</a:t>
            </a:r>
            <a:r>
              <a:rPr sz="1250" b="0">
                <a:solidFill>
                  <a:srgbClr val="3C4043"/>
                </a:solidFill>
                <a:latin typeface="Arial"/>
              </a:rPr>
              <a:t> them with autoraters, then </a:t>
            </a:r>
            <a:r>
              <a:rPr sz="1250" b="1">
                <a:solidFill>
                  <a:srgbClr val="202124"/>
                </a:solidFill>
                <a:latin typeface="Arial"/>
              </a:rPr>
              <a:t>analyze</a:t>
            </a:r>
            <a:r>
              <a:rPr sz="1250" b="0">
                <a:solidFill>
                  <a:srgbClr val="3C4043"/>
                </a:solidFill>
                <a:latin typeface="Arial"/>
              </a:rPr>
              <a:t> and </a:t>
            </a:r>
            <a:r>
              <a:rPr sz="1250" b="1">
                <a:solidFill>
                  <a:srgbClr val="202124"/>
                </a:solidFill>
                <a:latin typeface="Arial"/>
              </a:rPr>
              <a:t>optimize</a:t>
            </a:r>
            <a:r>
              <a:rPr sz="1250" b="0">
                <a:solidFill>
                  <a:srgbClr val="3C4043"/>
                </a:solidFill>
                <a:latin typeface="Arial"/>
              </a:rPr>
              <a:t>. Repeat.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0">
                <a:solidFill>
                  <a:srgbClr val="3C4043"/>
                </a:solidFill>
                <a:latin typeface="Arial"/>
              </a:rPr>
              <a:t>Covers </a:t>
            </a:r>
            <a:r>
              <a:rPr sz="1250" b="1">
                <a:solidFill>
                  <a:srgbClr val="202124"/>
                </a:solidFill>
                <a:latin typeface="Arial"/>
              </a:rPr>
              <a:t>all 9 of the “Optimize / Evaluation” doc pages</a:t>
            </a:r>
            <a:r>
              <a:rPr sz="1250" b="0">
                <a:solidFill>
                  <a:srgbClr val="3C4043"/>
                </a:solidFill>
                <a:latin typeface="Arial"/>
              </a:rPr>
              <a:t>, running against real deployed agents.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0">
                <a:solidFill>
                  <a:srgbClr val="3C4043"/>
                </a:solidFill>
                <a:latin typeface="Arial"/>
              </a:rPr>
              <a:t>Run it:  uv run python -m src.eval.demo.full_eval_demo --agent-id $AGENT_ENGINE_ID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1A73E8"/>
                </a:solidFill>
                <a:hlinkClick r:id="rId2"/>
              </a:rPr>
              <a:t>Docs: Agent evaluation overview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959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1967D2"/>
                </a:solidFill>
                <a:latin typeface="Consolas"/>
                <a:hlinkClick r:id="rId3"/>
              </a:rPr>
              <a:t>&lt;/&gt; docs/evaluation_demo.md    </a:t>
            </a:r>
            <a:r>
              <a:rPr sz="1100">
                <a:solidFill>
                  <a:srgbClr val="1967D2"/>
                </a:solidFill>
                <a:latin typeface="Consolas"/>
                <a:hlinkClick r:id="rId4"/>
              </a:rPr>
              <a:t>&lt;/&gt; docs/eval_operations.md    </a:t>
            </a:r>
          </a:p>
        </p:txBody>
      </p:sp>
      <p:pic>
        <p:nvPicPr>
          <p:cNvPr id="11" name="Picture 10" descr="eval_console_agent_tra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51560"/>
            <a:ext cx="5486400" cy="308610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Phase 1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3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4023360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DEFINE “GOOD” · METRIC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>
                <a:solidFill>
                  <a:srgbClr val="202124"/>
                </a:solidFill>
                <a:latin typeface="Arial"/>
              </a:rPr>
              <a:t>Pick a metric, or </a:t>
            </a:r>
            <a:r>
              <a:rPr sz="3000">
                <a:solidFill>
                  <a:srgbClr val="1A73E8"/>
                </a:solidFill>
                <a:latin typeface="Arial"/>
              </a:rPr>
              <a:t>write</a:t>
            </a:r>
            <a:r>
              <a:rPr sz="3000">
                <a:solidFill>
                  <a:srgbClr val="202124"/>
                </a:solidFill>
                <a:latin typeface="Arial"/>
              </a:rPr>
              <a:t> your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Define a metric once and reuse it across offline runs and online monitors. There are three kinds, plus the split between reference-based and reference-free.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Predefined rubric</a:t>
            </a:r>
            <a:r>
              <a:rPr sz="1250" b="0">
                <a:solidFill>
                  <a:srgbClr val="3C4043"/>
                </a:solidFill>
                <a:latin typeface="Arial"/>
              </a:rPr>
              <a:t>: single-turn (Final Response Quality, Hallucination, Tool Use, Safety) and multi-turn (Task Success, Tool Use, Trajectory).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Adaptive</a:t>
            </a:r>
            <a:r>
              <a:rPr sz="1250" b="0">
                <a:solidFill>
                  <a:srgbClr val="3C4043"/>
                </a:solidFill>
                <a:latin typeface="Arial"/>
              </a:rPr>
              <a:t> rubrics write their own criteria; </a:t>
            </a:r>
            <a:r>
              <a:rPr sz="1250" b="1">
                <a:solidFill>
                  <a:srgbClr val="202124"/>
                </a:solidFill>
                <a:latin typeface="Arial"/>
              </a:rPr>
              <a:t>static</a:t>
            </a:r>
            <a:r>
              <a:rPr sz="1250" b="0">
                <a:solidFill>
                  <a:srgbClr val="3C4043"/>
                </a:solidFill>
                <a:latin typeface="Arial"/>
              </a:rPr>
              <a:t> ones score 0 to 1.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Custom LLM-as-judge</a:t>
            </a:r>
            <a:r>
              <a:rPr sz="1250" b="0">
                <a:solidFill>
                  <a:srgbClr val="3C4043"/>
                </a:solidFill>
                <a:latin typeface="Arial"/>
              </a:rPr>
              <a:t> (types.LLMMetric) and </a:t>
            </a:r>
            <a:r>
              <a:rPr sz="1250" b="1">
                <a:solidFill>
                  <a:srgbClr val="202124"/>
                </a:solidFill>
                <a:latin typeface="Arial"/>
              </a:rPr>
              <a:t>custom code</a:t>
            </a:r>
            <a:r>
              <a:rPr sz="1250" b="0">
                <a:solidFill>
                  <a:srgbClr val="3C4043"/>
                </a:solidFill>
                <a:latin typeface="Arial"/>
              </a:rPr>
              <a:t> (types.CodeExecutionMetric).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Reference-based</a:t>
            </a:r>
            <a:r>
              <a:rPr sz="1250" b="0">
                <a:solidFill>
                  <a:srgbClr val="3C4043"/>
                </a:solidFill>
                <a:latin typeface="Arial"/>
              </a:rPr>
              <a:t> Exact Match vs </a:t>
            </a:r>
            <a:r>
              <a:rPr sz="1250" b="1">
                <a:solidFill>
                  <a:srgbClr val="202124"/>
                </a:solidFill>
                <a:latin typeface="Arial"/>
              </a:rPr>
              <a:t>reference-free</a:t>
            </a:r>
            <a:r>
              <a:rPr sz="1250" b="0">
                <a:solidFill>
                  <a:srgbClr val="3C4043"/>
                </a:solidFill>
                <a:latin typeface="Arial"/>
              </a:rPr>
              <a:t> rubrics.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1A73E8"/>
                </a:solidFill>
                <a:hlinkClick r:id="rId2"/>
              </a:rPr>
              <a:t>Docs: Manage evaluation metrics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959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1967D2"/>
                </a:solidFill>
                <a:latin typeface="Consolas"/>
                <a:hlinkClick r:id="rId3"/>
              </a:rPr>
              <a:t>&lt;/&gt; src/eval/metric_registry.py    </a:t>
            </a:r>
            <a:r>
              <a:rPr sz="1100">
                <a:solidFill>
                  <a:srgbClr val="1967D2"/>
                </a:solidFill>
                <a:latin typeface="Consolas"/>
                <a:hlinkClick r:id="rId4"/>
              </a:rPr>
              <a:t>&lt;/&gt; src/eval/agent_eval_configs.py    </a:t>
            </a:r>
          </a:p>
        </p:txBody>
      </p:sp>
      <p:pic>
        <p:nvPicPr>
          <p:cNvPr id="11" name="Picture 10" descr="eval_console_metrics_t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51560"/>
            <a:ext cx="5486400" cy="308610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Phase 2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4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2377440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GENERATE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>
                <a:solidFill>
                  <a:srgbClr val="202124"/>
                </a:solidFill>
                <a:latin typeface="Arial"/>
              </a:rPr>
              <a:t>Three ways to </a:t>
            </a:r>
            <a:r>
              <a:rPr sz="3000">
                <a:solidFill>
                  <a:srgbClr val="1A73E8"/>
                </a:solidFill>
                <a:latin typeface="Arial"/>
              </a:rPr>
              <a:t>exercise</a:t>
            </a:r>
            <a:r>
              <a:rPr sz="3000">
                <a:solidFill>
                  <a:srgbClr val="202124"/>
                </a:solidFill>
                <a:latin typeface="Arial"/>
              </a:rPr>
              <a:t> the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A trace is the record of one run: the model inputs, the responses, and the tool calls. Produce them whichever way fits the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Batch / test-case</a:t>
            </a:r>
            <a:r>
              <a:rPr sz="1250" b="0">
                <a:solidFill>
                  <a:srgbClr val="3C4043"/>
                </a:solidFill>
                <a:latin typeface="Arial"/>
              </a:rPr>
              <a:t>: run inference over a fixed suite for regression testing in CI.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Simulated</a:t>
            </a:r>
            <a:r>
              <a:rPr sz="1250" b="0">
                <a:solidFill>
                  <a:srgbClr val="3C4043"/>
                </a:solidFill>
                <a:latin typeface="Arial"/>
              </a:rPr>
              <a:t>: generate multi-turn scenarios and let an LLM play the user, grounded by environment_context. Inject mocked tools or 503s.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Offline</a:t>
            </a:r>
            <a:r>
              <a:rPr sz="1250" b="0">
                <a:solidFill>
                  <a:srgbClr val="3C4043"/>
                </a:solidFill>
                <a:latin typeface="Arial"/>
              </a:rPr>
              <a:t>: score </a:t>
            </a:r>
            <a:r>
              <a:rPr sz="1250" b="1">
                <a:solidFill>
                  <a:srgbClr val="202124"/>
                </a:solidFill>
                <a:latin typeface="Arial"/>
              </a:rPr>
              <a:t>already-recorded</a:t>
            </a:r>
            <a:r>
              <a:rPr sz="1250" b="0">
                <a:solidFill>
                  <a:srgbClr val="3C4043"/>
                </a:solidFill>
                <a:latin typeface="Arial"/>
              </a:rPr>
              <a:t> historical traces and sessions in Cloud Trace and BigQuery, with </a:t>
            </a:r>
            <a:r>
              <a:rPr sz="1250" b="1">
                <a:solidFill>
                  <a:srgbClr val="202124"/>
                </a:solidFill>
                <a:latin typeface="Arial"/>
              </a:rPr>
              <a:t>no new inference</a:t>
            </a:r>
            <a:r>
              <a:rPr sz="1250" b="0">
                <a:solidFill>
                  <a:srgbClr val="3C4043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1A73E8"/>
                </a:solidFill>
                <a:hlinkClick r:id="rId2"/>
              </a:rPr>
              <a:t>Docs: Run evaluation / Simulate / Offline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959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1967D2"/>
                </a:solidFill>
                <a:latin typeface="Consolas"/>
                <a:hlinkClick r:id="rId3"/>
              </a:rPr>
              <a:t>&lt;/&gt; multi_agent_batch_eval.py    </a:t>
            </a:r>
            <a:r>
              <a:rPr sz="1100">
                <a:solidFill>
                  <a:srgbClr val="1967D2"/>
                </a:solidFill>
                <a:latin typeface="Consolas"/>
                <a:hlinkClick r:id="rId4"/>
              </a:rPr>
              <a:t>&lt;/&gt; simulated_eval.py    </a:t>
            </a:r>
            <a:r>
              <a:rPr sz="1100">
                <a:solidFill>
                  <a:srgbClr val="1967D2"/>
                </a:solidFill>
                <a:latin typeface="Consolas"/>
                <a:hlinkClick r:id="rId5"/>
              </a:rPr>
              <a:t>&lt;/&gt; env_simulation.py    </a:t>
            </a:r>
            <a:r>
              <a:rPr sz="1100">
                <a:solidFill>
                  <a:srgbClr val="1967D2"/>
                </a:solidFill>
                <a:latin typeface="Consolas"/>
                <a:hlinkClick r:id="rId6"/>
              </a:rPr>
              <a:t>&lt;/&gt; offline_trace_eval.py    </a:t>
            </a:r>
          </a:p>
        </p:txBody>
      </p:sp>
      <p:pic>
        <p:nvPicPr>
          <p:cNvPr id="11" name="Picture 10" descr="eval_console_agent_engin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051560"/>
            <a:ext cx="5486400" cy="308610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Phase 3 · Scoring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5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4023360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CONTINUOUS EVAL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>
                <a:solidFill>
                  <a:srgbClr val="202124"/>
                </a:solidFill>
                <a:latin typeface="Arial"/>
              </a:rPr>
              <a:t>Watch quality </a:t>
            </a:r>
            <a:r>
              <a:rPr sz="3000">
                <a:solidFill>
                  <a:srgbClr val="1A73E8"/>
                </a:solidFill>
                <a:latin typeface="Arial"/>
              </a:rPr>
              <a:t>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Online Monitors score live traffic as it comes in and send the scores to Cloud Monitoring, so you catch quality drift before users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Online Monitors</a:t>
            </a:r>
            <a:r>
              <a:rPr sz="1250" b="0">
                <a:solidFill>
                  <a:srgbClr val="3C4043"/>
                </a:solidFill>
                <a:latin typeface="Arial"/>
              </a:rPr>
              <a:t>: a roughly 10-minute loop that queries traffic, evaluates it, and reports. Sampling is configurable, and results land in Logging and Monitoring.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Metrics Explorer and dashboards</a:t>
            </a:r>
            <a:r>
              <a:rPr sz="1250" b="0">
                <a:solidFill>
                  <a:srgbClr val="3C4043"/>
                </a:solidFill>
                <a:latin typeface="Arial"/>
              </a:rPr>
              <a:t>: every score becomes a Cloud Monitoring metric (agent_eval/*, online_evaluator/scores), so you can chart, compare, and share it.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Quality-drift alerts</a:t>
            </a:r>
            <a:r>
              <a:rPr sz="1250" b="0">
                <a:solidFill>
                  <a:srgbClr val="3C4043"/>
                </a:solidFill>
                <a:latin typeface="Arial"/>
              </a:rPr>
              <a:t>: a per-monitor policy, the dashboard's Recommended Alerts, or gcloud / monitoring_v3.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1A73E8"/>
                </a:solidFill>
                <a:hlinkClick r:id="rId2"/>
              </a:rPr>
              <a:t>Docs: Online monitors / Quality alerts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959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1967D2"/>
                </a:solidFill>
                <a:latin typeface="Consolas"/>
                <a:hlinkClick r:id="rId3"/>
              </a:rPr>
              <a:t>&lt;/&gt; setup_online_evaluators.py    </a:t>
            </a:r>
            <a:r>
              <a:rPr sz="1100">
                <a:solidFill>
                  <a:srgbClr val="1967D2"/>
                </a:solidFill>
                <a:latin typeface="Consolas"/>
                <a:hlinkClick r:id="rId4"/>
              </a:rPr>
              <a:t>&lt;/&gt; publish_metrics.py    </a:t>
            </a:r>
            <a:r>
              <a:rPr sz="1100">
                <a:solidFill>
                  <a:srgbClr val="1967D2"/>
                </a:solidFill>
                <a:latin typeface="Consolas"/>
                <a:hlinkClick r:id="rId5"/>
              </a:rPr>
              <a:t>&lt;/&gt; quality_alerts.py    </a:t>
            </a:r>
          </a:p>
        </p:txBody>
      </p:sp>
      <p:pic>
        <p:nvPicPr>
          <p:cNvPr id="11" name="Picture 10" descr="eval_console_online_monito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240" y="868680"/>
            <a:ext cx="4958080" cy="278892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  <p:pic>
        <p:nvPicPr>
          <p:cNvPr id="12" name="Picture 11" descr="eval_console_metrics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240" y="3794760"/>
            <a:ext cx="4958080" cy="278892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Phase 4 ·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6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3657600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ANALYZE, OPTIMIZE,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>
                <a:solidFill>
                  <a:srgbClr val="202124"/>
                </a:solidFill>
                <a:latin typeface="Arial"/>
              </a:rPr>
              <a:t>Close the </a:t>
            </a:r>
            <a:r>
              <a:rPr sz="3000">
                <a:solidFill>
                  <a:srgbClr val="1A73E8"/>
                </a:solidFill>
                <a:latin typeface="Arial"/>
              </a:rPr>
              <a:t>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Don’t just learn that the agent failed. Learn why, then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Optimize</a:t>
            </a:r>
            <a:r>
              <a:rPr sz="1250" b="0">
                <a:solidFill>
                  <a:srgbClr val="3C4043"/>
                </a:solidFill>
                <a:latin typeface="Arial"/>
              </a:rPr>
              <a:t>: refine root instructions with </a:t>
            </a:r>
            <a:r>
              <a:rPr sz="1250" b="1">
                <a:solidFill>
                  <a:srgbClr val="202124"/>
                </a:solidFill>
                <a:latin typeface="Arial"/>
              </a:rPr>
              <a:t>GEPA</a:t>
            </a:r>
            <a:r>
              <a:rPr sz="1250" b="0">
                <a:solidFill>
                  <a:srgbClr val="3C4043"/>
                </a:solidFill>
                <a:latin typeface="Arial"/>
              </a:rPr>
              <a:t> or </a:t>
            </a:r>
            <a:r>
              <a:rPr sz="1250" b="1">
                <a:solidFill>
                  <a:srgbClr val="202124"/>
                </a:solidFill>
                <a:latin typeface="Arial"/>
              </a:rPr>
              <a:t>SimplePromptOptimizer</a:t>
            </a:r>
            <a:r>
              <a:rPr sz="1250" b="0">
                <a:solidFill>
                  <a:srgbClr val="3C4043"/>
                </a:solidFill>
                <a:latin typeface="Arial"/>
              </a:rPr>
              <a:t>, or drive the loop from an assistant with agents-cli eval.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Re-evaluate</a:t>
            </a:r>
            <a:r>
              <a:rPr sz="1250" b="0">
                <a:solidFill>
                  <a:srgbClr val="3C4043"/>
                </a:solidFill>
                <a:latin typeface="Arial"/>
              </a:rPr>
              <a:t>: score the tuned agent against the same suite and compare, closing the loop.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1A73E8"/>
                </a:solidFill>
              </a:rPr>
              <a:t>●  </a:t>
            </a:r>
            <a:r>
              <a:rPr sz="1250" b="1">
                <a:solidFill>
                  <a:srgbClr val="202124"/>
                </a:solidFill>
                <a:latin typeface="Arial"/>
              </a:rPr>
              <a:t>Built clean</a:t>
            </a:r>
            <a:r>
              <a:rPr sz="1250" b="0">
                <a:solidFill>
                  <a:srgbClr val="3C4043"/>
                </a:solidFill>
                <a:latin typeface="Arial"/>
              </a:rPr>
              <a:t>: current Google clients from PyPI, with 161 passing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1A73E8"/>
                </a:solidFill>
                <a:hlinkClick r:id="rId2"/>
              </a:rPr>
              <a:t>Docs: Optimize agent prompts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7959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1967D2"/>
                </a:solidFill>
                <a:latin typeface="Consolas"/>
                <a:hlinkClick r:id="rId3"/>
              </a:rPr>
              <a:t>&lt;/&gt; sdk_optimize.py    </a:t>
            </a:r>
            <a:r>
              <a:rPr sz="1100">
                <a:solidFill>
                  <a:srgbClr val="1967D2"/>
                </a:solidFill>
                <a:latin typeface="Consolas"/>
                <a:hlinkClick r:id="rId4"/>
              </a:rPr>
              <a:t>&lt;/&gt; run_optimize.py    </a:t>
            </a:r>
            <a:r>
              <a:rPr sz="1100">
                <a:solidFill>
                  <a:srgbClr val="1967D2"/>
                </a:solidFill>
                <a:latin typeface="Consolas"/>
                <a:hlinkClick r:id="rId5"/>
              </a:rPr>
              <a:t>&lt;/&gt; agents_cli_demo.sh    </a:t>
            </a:r>
          </a:p>
        </p:txBody>
      </p:sp>
      <p:pic>
        <p:nvPicPr>
          <p:cNvPr id="11" name="Picture 10" descr="eval_console_bigque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051560"/>
            <a:ext cx="5486400" cy="3086100"/>
          </a:xfrm>
          <a:prstGeom prst="rect">
            <a:avLst/>
          </a:prstGeom>
          <a:ln w="12700">
            <a:solidFill>
              <a:srgbClr val="DADCE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A73E8"/>
                </a:solidFill>
              </a:rPr>
              <a:t>☁ Google Cloud   </a:t>
            </a:r>
            <a:r>
              <a:rPr sz="1100">
                <a:solidFill>
                  <a:srgbClr val="5F6368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967D2"/>
                </a:solidFill>
              </a:rPr>
              <a:t>7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3311" y="1234440"/>
            <a:ext cx="4005072" cy="329184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1967D2"/>
                </a:solidFill>
              </a:rPr>
              <a:t>THE QUALITY FLYWHEEL IN ONE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>
                <a:solidFill>
                  <a:srgbClr val="202124"/>
                </a:solidFill>
                <a:latin typeface="Arial"/>
              </a:rPr>
              <a:t>From “seems to work” to </a:t>
            </a:r>
            <a:r>
              <a:rPr sz="3000">
                <a:solidFill>
                  <a:srgbClr val="1A73E8"/>
                </a:solidFill>
                <a:latin typeface="Arial"/>
              </a:rPr>
              <a:t>measured &amp; monitored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468880"/>
            <a:ext cx="78940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1A73E8"/>
                </a:solidFill>
              </a:rPr>
              <a:t>●  </a:t>
            </a:r>
            <a:r>
              <a:rPr sz="1300" b="1">
                <a:solidFill>
                  <a:srgbClr val="202124"/>
                </a:solidFill>
                <a:latin typeface="Arial"/>
              </a:rPr>
              <a:t>Design</a:t>
            </a:r>
            <a:r>
              <a:rPr sz="1300" b="0">
                <a:solidFill>
                  <a:srgbClr val="3C4043"/>
                </a:solidFill>
                <a:latin typeface="Arial"/>
              </a:rPr>
              <a:t>: a reusable Metric Registry with predefined rubrics, custom LLM-as-judge, custom code, and reference-based Exact Match.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A73E8"/>
                </a:solidFill>
              </a:rPr>
              <a:t>●  </a:t>
            </a:r>
            <a:r>
              <a:rPr sz="1300" b="1">
                <a:solidFill>
                  <a:srgbClr val="202124"/>
                </a:solidFill>
                <a:latin typeface="Arial"/>
              </a:rPr>
              <a:t>Execution</a:t>
            </a:r>
            <a:r>
              <a:rPr sz="1300" b="0">
                <a:solidFill>
                  <a:srgbClr val="3C4043"/>
                </a:solidFill>
                <a:latin typeface="Arial"/>
              </a:rPr>
              <a:t>: generate traces three ways, batch in CI, simulated (with user and environment simulation), and offline over historical traces.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A73E8"/>
                </a:solidFill>
              </a:rPr>
              <a:t>●  </a:t>
            </a:r>
            <a:r>
              <a:rPr sz="1300" b="1">
                <a:solidFill>
                  <a:srgbClr val="202124"/>
                </a:solidFill>
                <a:latin typeface="Arial"/>
              </a:rPr>
              <a:t>Scoring</a:t>
            </a:r>
            <a:r>
              <a:rPr sz="1300" b="0">
                <a:solidFill>
                  <a:srgbClr val="3C4043"/>
                </a:solidFill>
                <a:latin typeface="Arial"/>
              </a:rPr>
              <a:t>: Online Monitors export every score as a Cloud Monitoring metric, visible in Metrics Explorer, dashboards, and drift alerts.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A73E8"/>
                </a:solidFill>
              </a:rPr>
              <a:t>●  </a:t>
            </a:r>
            <a:r>
              <a:rPr sz="1300" b="1">
                <a:solidFill>
                  <a:srgbClr val="202124"/>
                </a:solidFill>
                <a:latin typeface="Arial"/>
              </a:rPr>
              <a:t>Refinement</a:t>
            </a:r>
            <a:r>
              <a:rPr sz="1300" b="0">
                <a:solidFill>
                  <a:srgbClr val="3C4043"/>
                </a:solidFill>
                <a:latin typeface="Arial"/>
              </a:rPr>
              <a:t>: optimize the agent's instructions with GEPA, SimplePromptOptimizer, or agents-cli, then re-evaluate. Repeat.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73752"/>
            <a:ext cx="94484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F6368"/>
                </a:solidFill>
                <a:latin typeface="Arial"/>
              </a:rPr>
              <a:t>Built clean: current Google clients from PyPI, with 161 passing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5422392"/>
            <a:ext cx="8716975" cy="45720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25400" bIns="25400"/>
          <a:lstStyle/>
          <a:p>
            <a:pPr algn="ctr"/>
            <a:r>
              <a:rPr sz="1200">
                <a:solidFill>
                  <a:srgbClr val="8AB4F8"/>
                </a:solidFill>
                <a:latin typeface="Consolas"/>
              </a:rPr>
              <a:t>$ </a:t>
            </a:r>
            <a:r>
              <a:rPr sz="1200">
                <a:solidFill>
                  <a:srgbClr val="E8EAED"/>
                </a:solidFill>
                <a:latin typeface="Consolas"/>
              </a:rPr>
              <a:t>uv run python -m src.eval.demo.full_eval_demo --agent-id $AGENT_ENGINE_ID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59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>
                <a:solidFill>
                  <a:srgbClr val="1A73E8"/>
                </a:solidFill>
                <a:hlinkClick r:id="rId2"/>
              </a:rPr>
              <a:t>Docs: Optimize / Evaluation ↗</a:t>
            </a:r>
            <a:r>
              <a:rPr sz="1200">
                <a:solidFill>
                  <a:srgbClr val="5F6368"/>
                </a:solidFill>
              </a:rPr>
              <a:t>      ·      </a:t>
            </a:r>
            <a:r>
              <a:rPr sz="1200">
                <a:solidFill>
                  <a:srgbClr val="1A73E8"/>
                </a:solidFill>
                <a:hlinkClick r:id="rId3"/>
              </a:rPr>
              <a:t>Coverage matrix (§0) ↗</a:t>
            </a:r>
            <a:r>
              <a:rPr sz="1200">
                <a:solidFill>
                  <a:srgbClr val="5F6368"/>
                </a:solidFill>
              </a:rPr>
              <a:t>      ·      </a:t>
            </a:r>
            <a:r>
              <a:rPr sz="1200">
                <a:solidFill>
                  <a:srgbClr val="1A73E8"/>
                </a:solidFill>
                <a:hlinkClick r:id="rId4"/>
              </a:rPr>
              <a:t>Demo walkthrough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