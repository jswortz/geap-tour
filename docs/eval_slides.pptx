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cloud.google.com/gemini-enterprise-agent-platform/optimize/evaluation/agent-evaluation" TargetMode="External"/><Relationship Id="rId3" Type="http://schemas.openxmlformats.org/officeDocument/2006/relationships/hyperlink" Target="https://github.com/jswortz/geap-tour/blob/evaluations/docs/evaluation_demo.md" TargetMode="External"/><Relationship Id="rId4" Type="http://schemas.openxmlformats.org/officeDocument/2006/relationships/hyperlink" Target="https://github.com/jswortz/geap-tour/blob/evaluations/docs/eval_operations.md" TargetMode="External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cloud.google.com/gemini-enterprise-agent-platform/optimize/evaluation/manage-metrics" TargetMode="External"/><Relationship Id="rId3" Type="http://schemas.openxmlformats.org/officeDocument/2006/relationships/hyperlink" Target="https://github.com/jswortz/geap-tour/blob/evaluations/src/eval/metric_registry.py" TargetMode="External"/><Relationship Id="rId4" Type="http://schemas.openxmlformats.org/officeDocument/2006/relationships/hyperlink" Target="https://github.com/jswortz/geap-tour/blob/evaluations/src/eval/agent_eval_configs.py" TargetMode="External"/><Relationship Id="rId5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cloud.google.com/gemini-enterprise-agent-platform/optimize/evaluation/evaluate-agents" TargetMode="External"/><Relationship Id="rId3" Type="http://schemas.openxmlformats.org/officeDocument/2006/relationships/hyperlink" Target="https://github.com/jswortz/geap-tour/blob/evaluations/src/eval/multi_agent_batch_eval.py" TargetMode="External"/><Relationship Id="rId4" Type="http://schemas.openxmlformats.org/officeDocument/2006/relationships/hyperlink" Target="https://github.com/jswortz/geap-tour/blob/evaluations/src/eval/simulated_eval.py" TargetMode="External"/><Relationship Id="rId5" Type="http://schemas.openxmlformats.org/officeDocument/2006/relationships/hyperlink" Target="https://github.com/jswortz/geap-tour/blob/evaluations/src/eval/env_simulation.py" TargetMode="External"/><Relationship Id="rId6" Type="http://schemas.openxmlformats.org/officeDocument/2006/relationships/hyperlink" Target="https://github.com/jswortz/geap-tour/blob/evaluations/src/eval/offline_trace_eval.py" TargetMode="External"/><Relationship Id="rId7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cloud.google.com/gemini-enterprise-agent-platform/optimize/evaluation/evaluate-online" TargetMode="External"/><Relationship Id="rId3" Type="http://schemas.openxmlformats.org/officeDocument/2006/relationships/hyperlink" Target="https://github.com/jswortz/geap-tour/blob/evaluations/src/eval/setup_online_evaluators.py" TargetMode="External"/><Relationship Id="rId4" Type="http://schemas.openxmlformats.org/officeDocument/2006/relationships/hyperlink" Target="https://github.com/jswortz/geap-tour/blob/evaluations/src/eval/quality_alerts.py" TargetMode="External"/><Relationship Id="rId5" Type="http://schemas.openxmlformats.org/officeDocument/2006/relationships/hyperlink" Target="https://github.com/jswortz/geap-tour/blob/evaluations/src/eval/policies/quality_drift_policy.yaml" TargetMode="External"/><Relationship Id="rId6" Type="http://schemas.openxmlformats.org/officeDocument/2006/relationships/image" Target="../media/image4.png"/><Relationship Id="rId7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cloud.google.com/gemini-enterprise-agent-platform/optimize/evaluation/view-results" TargetMode="External"/><Relationship Id="rId3" Type="http://schemas.openxmlformats.org/officeDocument/2006/relationships/hyperlink" Target="https://github.com/jswortz/geap-tour/blob/evaluations/src/eval/failure_clusters.py" TargetMode="External"/><Relationship Id="rId4" Type="http://schemas.openxmlformats.org/officeDocument/2006/relationships/hyperlink" Target="https://github.com/jswortz/geap-tour/blob/evaluations/src/eval/loss_taxonomy.py" TargetMode="External"/><Relationship Id="rId5" Type="http://schemas.openxmlformats.org/officeDocument/2006/relationships/hyperlink" Target="https://github.com/jswortz/geap-tour/blob/evaluations/src/eval/sdk_optimize.py" TargetMode="External"/><Relationship Id="rId6" Type="http://schemas.openxmlformats.org/officeDocument/2006/relationships/hyperlink" Target="https://github.com/jswortz/geap-tour/blob/evaluations/src/optimize/run_optimize.py" TargetMode="External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8686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1A73E8"/>
                </a:solidFill>
              </a:rPr>
              <a:t>☁ Google Cloud   </a:t>
            </a:r>
            <a:r>
              <a:rPr sz="1100">
                <a:solidFill>
                  <a:srgbClr val="5F6368"/>
                </a:solidFill>
              </a:rPr>
              <a:t>Gemini Enterprise Agent Platform › Optimize ›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146304"/>
            <a:ext cx="1005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1967D2"/>
                </a:solidFill>
              </a:rPr>
              <a:t>1 / 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960120"/>
            <a:ext cx="3017520" cy="310896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1967D2"/>
                </a:solidFill>
              </a:rPr>
              <a:t>THE QUALITY FLYWHEEL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5486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0">
                <a:solidFill>
                  <a:srgbClr val="202124"/>
                </a:solidFill>
                <a:latin typeface="Arial"/>
              </a:rPr>
              <a:t>Evaluating agents on the </a:t>
            </a:r>
            <a:r>
              <a:rPr sz="3000" b="0">
                <a:solidFill>
                  <a:srgbClr val="1A73E8"/>
                </a:solidFill>
                <a:latin typeface="Arial"/>
              </a:rPr>
              <a:t>Agent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1460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>
                <a:solidFill>
                  <a:srgbClr val="5F6368"/>
                </a:solidFill>
              </a:rPr>
              <a:t>Turn “it seems to work” into measured quality. Evaluation runs as a continuous loop across four phases — Design › Execution › Scoring › Refinement.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83280"/>
            <a:ext cx="5486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000">
                <a:solidFill>
                  <a:srgbClr val="1A73E8"/>
                </a:solidFill>
              </a:rPr>
              <a:t>●  </a:t>
            </a:r>
            <a:r>
              <a:rPr sz="1250" b="1">
                <a:solidFill>
                  <a:srgbClr val="202124"/>
                </a:solidFill>
                <a:latin typeface="Arial"/>
              </a:rPr>
              <a:t>Define</a:t>
            </a:r>
            <a:r>
              <a:rPr sz="1250" b="0">
                <a:solidFill>
                  <a:srgbClr val="3C4043"/>
                </a:solidFill>
                <a:latin typeface="Arial"/>
              </a:rPr>
              <a:t> eval cases &amp; metrics → </a:t>
            </a:r>
            <a:r>
              <a:rPr sz="1250" b="1">
                <a:solidFill>
                  <a:srgbClr val="202124"/>
                </a:solidFill>
                <a:latin typeface="Arial"/>
              </a:rPr>
              <a:t>run</a:t>
            </a:r>
            <a:r>
              <a:rPr sz="1250" b="0">
                <a:solidFill>
                  <a:srgbClr val="3C4043"/>
                </a:solidFill>
                <a:latin typeface="Arial"/>
              </a:rPr>
              <a:t> inferences → </a:t>
            </a:r>
            <a:r>
              <a:rPr sz="1250" b="1">
                <a:solidFill>
                  <a:srgbClr val="202124"/>
                </a:solidFill>
                <a:latin typeface="Arial"/>
              </a:rPr>
              <a:t>score</a:t>
            </a:r>
            <a:r>
              <a:rPr sz="1250" b="0">
                <a:solidFill>
                  <a:srgbClr val="3C4043"/>
                </a:solidFill>
                <a:latin typeface="Arial"/>
              </a:rPr>
              <a:t> with autoraters → </a:t>
            </a:r>
            <a:r>
              <a:rPr sz="1250" b="1">
                <a:solidFill>
                  <a:srgbClr val="202124"/>
                </a:solidFill>
                <a:latin typeface="Arial"/>
              </a:rPr>
              <a:t>analyze</a:t>
            </a:r>
            <a:r>
              <a:rPr sz="1250" b="0">
                <a:solidFill>
                  <a:srgbClr val="3C4043"/>
                </a:solidFill>
                <a:latin typeface="Arial"/>
              </a:rPr>
              <a:t> &amp; </a:t>
            </a:r>
            <a:r>
              <a:rPr sz="1250" b="1">
                <a:solidFill>
                  <a:srgbClr val="202124"/>
                </a:solidFill>
                <a:latin typeface="Arial"/>
              </a:rPr>
              <a:t>optimize</a:t>
            </a:r>
            <a:r>
              <a:rPr sz="1250" b="0">
                <a:solidFill>
                  <a:srgbClr val="3C4043"/>
                </a:solidFill>
                <a:latin typeface="Arial"/>
              </a:rPr>
              <a:t>, then repeat.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1A73E8"/>
                </a:solidFill>
              </a:rPr>
              <a:t>●  </a:t>
            </a:r>
            <a:r>
              <a:rPr sz="1250" b="0">
                <a:solidFill>
                  <a:srgbClr val="3C4043"/>
                </a:solidFill>
                <a:latin typeface="Arial"/>
              </a:rPr>
              <a:t>Demonstrates </a:t>
            </a:r>
            <a:r>
              <a:rPr sz="1250" b="1">
                <a:solidFill>
                  <a:srgbClr val="202124"/>
                </a:solidFill>
                <a:latin typeface="Arial"/>
              </a:rPr>
              <a:t>100% of the 9 “Optimize → Evaluation” doc pages</a:t>
            </a:r>
            <a:r>
              <a:rPr sz="1250" b="0">
                <a:solidFill>
                  <a:srgbClr val="3C4043"/>
                </a:solidFill>
                <a:latin typeface="Arial"/>
              </a:rPr>
              <a:t> against real deployed agents.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1A73E8"/>
                </a:solidFill>
              </a:rPr>
              <a:t>●  </a:t>
            </a:r>
            <a:r>
              <a:rPr sz="1250" b="0">
                <a:solidFill>
                  <a:srgbClr val="3C4043"/>
                </a:solidFill>
                <a:latin typeface="Arial"/>
              </a:rPr>
              <a:t>Run it:  uv run python -m src.eval.demo.full_eval_demo --agent-id $AGENT_ENGINE_ID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532120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>
                <a:solidFill>
                  <a:srgbClr val="1A73E8"/>
                </a:solidFill>
                <a:hlinkClick r:id="rId2"/>
              </a:rPr>
              <a:t>Docs: Agent evaluation overview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79592"/>
            <a:ext cx="5486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>
                <a:solidFill>
                  <a:srgbClr val="1967D2"/>
                </a:solidFill>
                <a:latin typeface="Consolas"/>
                <a:hlinkClick r:id="rId3"/>
              </a:rPr>
              <a:t>&lt;/&gt; docs/evaluation_demo.md    </a:t>
            </a:r>
            <a:r>
              <a:rPr sz="1100">
                <a:solidFill>
                  <a:srgbClr val="1967D2"/>
                </a:solidFill>
                <a:latin typeface="Consolas"/>
                <a:hlinkClick r:id="rId4"/>
              </a:rPr>
              <a:t>&lt;/&gt; docs/eval_operations.md    </a:t>
            </a:r>
          </a:p>
        </p:txBody>
      </p:sp>
      <p:pic>
        <p:nvPicPr>
          <p:cNvPr id="11" name="Picture 10" descr="eval_console_evalua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1051560"/>
            <a:ext cx="5486400" cy="3086100"/>
          </a:xfrm>
          <a:prstGeom prst="rect">
            <a:avLst/>
          </a:prstGeom>
          <a:ln w="12700">
            <a:solidFill>
              <a:srgbClr val="DADCE0"/>
            </a:solidFill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8686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1A73E8"/>
                </a:solidFill>
              </a:rPr>
              <a:t>☁ Google Cloud   </a:t>
            </a:r>
            <a:r>
              <a:rPr sz="1100">
                <a:solidFill>
                  <a:srgbClr val="5F6368"/>
                </a:solidFill>
              </a:rPr>
              <a:t>Phase 1 ·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146304"/>
            <a:ext cx="1005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1967D2"/>
                </a:solidFill>
              </a:rPr>
              <a:t>2 / 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960120"/>
            <a:ext cx="4023360" cy="310896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1967D2"/>
                </a:solidFill>
              </a:rPr>
              <a:t>DEFINE “GOOD” · METRIC REGISTRY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5486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0">
                <a:solidFill>
                  <a:srgbClr val="202124"/>
                </a:solidFill>
                <a:latin typeface="Arial"/>
              </a:rPr>
              <a:t>Pick — or </a:t>
            </a:r>
            <a:r>
              <a:rPr sz="3000" b="0">
                <a:solidFill>
                  <a:srgbClr val="1A73E8"/>
                </a:solidFill>
                <a:latin typeface="Arial"/>
              </a:rPr>
              <a:t>write</a:t>
            </a:r>
            <a:r>
              <a:rPr sz="3000" b="0">
                <a:solidFill>
                  <a:srgbClr val="202124"/>
                </a:solidFill>
                <a:latin typeface="Arial"/>
              </a:rPr>
              <a:t> — your metrics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1460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>
                <a:solidFill>
                  <a:srgbClr val="5F6368"/>
                </a:solidFill>
              </a:rPr>
              <a:t>Define a metric once, reuse it across offline runs and online monitors. Three metric types, plus reference-based vs reference-free.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83280"/>
            <a:ext cx="5486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000">
                <a:solidFill>
                  <a:srgbClr val="1A73E8"/>
                </a:solidFill>
              </a:rPr>
              <a:t>●  </a:t>
            </a:r>
            <a:r>
              <a:rPr sz="1250" b="1">
                <a:solidFill>
                  <a:srgbClr val="202124"/>
                </a:solidFill>
                <a:latin typeface="Arial"/>
              </a:rPr>
              <a:t>Predefined rubric</a:t>
            </a:r>
            <a:r>
              <a:rPr sz="1250" b="0">
                <a:solidFill>
                  <a:srgbClr val="3C4043"/>
                </a:solidFill>
                <a:latin typeface="Arial"/>
              </a:rPr>
              <a:t> — single-turn (Final Response Quality, Hallucination, Tool Use, Safety) &amp; multi-turn (Task Success, Tool Use, Trajectory).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1A73E8"/>
                </a:solidFill>
              </a:rPr>
              <a:t>●  </a:t>
            </a:r>
            <a:r>
              <a:rPr sz="1250" b="1">
                <a:solidFill>
                  <a:srgbClr val="202124"/>
                </a:solidFill>
                <a:latin typeface="Arial"/>
              </a:rPr>
              <a:t>Adaptive</a:t>
            </a:r>
            <a:r>
              <a:rPr sz="1250" b="0">
                <a:solidFill>
                  <a:srgbClr val="3C4043"/>
                </a:solidFill>
                <a:latin typeface="Arial"/>
              </a:rPr>
              <a:t> rubrics auto-generate criteria; </a:t>
            </a:r>
            <a:r>
              <a:rPr sz="1250" b="1">
                <a:solidFill>
                  <a:srgbClr val="202124"/>
                </a:solidFill>
                <a:latin typeface="Arial"/>
              </a:rPr>
              <a:t>static</a:t>
            </a:r>
            <a:r>
              <a:rPr sz="1250" b="0">
                <a:solidFill>
                  <a:srgbClr val="3C4043"/>
                </a:solidFill>
                <a:latin typeface="Arial"/>
              </a:rPr>
              <a:t> ones score 0–1.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1A73E8"/>
                </a:solidFill>
              </a:rPr>
              <a:t>●  </a:t>
            </a:r>
            <a:r>
              <a:rPr sz="1250" b="1">
                <a:solidFill>
                  <a:srgbClr val="202124"/>
                </a:solidFill>
                <a:latin typeface="Arial"/>
              </a:rPr>
              <a:t>Custom LLM-as-judge</a:t>
            </a:r>
            <a:r>
              <a:rPr sz="1250" b="0">
                <a:solidFill>
                  <a:srgbClr val="3C4043"/>
                </a:solidFill>
                <a:latin typeface="Arial"/>
              </a:rPr>
              <a:t> (types.LLMMetric) and </a:t>
            </a:r>
            <a:r>
              <a:rPr sz="1250" b="1">
                <a:solidFill>
                  <a:srgbClr val="202124"/>
                </a:solidFill>
                <a:latin typeface="Arial"/>
              </a:rPr>
              <a:t>custom code</a:t>
            </a:r>
            <a:r>
              <a:rPr sz="1250" b="0">
                <a:solidFill>
                  <a:srgbClr val="3C4043"/>
                </a:solidFill>
                <a:latin typeface="Arial"/>
              </a:rPr>
              <a:t> (types.CodeExecutionMetric).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1A73E8"/>
                </a:solidFill>
              </a:rPr>
              <a:t>●  </a:t>
            </a:r>
            <a:r>
              <a:rPr sz="1250" b="1">
                <a:solidFill>
                  <a:srgbClr val="202124"/>
                </a:solidFill>
                <a:latin typeface="Arial"/>
              </a:rPr>
              <a:t>Reference-based</a:t>
            </a:r>
            <a:r>
              <a:rPr sz="1250" b="0">
                <a:solidFill>
                  <a:srgbClr val="3C4043"/>
                </a:solidFill>
                <a:latin typeface="Arial"/>
              </a:rPr>
              <a:t> Exact Match vs </a:t>
            </a:r>
            <a:r>
              <a:rPr sz="1250" b="1">
                <a:solidFill>
                  <a:srgbClr val="202124"/>
                </a:solidFill>
                <a:latin typeface="Arial"/>
              </a:rPr>
              <a:t>reference-free</a:t>
            </a:r>
            <a:r>
              <a:rPr sz="1250" b="0">
                <a:solidFill>
                  <a:srgbClr val="3C4043"/>
                </a:solidFill>
                <a:latin typeface="Arial"/>
              </a:rPr>
              <a:t> rubrics.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532120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>
                <a:solidFill>
                  <a:srgbClr val="1A73E8"/>
                </a:solidFill>
                <a:hlinkClick r:id="rId2"/>
              </a:rPr>
              <a:t>Docs: Manage evaluation metrics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79592"/>
            <a:ext cx="5486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>
                <a:solidFill>
                  <a:srgbClr val="1967D2"/>
                </a:solidFill>
                <a:latin typeface="Consolas"/>
                <a:hlinkClick r:id="rId3"/>
              </a:rPr>
              <a:t>&lt;/&gt; src/eval/metric_registry.py    </a:t>
            </a:r>
            <a:r>
              <a:rPr sz="1100">
                <a:solidFill>
                  <a:srgbClr val="1967D2"/>
                </a:solidFill>
                <a:latin typeface="Consolas"/>
                <a:hlinkClick r:id="rId4"/>
              </a:rPr>
              <a:t>&lt;/&gt; src/eval/agent_eval_configs.py    </a:t>
            </a:r>
          </a:p>
        </p:txBody>
      </p:sp>
      <p:pic>
        <p:nvPicPr>
          <p:cNvPr id="11" name="Picture 10" descr="eval_console_metrics_t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1051560"/>
            <a:ext cx="5486400" cy="3086100"/>
          </a:xfrm>
          <a:prstGeom prst="rect">
            <a:avLst/>
          </a:prstGeom>
          <a:ln w="12700">
            <a:solidFill>
              <a:srgbClr val="DADCE0"/>
            </a:solidFill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8686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1A73E8"/>
                </a:solidFill>
              </a:rPr>
              <a:t>☁ Google Cloud   </a:t>
            </a:r>
            <a:r>
              <a:rPr sz="1100">
                <a:solidFill>
                  <a:srgbClr val="5F6368"/>
                </a:solidFill>
              </a:rPr>
              <a:t>Phase 2 ·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146304"/>
            <a:ext cx="1005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1967D2"/>
                </a:solidFill>
              </a:rPr>
              <a:t>3 / 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960120"/>
            <a:ext cx="2377440" cy="310896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1967D2"/>
                </a:solidFill>
              </a:rPr>
              <a:t>GENERATE TRACES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5486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0">
                <a:solidFill>
                  <a:srgbClr val="202124"/>
                </a:solidFill>
                <a:latin typeface="Arial"/>
              </a:rPr>
              <a:t>Three ways to </a:t>
            </a:r>
            <a:r>
              <a:rPr sz="3000" b="0">
                <a:solidFill>
                  <a:srgbClr val="1A73E8"/>
                </a:solidFill>
                <a:latin typeface="Arial"/>
              </a:rPr>
              <a:t>exercise</a:t>
            </a:r>
            <a:r>
              <a:rPr sz="3000" b="0">
                <a:solidFill>
                  <a:srgbClr val="202124"/>
                </a:solidFill>
                <a:latin typeface="Arial"/>
              </a:rPr>
              <a:t> the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1460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>
                <a:solidFill>
                  <a:srgbClr val="5F6368"/>
                </a:solidFill>
              </a:rPr>
              <a:t>A trace is the immutable record of a run — model inputs, responses, tool calls. Produce them however fits the stage.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83280"/>
            <a:ext cx="5486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000">
                <a:solidFill>
                  <a:srgbClr val="1A73E8"/>
                </a:solidFill>
              </a:rPr>
              <a:t>●  </a:t>
            </a:r>
            <a:r>
              <a:rPr sz="1250" b="1">
                <a:solidFill>
                  <a:srgbClr val="202124"/>
                </a:solidFill>
                <a:latin typeface="Arial"/>
              </a:rPr>
              <a:t>Batch / Test-case</a:t>
            </a:r>
            <a:r>
              <a:rPr sz="1250" b="0">
                <a:solidFill>
                  <a:srgbClr val="3C4043"/>
                </a:solidFill>
                <a:latin typeface="Arial"/>
              </a:rPr>
              <a:t> — run inference over a fixed suite for regression testing (CI gate).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1A73E8"/>
                </a:solidFill>
              </a:rPr>
              <a:t>●  </a:t>
            </a:r>
            <a:r>
              <a:rPr sz="1250" b="1">
                <a:solidFill>
                  <a:srgbClr val="202124"/>
                </a:solidFill>
                <a:latin typeface="Arial"/>
              </a:rPr>
              <a:t>Simulated</a:t>
            </a:r>
            <a:r>
              <a:rPr sz="1250" b="0">
                <a:solidFill>
                  <a:srgbClr val="3C4043"/>
                </a:solidFill>
                <a:latin typeface="Arial"/>
              </a:rPr>
              <a:t> — auto-generate multi-turn scenarios; an LLM role-plays the user, grounded by environment_context; inject mocked tools &amp; 503s.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1A73E8"/>
                </a:solidFill>
              </a:rPr>
              <a:t>●  </a:t>
            </a:r>
            <a:r>
              <a:rPr sz="1250" b="1">
                <a:solidFill>
                  <a:srgbClr val="202124"/>
                </a:solidFill>
                <a:latin typeface="Arial"/>
              </a:rPr>
              <a:t>Offline</a:t>
            </a:r>
            <a:r>
              <a:rPr sz="1250" b="0">
                <a:solidFill>
                  <a:srgbClr val="3C4043"/>
                </a:solidFill>
                <a:latin typeface="Arial"/>
              </a:rPr>
              <a:t> — score </a:t>
            </a:r>
            <a:r>
              <a:rPr sz="1250" b="1">
                <a:solidFill>
                  <a:srgbClr val="202124"/>
                </a:solidFill>
                <a:latin typeface="Arial"/>
              </a:rPr>
              <a:t>already-recorded</a:t>
            </a:r>
            <a:r>
              <a:rPr sz="1250" b="0">
                <a:solidFill>
                  <a:srgbClr val="3C4043"/>
                </a:solidFill>
                <a:latin typeface="Arial"/>
              </a:rPr>
              <a:t> historical traces/sessions from Cloud Trace → BigQuery, with </a:t>
            </a:r>
            <a:r>
              <a:rPr sz="1250" b="1">
                <a:solidFill>
                  <a:srgbClr val="202124"/>
                </a:solidFill>
                <a:latin typeface="Arial"/>
              </a:rPr>
              <a:t>no new inference</a:t>
            </a:r>
            <a:r>
              <a:rPr sz="1250" b="0">
                <a:solidFill>
                  <a:srgbClr val="3C4043"/>
                </a:solidFill>
                <a:latin typeface="Arial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532120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>
                <a:solidFill>
                  <a:srgbClr val="1A73E8"/>
                </a:solidFill>
                <a:hlinkClick r:id="rId2"/>
              </a:rPr>
              <a:t>Docs: Run evaluation / Simulate / Offline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79592"/>
            <a:ext cx="5486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>
                <a:solidFill>
                  <a:srgbClr val="1967D2"/>
                </a:solidFill>
                <a:latin typeface="Consolas"/>
                <a:hlinkClick r:id="rId3"/>
              </a:rPr>
              <a:t>&lt;/&gt; multi_agent_batch_eval.py    </a:t>
            </a:r>
            <a:r>
              <a:rPr sz="1100">
                <a:solidFill>
                  <a:srgbClr val="1967D2"/>
                </a:solidFill>
                <a:latin typeface="Consolas"/>
                <a:hlinkClick r:id="rId4"/>
              </a:rPr>
              <a:t>&lt;/&gt; simulated_eval.py    </a:t>
            </a:r>
            <a:r>
              <a:rPr sz="1100">
                <a:solidFill>
                  <a:srgbClr val="1967D2"/>
                </a:solidFill>
                <a:latin typeface="Consolas"/>
                <a:hlinkClick r:id="rId5"/>
              </a:rPr>
              <a:t>&lt;/&gt; env_simulation.py    </a:t>
            </a:r>
            <a:r>
              <a:rPr sz="1100">
                <a:solidFill>
                  <a:srgbClr val="1967D2"/>
                </a:solidFill>
                <a:latin typeface="Consolas"/>
                <a:hlinkClick r:id="rId6"/>
              </a:rPr>
              <a:t>&lt;/&gt; offline_trace_eval.py    </a:t>
            </a:r>
          </a:p>
        </p:txBody>
      </p:sp>
      <p:pic>
        <p:nvPicPr>
          <p:cNvPr id="11" name="Picture 10" descr="eval_console_agent_engin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55080" y="1051560"/>
            <a:ext cx="5486400" cy="3086100"/>
          </a:xfrm>
          <a:prstGeom prst="rect">
            <a:avLst/>
          </a:prstGeom>
          <a:ln w="12700">
            <a:solidFill>
              <a:srgbClr val="DADCE0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8686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1A73E8"/>
                </a:solidFill>
              </a:rPr>
              <a:t>☁ Google Cloud   </a:t>
            </a:r>
            <a:r>
              <a:rPr sz="1100">
                <a:solidFill>
                  <a:srgbClr val="5F6368"/>
                </a:solidFill>
              </a:rPr>
              <a:t>Phase 3 · Scoring in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146304"/>
            <a:ext cx="1005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1967D2"/>
                </a:solidFill>
              </a:rPr>
              <a:t>4 / 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960120"/>
            <a:ext cx="4023360" cy="310896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1967D2"/>
                </a:solidFill>
              </a:rPr>
              <a:t>CONTINUOUS EVAL &amp; GUARDRAILS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5486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0">
                <a:solidFill>
                  <a:srgbClr val="202124"/>
                </a:solidFill>
                <a:latin typeface="Arial"/>
              </a:rPr>
              <a:t>Watch quality </a:t>
            </a:r>
            <a:r>
              <a:rPr sz="3000" b="0">
                <a:solidFill>
                  <a:srgbClr val="1A73E8"/>
                </a:solidFill>
                <a:latin typeface="Arial"/>
              </a:rPr>
              <a:t>in production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1460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>
                <a:solidFill>
                  <a:srgbClr val="5F6368"/>
                </a:solidFill>
              </a:rPr>
              <a:t>Online Monitors asynchronously score live traffic and export scores to Cloud Monitoring — so you catch quality drift before users 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83280"/>
            <a:ext cx="5486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000">
                <a:solidFill>
                  <a:srgbClr val="1A73E8"/>
                </a:solidFill>
              </a:rPr>
              <a:t>●  </a:t>
            </a:r>
            <a:r>
              <a:rPr sz="1250" b="1">
                <a:solidFill>
                  <a:srgbClr val="202124"/>
                </a:solidFill>
                <a:latin typeface="Arial"/>
              </a:rPr>
              <a:t>Online Monitors</a:t>
            </a:r>
            <a:r>
              <a:rPr sz="1250" b="0">
                <a:solidFill>
                  <a:srgbClr val="3C4043"/>
                </a:solidFill>
                <a:latin typeface="Arial"/>
              </a:rPr>
              <a:t> — a ~10-min Query → Evaluate → Report loop with configurable sampling; results land in Logging + Monitoring.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1A73E8"/>
                </a:solidFill>
              </a:rPr>
              <a:t>●  </a:t>
            </a:r>
            <a:r>
              <a:rPr sz="1250" b="1">
                <a:solidFill>
                  <a:srgbClr val="202124"/>
                </a:solidFill>
                <a:latin typeface="Arial"/>
              </a:rPr>
              <a:t>Quality-drift alerts</a:t>
            </a:r>
            <a:r>
              <a:rPr sz="1250" b="0">
                <a:solidFill>
                  <a:srgbClr val="3C4043"/>
                </a:solidFill>
                <a:latin typeface="Arial"/>
              </a:rPr>
              <a:t> — three paths: per-monitor policy, dashboard “Recommended Alerts”, or programmatic gcloud / monitoring_v3 on online_evaluator/scores.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532120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>
                <a:solidFill>
                  <a:srgbClr val="1A73E8"/>
                </a:solidFill>
                <a:hlinkClick r:id="rId2"/>
              </a:rPr>
              <a:t>Docs: Online monitors / Quality alerts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79592"/>
            <a:ext cx="5486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>
                <a:solidFill>
                  <a:srgbClr val="1967D2"/>
                </a:solidFill>
                <a:latin typeface="Consolas"/>
                <a:hlinkClick r:id="rId3"/>
              </a:rPr>
              <a:t>&lt;/&gt; setup_online_evaluators.py    </a:t>
            </a:r>
            <a:r>
              <a:rPr sz="1100">
                <a:solidFill>
                  <a:srgbClr val="1967D2"/>
                </a:solidFill>
                <a:latin typeface="Consolas"/>
                <a:hlinkClick r:id="rId4"/>
              </a:rPr>
              <a:t>&lt;/&gt; quality_alerts.py    </a:t>
            </a:r>
            <a:r>
              <a:rPr sz="1100">
                <a:solidFill>
                  <a:srgbClr val="1967D2"/>
                </a:solidFill>
                <a:latin typeface="Consolas"/>
                <a:hlinkClick r:id="rId5"/>
              </a:rPr>
              <a:t>&lt;/&gt; policies/quality_drift_policy.yaml    </a:t>
            </a:r>
          </a:p>
        </p:txBody>
      </p:sp>
      <p:pic>
        <p:nvPicPr>
          <p:cNvPr id="11" name="Picture 10" descr="eval_console_online_monito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9240" y="868680"/>
            <a:ext cx="4958080" cy="2788920"/>
          </a:xfrm>
          <a:prstGeom prst="rect">
            <a:avLst/>
          </a:prstGeom>
          <a:ln w="12700">
            <a:solidFill>
              <a:srgbClr val="DADCE0"/>
            </a:solidFill>
          </a:ln>
        </p:spPr>
      </p:pic>
      <p:pic>
        <p:nvPicPr>
          <p:cNvPr id="12" name="Picture 11" descr="eval_console_monitoring_alert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19240" y="3794760"/>
            <a:ext cx="4958080" cy="2788920"/>
          </a:xfrm>
          <a:prstGeom prst="rect">
            <a:avLst/>
          </a:prstGeom>
          <a:ln w="12700">
            <a:solidFill>
              <a:srgbClr val="DADCE0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8686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1A73E8"/>
                </a:solidFill>
              </a:rPr>
              <a:t>☁ Google Cloud   </a:t>
            </a:r>
            <a:r>
              <a:rPr sz="1100">
                <a:solidFill>
                  <a:srgbClr val="5F6368"/>
                </a:solidFill>
              </a:rPr>
              <a:t>Phase 4 · Refinement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146304"/>
            <a:ext cx="1005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1967D2"/>
                </a:solidFill>
              </a:rPr>
              <a:t>5 / 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960120"/>
            <a:ext cx="3913632" cy="310896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1967D2"/>
                </a:solidFill>
              </a:rPr>
              <a:t>ANALYZE → OPTIMIZE → REPEAT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5486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0">
                <a:solidFill>
                  <a:srgbClr val="202124"/>
                </a:solidFill>
                <a:latin typeface="Arial"/>
              </a:rPr>
              <a:t>Close the </a:t>
            </a:r>
            <a:r>
              <a:rPr sz="3000" b="0">
                <a:solidFill>
                  <a:srgbClr val="1A73E8"/>
                </a:solidFill>
                <a:latin typeface="Arial"/>
              </a:rPr>
              <a:t>flywheel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1460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>
                <a:solidFill>
                  <a:srgbClr val="5F6368"/>
                </a:solidFill>
              </a:rPr>
              <a:t>Don’t just learn that the agent failed — learn why, then fix it automatically.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83280"/>
            <a:ext cx="5486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000">
                <a:solidFill>
                  <a:srgbClr val="1A73E8"/>
                </a:solidFill>
              </a:rPr>
              <a:t>●  </a:t>
            </a:r>
            <a:r>
              <a:rPr sz="1250" b="1">
                <a:solidFill>
                  <a:srgbClr val="202124"/>
                </a:solidFill>
                <a:latin typeface="Arial"/>
              </a:rPr>
              <a:t>Analyze</a:t>
            </a:r>
            <a:r>
              <a:rPr sz="1250" b="0">
                <a:solidFill>
                  <a:srgbClr val="3C4043"/>
                </a:solidFill>
                <a:latin typeface="Arial"/>
              </a:rPr>
              <a:t> — generate_loss_clusters() groups failures into named </a:t>
            </a:r>
            <a:r>
              <a:rPr sz="1250" b="1">
                <a:solidFill>
                  <a:srgbClr val="202124"/>
                </a:solidFill>
                <a:latin typeface="Arial"/>
              </a:rPr>
              <a:t>loss-pattern taxonomies</a:t>
            </a:r>
            <a:r>
              <a:rPr sz="1250" b="0">
                <a:solidFill>
                  <a:srgbClr val="3C4043"/>
                </a:solidFill>
                <a:latin typeface="Arial"/>
              </a:rPr>
              <a:t> with a 3-level triage: summary → clusters → traces.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1A73E8"/>
                </a:solidFill>
              </a:rPr>
              <a:t>●  </a:t>
            </a:r>
            <a:r>
              <a:rPr sz="1250" b="1">
                <a:solidFill>
                  <a:srgbClr val="202124"/>
                </a:solidFill>
                <a:latin typeface="Arial"/>
              </a:rPr>
              <a:t>Optimize</a:t>
            </a:r>
            <a:r>
              <a:rPr sz="1250" b="0">
                <a:solidFill>
                  <a:srgbClr val="3C4043"/>
                </a:solidFill>
                <a:latin typeface="Arial"/>
              </a:rPr>
              <a:t> — refine root instructions with </a:t>
            </a:r>
            <a:r>
              <a:rPr sz="1250" b="1">
                <a:solidFill>
                  <a:srgbClr val="202124"/>
                </a:solidFill>
                <a:latin typeface="Arial"/>
              </a:rPr>
              <a:t>GEPA</a:t>
            </a:r>
            <a:r>
              <a:rPr sz="1250" b="0">
                <a:solidFill>
                  <a:srgbClr val="3C4043"/>
                </a:solidFill>
                <a:latin typeface="Arial"/>
              </a:rPr>
              <a:t> or </a:t>
            </a:r>
            <a:r>
              <a:rPr sz="1250" b="1">
                <a:solidFill>
                  <a:srgbClr val="202124"/>
                </a:solidFill>
                <a:latin typeface="Arial"/>
              </a:rPr>
              <a:t>SimplePromptOptimizer</a:t>
            </a:r>
            <a:r>
              <a:rPr sz="1250" b="0">
                <a:solidFill>
                  <a:srgbClr val="3C4043"/>
                </a:solidFill>
                <a:latin typeface="Arial"/>
              </a:rPr>
              <a:t>; drive the loop from an assistant via agents-cli eval.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1A73E8"/>
                </a:solidFill>
              </a:rPr>
              <a:t>●  </a:t>
            </a:r>
            <a:r>
              <a:rPr sz="1250" b="1">
                <a:solidFill>
                  <a:srgbClr val="202124"/>
                </a:solidFill>
                <a:latin typeface="Arial"/>
              </a:rPr>
              <a:t>Clean by design</a:t>
            </a:r>
            <a:r>
              <a:rPr sz="1250" b="0">
                <a:solidFill>
                  <a:srgbClr val="3C4043"/>
                </a:solidFill>
                <a:latin typeface="Arial"/>
              </a:rPr>
              <a:t> — current Google clients from PyPI, </a:t>
            </a:r>
            <a:r>
              <a:rPr sz="1250" b="1">
                <a:solidFill>
                  <a:srgbClr val="202124"/>
                </a:solidFill>
                <a:latin typeface="Arial"/>
              </a:rPr>
              <a:t>zero monkey-patching</a:t>
            </a:r>
            <a:r>
              <a:rPr sz="1250" b="0">
                <a:solidFill>
                  <a:srgbClr val="3C4043"/>
                </a:solidFill>
                <a:latin typeface="Arial"/>
              </a:rPr>
              <a:t>, 161 tests green.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532120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>
                <a:solidFill>
                  <a:srgbClr val="1A73E8"/>
                </a:solidFill>
                <a:hlinkClick r:id="rId2"/>
              </a:rPr>
              <a:t>Docs: Analyze results / Optimize agent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79592"/>
            <a:ext cx="5486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>
                <a:solidFill>
                  <a:srgbClr val="1967D2"/>
                </a:solidFill>
                <a:latin typeface="Consolas"/>
                <a:hlinkClick r:id="rId3"/>
              </a:rPr>
              <a:t>&lt;/&gt; failure_clusters.py    </a:t>
            </a:r>
            <a:r>
              <a:rPr sz="1100">
                <a:solidFill>
                  <a:srgbClr val="1967D2"/>
                </a:solidFill>
                <a:latin typeface="Consolas"/>
                <a:hlinkClick r:id="rId4"/>
              </a:rPr>
              <a:t>&lt;/&gt; loss_taxonomy.py    </a:t>
            </a:r>
            <a:r>
              <a:rPr sz="1100">
                <a:solidFill>
                  <a:srgbClr val="1967D2"/>
                </a:solidFill>
                <a:latin typeface="Consolas"/>
                <a:hlinkClick r:id="rId5"/>
              </a:rPr>
              <a:t>&lt;/&gt; sdk_optimize.py    </a:t>
            </a:r>
            <a:r>
              <a:rPr sz="1100">
                <a:solidFill>
                  <a:srgbClr val="1967D2"/>
                </a:solidFill>
                <a:latin typeface="Consolas"/>
                <a:hlinkClick r:id="rId6"/>
              </a:rPr>
              <a:t>&lt;/&gt; run_optimize.py    </a:t>
            </a:r>
          </a:p>
        </p:txBody>
      </p:sp>
      <p:pic>
        <p:nvPicPr>
          <p:cNvPr id="11" name="Picture 10" descr="eval_console_bigquer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55080" y="1051560"/>
            <a:ext cx="5486400" cy="3086100"/>
          </a:xfrm>
          <a:prstGeom prst="rect">
            <a:avLst/>
          </a:prstGeom>
          <a:ln w="12700">
            <a:solidFill>
              <a:srgbClr val="DADCE0"/>
            </a:solidFill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