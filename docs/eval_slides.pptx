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agent-evaluation" TargetMode="External"/><Relationship Id="rId3" Type="http://schemas.openxmlformats.org/officeDocument/2006/relationships/hyperlink" Target="https://github.com/jswortz/geap-tour/blob/evaluations/docs/evaluation_demo.md" TargetMode="External"/><Relationship Id="rId4" Type="http://schemas.openxmlformats.org/officeDocument/2006/relationships/hyperlink" Target="https://github.com/jswortz/geap-tour/blob/evaluations/docs/eval_operations.md" TargetMode="Externa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manage-metrics" TargetMode="External"/><Relationship Id="rId3" Type="http://schemas.openxmlformats.org/officeDocument/2006/relationships/hyperlink" Target="https://github.com/jswortz/geap-tour/blob/evaluations/src/eval/metric_registry.py" TargetMode="External"/><Relationship Id="rId4" Type="http://schemas.openxmlformats.org/officeDocument/2006/relationships/hyperlink" Target="https://github.com/jswortz/geap-tour/blob/evaluations/src/eval/agent_eval_configs.py" TargetMode="External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agents" TargetMode="External"/><Relationship Id="rId3" Type="http://schemas.openxmlformats.org/officeDocument/2006/relationships/hyperlink" Target="https://github.com/jswortz/geap-tour/blob/evaluations/src/eval/multi_agent_batch_eval.py" TargetMode="External"/><Relationship Id="rId4" Type="http://schemas.openxmlformats.org/officeDocument/2006/relationships/hyperlink" Target="https://github.com/jswortz/geap-tour/blob/evaluations/src/eval/simulated_eval.py" TargetMode="External"/><Relationship Id="rId5" Type="http://schemas.openxmlformats.org/officeDocument/2006/relationships/hyperlink" Target="https://github.com/jswortz/geap-tour/blob/evaluations/src/eval/env_simulation.py" TargetMode="External"/><Relationship Id="rId6" Type="http://schemas.openxmlformats.org/officeDocument/2006/relationships/hyperlink" Target="https://github.com/jswortz/geap-tour/blob/evaluations/src/eval/offline_trace_eval.py" TargetMode="External"/><Relationship Id="rId7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evaluate-online" TargetMode="External"/><Relationship Id="rId3" Type="http://schemas.openxmlformats.org/officeDocument/2006/relationships/hyperlink" Target="https://github.com/jswortz/geap-tour/blob/evaluations/src/eval/setup_online_evaluators.py" TargetMode="External"/><Relationship Id="rId4" Type="http://schemas.openxmlformats.org/officeDocument/2006/relationships/hyperlink" Target="https://github.com/jswortz/geap-tour/blob/evaluations/src/eval/publish_metrics.py" TargetMode="External"/><Relationship Id="rId5" Type="http://schemas.openxmlformats.org/officeDocument/2006/relationships/hyperlink" Target="https://github.com/jswortz/geap-tour/blob/evaluations/src/eval/quality_alerts.py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cloud.google.com/gemini-enterprise-agent-platform/optimize/evaluation/view-results" TargetMode="External"/><Relationship Id="rId3" Type="http://schemas.openxmlformats.org/officeDocument/2006/relationships/hyperlink" Target="https://github.com/jswortz/geap-tour/blob/evaluations/src/eval/failure_clusters.py" TargetMode="External"/><Relationship Id="rId4" Type="http://schemas.openxmlformats.org/officeDocument/2006/relationships/hyperlink" Target="https://github.com/jswortz/geap-tour/blob/evaluations/src/eval/loss_taxonomy.py" TargetMode="External"/><Relationship Id="rId5" Type="http://schemas.openxmlformats.org/officeDocument/2006/relationships/hyperlink" Target="https://github.com/jswortz/geap-tour/blob/evaluations/src/eval/sdk_optimize.py" TargetMode="External"/><Relationship Id="rId6" Type="http://schemas.openxmlformats.org/officeDocument/2006/relationships/hyperlink" Target="https://github.com/jswortz/geap-tour/blob/evaluations/src/optimize/run_optimize.py" TargetMode="External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Gemini Enterprise Agent Platform › Optimize ›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1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01752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THE QUALITY FLYWHEEL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Evaluating agents on the </a:t>
            </a:r>
            <a:r>
              <a:rPr sz="3000" b="0">
                <a:solidFill>
                  <a:srgbClr val="1A73E8"/>
                </a:solidFill>
                <a:latin typeface="Arial"/>
              </a:rPr>
              <a:t>Agent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Turn “it seems to work” into measured quality. Evaluation runs as a continuous loop across four phases — Design › Execution › Scoring › Refinement.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Define</a:t>
            </a:r>
            <a:r>
              <a:rPr sz="1250" b="0">
                <a:solidFill>
                  <a:srgbClr val="3C4043"/>
                </a:solidFill>
                <a:latin typeface="Arial"/>
              </a:rPr>
              <a:t> eval cases &amp; metrics → </a:t>
            </a:r>
            <a:r>
              <a:rPr sz="1250" b="1">
                <a:solidFill>
                  <a:srgbClr val="202124"/>
                </a:solidFill>
                <a:latin typeface="Arial"/>
              </a:rPr>
              <a:t>run</a:t>
            </a:r>
            <a:r>
              <a:rPr sz="1250" b="0">
                <a:solidFill>
                  <a:srgbClr val="3C4043"/>
                </a:solidFill>
                <a:latin typeface="Arial"/>
              </a:rPr>
              <a:t> inferences → </a:t>
            </a:r>
            <a:r>
              <a:rPr sz="1250" b="1">
                <a:solidFill>
                  <a:srgbClr val="202124"/>
                </a:solidFill>
                <a:latin typeface="Arial"/>
              </a:rPr>
              <a:t>score</a:t>
            </a:r>
            <a:r>
              <a:rPr sz="1250" b="0">
                <a:solidFill>
                  <a:srgbClr val="3C4043"/>
                </a:solidFill>
                <a:latin typeface="Arial"/>
              </a:rPr>
              <a:t> with autoraters → </a:t>
            </a:r>
            <a:r>
              <a:rPr sz="1250" b="1">
                <a:solidFill>
                  <a:srgbClr val="202124"/>
                </a:solidFill>
                <a:latin typeface="Arial"/>
              </a:rPr>
              <a:t>analyze</a:t>
            </a:r>
            <a:r>
              <a:rPr sz="1250" b="0">
                <a:solidFill>
                  <a:srgbClr val="3C4043"/>
                </a:solidFill>
                <a:latin typeface="Arial"/>
              </a:rPr>
              <a:t> &amp;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, then repeat.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Demonstrates </a:t>
            </a:r>
            <a:r>
              <a:rPr sz="1250" b="1">
                <a:solidFill>
                  <a:srgbClr val="202124"/>
                </a:solidFill>
                <a:latin typeface="Arial"/>
              </a:rPr>
              <a:t>100% of the 9 “Optimize → Evaluation” doc pages</a:t>
            </a:r>
            <a:r>
              <a:rPr sz="1250" b="0">
                <a:solidFill>
                  <a:srgbClr val="3C4043"/>
                </a:solidFill>
                <a:latin typeface="Arial"/>
              </a:rPr>
              <a:t> against real deployed agents.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0">
                <a:solidFill>
                  <a:srgbClr val="3C4043"/>
                </a:solidFill>
                <a:latin typeface="Arial"/>
              </a:rPr>
              <a:t>Run it:  uv run python -m src.eval.demo.full_eval_demo --agent-id $AGENT_ENGINE_ID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Agent evaluation overview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docs/evaluation_demo.md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docs/eval_operations.md    </a:t>
            </a:r>
          </a:p>
        </p:txBody>
      </p:sp>
      <p:pic>
        <p:nvPicPr>
          <p:cNvPr id="11" name="Picture 10" descr="eval_console_evalu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2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DEFINE “GOOD” · METRIC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Pick — or </a:t>
            </a:r>
            <a:r>
              <a:rPr sz="3000" b="0">
                <a:solidFill>
                  <a:srgbClr val="1A73E8"/>
                </a:solidFill>
                <a:latin typeface="Arial"/>
              </a:rPr>
              <a:t>write</a:t>
            </a:r>
            <a:r>
              <a:rPr sz="3000" b="0">
                <a:solidFill>
                  <a:srgbClr val="202124"/>
                </a:solidFill>
                <a:latin typeface="Arial"/>
              </a:rPr>
              <a:t> — your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Define a metric once, reuse it across offline runs and online monitors. Three metric types, plus reference-based vs reference-free.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Predefined rubric</a:t>
            </a:r>
            <a:r>
              <a:rPr sz="1250" b="0">
                <a:solidFill>
                  <a:srgbClr val="3C4043"/>
                </a:solidFill>
                <a:latin typeface="Arial"/>
              </a:rPr>
              <a:t> — single-turn (Final Response Quality, Hallucination, Tool Use, Safety) &amp; multi-turn (Task Success, Tool Use, Trajectory).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Adaptive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 auto-generate criteria; </a:t>
            </a:r>
            <a:r>
              <a:rPr sz="1250" b="1">
                <a:solidFill>
                  <a:srgbClr val="202124"/>
                </a:solidFill>
                <a:latin typeface="Arial"/>
              </a:rPr>
              <a:t>static</a:t>
            </a:r>
            <a:r>
              <a:rPr sz="1250" b="0">
                <a:solidFill>
                  <a:srgbClr val="3C4043"/>
                </a:solidFill>
                <a:latin typeface="Arial"/>
              </a:rPr>
              <a:t> ones score 0–1.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LLM-as-judge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(types.LLMMetric) and </a:t>
            </a:r>
            <a:r>
              <a:rPr sz="1250" b="1">
                <a:solidFill>
                  <a:srgbClr val="202124"/>
                </a:solidFill>
                <a:latin typeface="Arial"/>
              </a:rPr>
              <a:t>custom code</a:t>
            </a:r>
            <a:r>
              <a:rPr sz="1250" b="0">
                <a:solidFill>
                  <a:srgbClr val="3C4043"/>
                </a:solidFill>
                <a:latin typeface="Arial"/>
              </a:rPr>
              <a:t> (types.CodeExecutionMetric).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Reference-based</a:t>
            </a:r>
            <a:r>
              <a:rPr sz="1250" b="0">
                <a:solidFill>
                  <a:srgbClr val="3C4043"/>
                </a:solidFill>
                <a:latin typeface="Arial"/>
              </a:rPr>
              <a:t> Exact Match vs </a:t>
            </a:r>
            <a:r>
              <a:rPr sz="1250" b="1">
                <a:solidFill>
                  <a:srgbClr val="202124"/>
                </a:solidFill>
                <a:latin typeface="Arial"/>
              </a:rPr>
              <a:t>reference-free</a:t>
            </a:r>
            <a:r>
              <a:rPr sz="1250" b="0">
                <a:solidFill>
                  <a:srgbClr val="3C4043"/>
                </a:solidFill>
                <a:latin typeface="Arial"/>
              </a:rPr>
              <a:t> rubrics.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Manage evaluation metrics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src/eval/metric_registry.py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src/eval/agent_eval_configs.py    </a:t>
            </a:r>
          </a:p>
        </p:txBody>
      </p:sp>
      <p:pic>
        <p:nvPicPr>
          <p:cNvPr id="11" name="Picture 10" descr="eval_console_metrics_t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2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3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237744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GENERATE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Three ways to </a:t>
            </a:r>
            <a:r>
              <a:rPr sz="3000" b="0">
                <a:solidFill>
                  <a:srgbClr val="1A73E8"/>
                </a:solidFill>
                <a:latin typeface="Arial"/>
              </a:rPr>
              <a:t>exercise</a:t>
            </a:r>
            <a:r>
              <a:rPr sz="3000" b="0">
                <a:solidFill>
                  <a:srgbClr val="202124"/>
                </a:solidFill>
                <a:latin typeface="Arial"/>
              </a:rPr>
              <a:t> the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A trace is the immutable record of a run — model inputs, responses, tool calls. Produce them however fits the stage.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Batch / Test-case</a:t>
            </a:r>
            <a:r>
              <a:rPr sz="1250" b="0">
                <a:solidFill>
                  <a:srgbClr val="3C4043"/>
                </a:solidFill>
                <a:latin typeface="Arial"/>
              </a:rPr>
              <a:t> — run inference over a fixed suite for regression testing (CI gate).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Simulated</a:t>
            </a:r>
            <a:r>
              <a:rPr sz="1250" b="0">
                <a:solidFill>
                  <a:srgbClr val="3C4043"/>
                </a:solidFill>
                <a:latin typeface="Arial"/>
              </a:rPr>
              <a:t> — auto-generate multi-turn scenarios; an LLM role-plays the user, grounded by environment_context; inject mocked tools &amp; 503s.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Offline</a:t>
            </a:r>
            <a:r>
              <a:rPr sz="1250" b="0">
                <a:solidFill>
                  <a:srgbClr val="3C4043"/>
                </a:solidFill>
                <a:latin typeface="Arial"/>
              </a:rPr>
              <a:t> — score </a:t>
            </a:r>
            <a:r>
              <a:rPr sz="1250" b="1">
                <a:solidFill>
                  <a:srgbClr val="202124"/>
                </a:solidFill>
                <a:latin typeface="Arial"/>
              </a:rPr>
              <a:t>already-recorded</a:t>
            </a:r>
            <a:r>
              <a:rPr sz="1250" b="0">
                <a:solidFill>
                  <a:srgbClr val="3C4043"/>
                </a:solidFill>
                <a:latin typeface="Arial"/>
              </a:rPr>
              <a:t> historical traces/sessions from Cloud Trace → BigQuery, with </a:t>
            </a:r>
            <a:r>
              <a:rPr sz="1250" b="1">
                <a:solidFill>
                  <a:srgbClr val="202124"/>
                </a:solidFill>
                <a:latin typeface="Arial"/>
              </a:rPr>
              <a:t>no new inference</a:t>
            </a:r>
            <a:r>
              <a:rPr sz="1250" b="0">
                <a:solidFill>
                  <a:srgbClr val="3C4043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Run evaluation / Simulate / Offline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multi_agent_batch_eval.py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simulated_eval.py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env_simulation.py    </a:t>
            </a:r>
            <a:r>
              <a:rPr sz="1100">
                <a:solidFill>
                  <a:srgbClr val="1967D2"/>
                </a:solidFill>
                <a:latin typeface="Consolas"/>
                <a:hlinkClick r:id="rId6"/>
              </a:rPr>
              <a:t>&lt;/&gt; offline_trace_eval.py    </a:t>
            </a:r>
          </a:p>
        </p:txBody>
      </p:sp>
      <p:pic>
        <p:nvPicPr>
          <p:cNvPr id="11" name="Picture 10" descr="eval_console_agent_engin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3 · Scoring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4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4023360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CONTINUOUS EVAL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Watch quality </a:t>
            </a:r>
            <a:r>
              <a:rPr sz="3000" b="0">
                <a:solidFill>
                  <a:srgbClr val="1A73E8"/>
                </a:solidFill>
                <a:latin typeface="Arial"/>
              </a:rPr>
              <a:t>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Online Monitors asynchronously score live traffic and export scores to Cloud Monitoring — so you catch quality drift before users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Online Monitors</a:t>
            </a:r>
            <a:r>
              <a:rPr sz="1250" b="0">
                <a:solidFill>
                  <a:srgbClr val="3C4043"/>
                </a:solidFill>
                <a:latin typeface="Arial"/>
              </a:rPr>
              <a:t> — a ~10-min Query → Evaluate → Report loop with configurable sampling; results land in Logging + Monitoring.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Metrics Explorer &amp; dashboards</a:t>
            </a:r>
            <a:r>
              <a:rPr sz="1250" b="0">
                <a:solidFill>
                  <a:srgbClr val="3C4043"/>
                </a:solidFill>
                <a:latin typeface="Arial"/>
              </a:rPr>
              <a:t> — every score is a first-class Cloud Monitoring metric (agent_eval/*, online_evaluator/scores) you can chart, compare &amp; share.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Quality-drift alerts</a:t>
            </a:r>
            <a:r>
              <a:rPr sz="1250" b="0">
                <a:solidFill>
                  <a:srgbClr val="3C4043"/>
                </a:solidFill>
                <a:latin typeface="Arial"/>
              </a:rPr>
              <a:t> — per-monitor policy, dashboard “Recommended Alerts”, or programmatic gcloud / monitoring_v3.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Online monitors / Quality alerts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setup_online_evaluators.py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publish_metrics.py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quality_alerts.py    </a:t>
            </a:r>
          </a:p>
        </p:txBody>
      </p:sp>
      <p:pic>
        <p:nvPicPr>
          <p:cNvPr id="11" name="Picture 10" descr="eval_console_online_monito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9240" y="86868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  <p:pic>
        <p:nvPicPr>
          <p:cNvPr id="12" name="Picture 11" descr="eval_console_metrics_dash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9240" y="3794760"/>
            <a:ext cx="4958080" cy="278892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A73E8"/>
                </a:solidFill>
              </a:rPr>
              <a:t>☁ Google Cloud   </a:t>
            </a:r>
            <a:r>
              <a:rPr sz="1100">
                <a:solidFill>
                  <a:srgbClr val="5F6368"/>
                </a:solidFill>
              </a:rPr>
              <a:t>Phase 4 · Refinement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1463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967D2"/>
                </a:solidFill>
              </a:rPr>
              <a:t>5 /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60120"/>
            <a:ext cx="3913632" cy="310896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967D2"/>
                </a:solidFill>
              </a:rPr>
              <a:t>ANALYZE → OPTIMIZE →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202124"/>
                </a:solidFill>
                <a:latin typeface="Arial"/>
              </a:rPr>
              <a:t>Close the </a:t>
            </a:r>
            <a:r>
              <a:rPr sz="3000" b="0">
                <a:solidFill>
                  <a:srgbClr val="1A73E8"/>
                </a:solidFill>
                <a:latin typeface="Arial"/>
              </a:rPr>
              <a:t>flywheel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>
                <a:solidFill>
                  <a:srgbClr val="5F6368"/>
                </a:solidFill>
              </a:rPr>
              <a:t>Don’t just learn that the agent failed — learn why, then fix it automatically.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Analyze</a:t>
            </a:r>
            <a:r>
              <a:rPr sz="1250" b="0">
                <a:solidFill>
                  <a:srgbClr val="3C4043"/>
                </a:solidFill>
                <a:latin typeface="Arial"/>
              </a:rPr>
              <a:t> — generate_loss_clusters() groups failures into named </a:t>
            </a:r>
            <a:r>
              <a:rPr sz="1250" b="1">
                <a:solidFill>
                  <a:srgbClr val="202124"/>
                </a:solidFill>
                <a:latin typeface="Arial"/>
              </a:rPr>
              <a:t>loss-pattern taxonomies</a:t>
            </a:r>
            <a:r>
              <a:rPr sz="1250" b="0">
                <a:solidFill>
                  <a:srgbClr val="3C4043"/>
                </a:solidFill>
                <a:latin typeface="Arial"/>
              </a:rPr>
              <a:t> with a 3-level triage: summary → clusters → traces.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Optimize</a:t>
            </a:r>
            <a:r>
              <a:rPr sz="1250" b="0">
                <a:solidFill>
                  <a:srgbClr val="3C4043"/>
                </a:solidFill>
                <a:latin typeface="Arial"/>
              </a:rPr>
              <a:t> — refine root instructions with </a:t>
            </a:r>
            <a:r>
              <a:rPr sz="1250" b="1">
                <a:solidFill>
                  <a:srgbClr val="202124"/>
                </a:solidFill>
                <a:latin typeface="Arial"/>
              </a:rPr>
              <a:t>GEPA</a:t>
            </a:r>
            <a:r>
              <a:rPr sz="1250" b="0">
                <a:solidFill>
                  <a:srgbClr val="3C4043"/>
                </a:solidFill>
                <a:latin typeface="Arial"/>
              </a:rPr>
              <a:t> or </a:t>
            </a:r>
            <a:r>
              <a:rPr sz="1250" b="1">
                <a:solidFill>
                  <a:srgbClr val="202124"/>
                </a:solidFill>
                <a:latin typeface="Arial"/>
              </a:rPr>
              <a:t>SimplePromptOptimizer</a:t>
            </a:r>
            <a:r>
              <a:rPr sz="1250" b="0">
                <a:solidFill>
                  <a:srgbClr val="3C4043"/>
                </a:solidFill>
                <a:latin typeface="Arial"/>
              </a:rPr>
              <a:t>; drive the loop from an assistant via agents-cli eval.</a:t>
            </a:r>
          </a:p>
          <a:p>
            <a:pPr>
              <a:spcAft>
                <a:spcPts val="800"/>
              </a:spcAft>
            </a:pPr>
            <a:r>
              <a:rPr sz="1000">
                <a:solidFill>
                  <a:srgbClr val="1A73E8"/>
                </a:solidFill>
              </a:rPr>
              <a:t>●  </a:t>
            </a:r>
            <a:r>
              <a:rPr sz="1250" b="1">
                <a:solidFill>
                  <a:srgbClr val="202124"/>
                </a:solidFill>
                <a:latin typeface="Arial"/>
              </a:rPr>
              <a:t>Clean by design</a:t>
            </a:r>
            <a:r>
              <a:rPr sz="1250" b="0">
                <a:solidFill>
                  <a:srgbClr val="3C4043"/>
                </a:solidFill>
                <a:latin typeface="Arial"/>
              </a:rPr>
              <a:t> — current Google clients from PyPI, </a:t>
            </a:r>
            <a:r>
              <a:rPr sz="1250" b="1">
                <a:solidFill>
                  <a:srgbClr val="202124"/>
                </a:solidFill>
                <a:latin typeface="Arial"/>
              </a:rPr>
              <a:t>zero monkey-patching</a:t>
            </a:r>
            <a:r>
              <a:rPr sz="1250" b="0">
                <a:solidFill>
                  <a:srgbClr val="3C4043"/>
                </a:solidFill>
                <a:latin typeface="Arial"/>
              </a:rPr>
              <a:t>, 161 tests green.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1A73E8"/>
                </a:solidFill>
                <a:hlinkClick r:id="rId2"/>
              </a:rPr>
              <a:t>Docs: Analyze results / Optimize agent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959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1967D2"/>
                </a:solidFill>
                <a:latin typeface="Consolas"/>
                <a:hlinkClick r:id="rId3"/>
              </a:rPr>
              <a:t>&lt;/&gt; failure_clusters.py    </a:t>
            </a:r>
            <a:r>
              <a:rPr sz="1100">
                <a:solidFill>
                  <a:srgbClr val="1967D2"/>
                </a:solidFill>
                <a:latin typeface="Consolas"/>
                <a:hlinkClick r:id="rId4"/>
              </a:rPr>
              <a:t>&lt;/&gt; loss_taxonomy.py    </a:t>
            </a:r>
            <a:r>
              <a:rPr sz="1100">
                <a:solidFill>
                  <a:srgbClr val="1967D2"/>
                </a:solidFill>
                <a:latin typeface="Consolas"/>
                <a:hlinkClick r:id="rId5"/>
              </a:rPr>
              <a:t>&lt;/&gt; sdk_optimize.py    </a:t>
            </a:r>
            <a:r>
              <a:rPr sz="1100">
                <a:solidFill>
                  <a:srgbClr val="1967D2"/>
                </a:solidFill>
                <a:latin typeface="Consolas"/>
                <a:hlinkClick r:id="rId6"/>
              </a:rPr>
              <a:t>&lt;/&gt; run_optimize.py    </a:t>
            </a:r>
          </a:p>
        </p:txBody>
      </p:sp>
      <p:pic>
        <p:nvPicPr>
          <p:cNvPr id="11" name="Picture 10" descr="eval_console_bigque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051560"/>
            <a:ext cx="5486400" cy="3086100"/>
          </a:xfrm>
          <a:prstGeom prst="rect">
            <a:avLst/>
          </a:prstGeom>
          <a:ln w="12700">
            <a:solidFill>
              <a:srgbClr val="DADCE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