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the Gemini Enterprise Agent Platform workshop. Today we'll go from zero to a fully deployed, governed, and evaluated multi-agent system on Google Cloud. We'll build real ADK agents, connect them via MCP servers, deploy to Agent Runtime, set up dual-mode gateway governance, run evaluations, and configure Model Armor for content safety. This is a hands-on workshop — you'll be writing and deploying code throughout.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sessions today. Session 1 is the longest — we'll build the full agent stack from scratch. Session 2 continues with governance, evaluation, and observability. Sessions 3 and 4 are shorter focused deep-dives on Agent Registry and Model Armor. There's a lunch break between sessions 1 and 2, and a short break before the final wrap-up.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high-level architecture of GEAP. Key point: the Agent Gateway sits at the network boundary — all traffic between users, agents, and external services flows through it. The Agent Identity layer (powered by SPIFFE) gives each agent its own cryptographic identity. This means we can write policies about WHICH agent can call WHICH tool — not just which user.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identity types are critical to understand. ID-1 is the human user's identity — standard OAuth/OIDC. ID-2 is the agent's own identity — a SPIFFE ID issued at deploy time. ID-3 is delegated — the agent acting on behalf of a user with constrained permissions. This tri-modal identity model is what makes fine-grained governance 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 is where we build everything. By the end of this session you'll have: three MCP tool servers running on Cloud Run, three ADK agents deployed to Agent Runtime, and workload identity configured for secure agent-to-service communication. We'll start with the architecture, then write code, then deploy.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workshop builds a corporate travel assistant. The Coordinator agent routes requests to either the Travel agent (flights, hotels) or the Expense agent (reimbursements). Notice the MCP servers are shared — the Search MCP is used by both Travel and Coordinator. This is a key MCP advantage: tools are deployed once and shared across agents.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FastMCP makes building tool servers trivial — it's a single decorator on a Python function. The @mcp.tool() decorator handles schema generation, input validation, and protocol compliance. We use StreamableHTTP transport so these run as standard HTTP services on Cloud Run. DEMO: Walk through the search_flights tool code and show how MCP introspection exposes the tool schema.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ADK agents use LlmAgent as the base class. The key config: model, instruction, and tools. Agents discover MCP servers via the Agent Registry using registry.get_mcp_toolset() — no hardcoded URLs. The registry resolves the server's resource name to a live connection. The Coordinator pattern uses sub_agents to delegate: it doesn't call tools directly, it routes to the specialist agent best suited for the user's intent. OTel tracing is built in — every agent call automatically generates spans.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deployment targets: Cloud Run for MCP servers (stateless HTTP services) and Agent Runtime (Vertex AI Agent Engine) for ADK agents (stateful, with session management). The deploy_all.sh script deploys everything in sequence — MCP servers first, then agents. DEMO: Run the deployment script and show the output as services come online.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CONSOLE DEMO: Show the Agent Engine console page. Point out the deployed agent, its status, the model it's using, and the session management configuration. Highlight that Agent Runtime handles scaling, session persistence, and health checks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SPIFFE gives every agent a cryptographic identity — not just a service account. This enables fine-grained policies: 'Agent X can call Tool Y but Agent Z cannot.' The three identity types map to real scenarios: user browsing the app (ID-1), agent autonomously running a scheduled task (ID-2), agent booking a flight for a specific user (ID-3). Agent Gateway enforces these identities at the network boundary.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gcloud commands to create a workload identity pool and OIDC provider. Key concepts: the pool is a trust boundary (group external identities), the provider is the auth source (OIDC token issuer). The token exchange flow: external token goes through STS and comes back as a short-lived GCP credential. No long-lived service account keys needed — this is the security win.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2 builds on the deployed system from Session 1. We'll add governance (Agent Gateway controlling what agents can do), evaluation (three-tier pipeline from manual to CI/CD), observability (Cloud Trace + BigQuery analytics), and optimization (GEPA evolutionary prompt tuning). This is where the platform becomes production-ready.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dual-mode gateway is a key differentiator. Ingress gateway controls who can talk to your agents. Egress gateway controls what your agents can talk to — including Gemini model calls. This means ALL outbound traffic flows through governance: IAM Allow policies, Semantic Governance Policies, and Model Armor screening. Note: Egress gateway requires Private Preview access — the attachment uses a REST API PATCH. DEMO: Show the gateway configuration and the console 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CONSOLE DEMO: Show the Cloud Trace view of an agent interaction. Point out the trace waterfall: the root span is the user request, child spans show agent routing, model calls, and tool invocations. Highlight token usage and latency per span. This is where you debug slow responses or unexpected agent behavior.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of governance, each catching different problems. IAM Allow is static — CEL rules that restrict which services an agent can connect to. SGP (Semantic Governance Policies) is runtime — natural language rules evaluated against live tool calls. Model Armor is content screening — catching prompt injection, jailbreaks, and harmful content. Together they form defense-in-depth: where you connect, what you do, and how content is screened. We have 5 SGP policies configured: (1) business hours restriction, (2) expense amount limits, (3) booking confirmation required, (4) anti-exfiltration guard, (5) multi-intent complexity guard. SGP verdicts are ALLOW, DENY, or ALLOW_IF_CONFIRMED (human-in-the-loop pause). Note: SGP evaluates tool calls, not raw prompts — it sees context but targets tool-call behavior.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WIRING — how you connect IAP, Model Armor, and SGP to the gateway. Each governance layer runs as an authz extension, intercepting traffic at the gateway. Two profiles: REQUEST_AUTHZ sees headers only (fast, for identity checks like IAP), CONTENT_AUTHZ sees full request and response bodies (for content screening like Model Armor and SGP). Key limits: max 4 authz policies per gateway. REQUEST_AUTHZ always runs first. For Google API services (IAP, Model Armor), omit the 'authority' field and use REST API — the gcloud CLI requires an undocumented 'loadBalancingScheme' field. MCP tool-level policies can ALLOW/DENY specific tools without needing an extension. Always include baseProtocolMethodsOption: MATCH_BASE_PROTOCOL_METHODS in ALLOW rules or the MCP session will break (initialize, ping, notifications blocked). Defense-in-depth: combine REQUEST_AUTHZ (IAP for who) + CONTENT_AUTHZ (Model Armor for what content + SGP for what behavior). Docs: https://cloud.google.com/gemini-enterprise-agent-platform/govern/gateways/delegate-authorization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evaluation tiers, each serving a different purpose. One-Time Eval: manual, on-demand — you curate test cases and run PointwiseMetric rubrics. Online Monitors: continuous — evaluates live production traffic on 10-minute cycles using Cloud Trace data. Simulated (CI/CD): automated gate — blocks PRs that score below 3.0 on eval metrics. The progression is: manual validation → continuous monitoring → automated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CONSOLE DEMO: Show the Evaluation Experiments page. Walk through an experiment: the eval dataset, the metrics used, and the score distribution. Point out how you can compare different agent versions side-by-side.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observability pipeline: agent calls produce OTel spans automatically (built into ADK), spans are exported to Cloud Trace, a log sink copies structured data to BigQuery for analytics, and Cloud Monitoring alerts on anomalies. The failure cluster analysis is particularly useful — it groups similar errors to surface systemic issues rather than forcing you to debug individual traces.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cluster analysis is the bridge between raw eval results and actionable insights. Instead of reviewing 20+ individual failure traces, clusters group semantically similar failures: 'tool misuse cluster', 'routing confusion cluster', 'policy violation cluster'. Each cluster has a title, description, sample count, and average score. Quality alerts complement this with proactive monitoring — Cloud Monitoring alert policies fire when the custom metric agent_eval/{metric_name} drops below your threshold. The 10-minute aggregation window catches quality degradation before users notice. Code: src/eval/failure_clusters.py and src/eval/quality_alerts.py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CONSOLE DEMO: Open Cloud Trace and show a real agent trace. Walk through the span hierarchy, point out model call latency, tool call duration, and token counts. This is the single most useful debugging tool for agent systems.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CI/CD eval gate is the automated enforcement layer. When a PR is opened, GitHub Actions generates test scenarios, runs inference against the agent, evaluates responses using PointwiseMetric rubrics, and blocks the merge if score &lt; 3.0. This prevents regressions from shipping — the same principle as unit tests but for agent quality.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GEPA — Gemini Evolutionary Prompt Algorithm — automates prompt engineering. Instead of manually tuning agent instructions, GEPA generates prompt variants, evaluates each against test scenarios, selects top performers, and evolves over generations. Think of it as genetic algorithms applied to prompt optimization. The AgentOptimizer class wraps this: you provide the agent, eval data, and metrics — it finds better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multi-model router uses a before_agent_callback to classify prompt complexity before the agent runs. classify_complexity() uses a lightweight Gemini call to score 0-1. Based on the score, the router delegates to lite_agent (Flash Lite), flash_agent (Flash), or opus_agent (Claude Opus via LiteLLM). This cuts costs 60-80% by sending simple queries to cheap models while reserving expensive models for complex reasoning. The callback stores the classification in session state so the router agent's instruction can read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Bank gives agents persistent memory across sessions. Two key pieces: PreloadMemoryTool automatically retrieves relevant past interactions at turn start and injects them into the system instruction — the agent sees user context before responding. save_memories_callback runs after each turn via after_agent_callback, persisting new session events to Memory Bank for future recall. Critical: memories are scoped to {user_id, app_name} namespaces. Each user gets isolated memory — no cross-contamination between users or apps.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session on Agent Registry — the catalog for your agent fleet. If you have dozens of agents across teams, you need a way to discover, version, and govern them.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Registry provides four capabilities: registration (with metadata and versioning), discovery (search by capability), toolspec association (link MCP specs to agents), and lifecycle governance (access control on who can deploy or modify agents). The gcloud command shows how to associate an MCP toolspec with a registered agent. DEMO: Show the registry console and the MCP toolspec association.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CONSOLE DEMO: Show the business policies page. Walk through an example policy — how it's defined, what it enforces, and how violations are handled.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session — the security layer. Model Armor provides content safety for your agent system. This is critical for production: agents that talk to users need protection against prompt injection, jailbreaks, PII leakage, and harmful content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Armor works at two points: input screening (before the model call) and output screening (after). Input: catches prompt injection, jailbreak attempts, PII in prompts. Output: filters harmful content, flags hallucinations, enforces safety scores. In ADK, this integrates via before_model_callback and after_model_callback — the guardrails run as part of the agent lifecycle, not as a separate service.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CONSOLE DEMO: Show the Model Armor configuration page. Walk through a template: the screening rules, the severity thresholds, and what happens when content is flagged (block vs. warn vs. log).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six pillars: Build (ADK + MCP), Deploy (Cloud Run + Agent Runtime), Govern (SPIFFE + Gateway + Registry), Secure (Model Armor), Evaluate (three-tier pipeline), Optimize (GEPA). Each pillar connects to the others — this is an integrated platform, not a collection of standalone tools.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these resources with attendees. The workshop repo has all the code they ran today. The workshop guide has step-by-step instructions they can follow at their own pace. ADK docs and MCP protocol specs are the canonical references for building new agents. Thank everyone for their time and open the floor for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rc/mcp_servers/search/server.py"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rc/agents/coordinator_agent.py"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https://console.cloud.google.com/vertex-ai/agents?project=wortz-project-352116"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cripts/setup_agent_identity.sh"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https://github.com/jswortz/geap-tour/blob/main/scripts/setup_agent_gateway.sh"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console.cloud.google.com/trace/list?project=wortz-project-352116"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cripts/setup_governance_policies.sh"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github.com/jswortz/geap-tour/tree/main/src/eval/"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hyperlink" Target="https://console.cloud.google.com/vertex-ai/agents?project=wortz-project-352116" TargetMode="Externa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rc/eval/failure_clusters.py"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console.cloud.google.com/trace/list?project=wortz-project-352116"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rc/optimize/run_optimize.py"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rc/router/agents.py" TargetMode="Externa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blob/main/src/agents/coordinator_agent.py" TargetMode="Externa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 TargetMode="Externa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console.cloud.google.com/agent-platform/gateways?project=wortz-project-352116" TargetMode="Externa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jswortz/geap-tour" TargetMode="Externa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console.cloud.google.com/security/model-armor?project=wortz-project-352116" TargetMode="Externa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74EA6"/>
            </a:gs>
            <a:gs pos="100000">
              <a:srgbClr val="1A73E8"/>
            </a:gs>
          </a:gsLst>
          <a:lin scaled="0"/>
        </a:gra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600" b="1">
                <a:solidFill>
                  <a:srgbClr val="F9AB00"/>
                </a:solidFill>
                <a:latin typeface="Calibri"/>
              </a:defRPr>
            </a:pPr>
            <a:r>
              <a:t>Google Cloud Workshop</a:t>
            </a:r>
          </a:p>
        </p:txBody>
      </p:sp>
      <p:sp>
        <p:nvSpPr>
          <p:cNvPr id="3" name="TextBox 2"/>
          <p:cNvSpPr txBox="1"/>
          <p:nvPr/>
        </p:nvSpPr>
        <p:spPr>
          <a:xfrm>
            <a:off x="731520" y="1371600"/>
            <a:ext cx="10058400" cy="1828800"/>
          </a:xfrm>
          <a:prstGeom prst="rect">
            <a:avLst/>
          </a:prstGeom>
          <a:noFill/>
        </p:spPr>
        <p:txBody>
          <a:bodyPr wrap="square">
            <a:spAutoFit/>
          </a:bodyPr>
          <a:lstStyle/>
          <a:p>
            <a:pPr algn="l">
              <a:defRPr sz="4800" b="1">
                <a:solidFill>
                  <a:srgbClr val="FFFFFF"/>
                </a:solidFill>
                <a:latin typeface="Calibri"/>
              </a:defRPr>
            </a:pPr>
            <a:r>
              <a:t>Gemini Enterprise</a:t>
            </a:r>
            <a:br/>
            <a:r>
              <a:t>Agent Platform Tour</a:t>
            </a:r>
          </a:p>
        </p:txBody>
      </p:sp>
      <p:sp>
        <p:nvSpPr>
          <p:cNvPr id="4" name="TextBox 3"/>
          <p:cNvSpPr txBox="1"/>
          <p:nvPr/>
        </p:nvSpPr>
        <p:spPr>
          <a:xfrm>
            <a:off x="731520" y="3474720"/>
            <a:ext cx="10058400" cy="731520"/>
          </a:xfrm>
          <a:prstGeom prst="rect">
            <a:avLst/>
          </a:prstGeom>
          <a:noFill/>
        </p:spPr>
        <p:txBody>
          <a:bodyPr wrap="square">
            <a:spAutoFit/>
          </a:bodyPr>
          <a:lstStyle/>
          <a:p>
            <a:pPr algn="l">
              <a:defRPr sz="2400" b="0">
                <a:solidFill>
                  <a:srgbClr val="CCCCCC"/>
                </a:solidFill>
                <a:latin typeface="Calibri"/>
              </a:defRPr>
            </a:pPr>
            <a:r>
              <a:t>Build, Deploy, Govern, Evaluate, and Optimize AI Agents</a:t>
            </a:r>
          </a:p>
        </p:txBody>
      </p:sp>
      <p:sp>
        <p:nvSpPr>
          <p:cNvPr id="5" name="TextBox 4"/>
          <p:cNvSpPr txBox="1"/>
          <p:nvPr/>
        </p:nvSpPr>
        <p:spPr>
          <a:xfrm>
            <a:off x="731520" y="4754880"/>
            <a:ext cx="10058400" cy="457200"/>
          </a:xfrm>
          <a:prstGeom prst="rect">
            <a:avLst/>
          </a:prstGeom>
          <a:noFill/>
        </p:spPr>
        <p:txBody>
          <a:bodyPr wrap="square">
            <a:spAutoFit/>
          </a:bodyPr>
          <a:lstStyle/>
          <a:p>
            <a:pPr algn="l">
              <a:defRPr sz="1800" b="0">
                <a:solidFill>
                  <a:srgbClr val="999999"/>
                </a:solidFill>
                <a:latin typeface="Calibri"/>
              </a:defRPr>
            </a:pPr>
            <a:r>
              <a:t>ADK Agents  •  MCP Servers  •  Agent Gateway  •  Agent Registry  •  Model Armor  •  Evaluation Pipeline</a:t>
            </a:r>
          </a:p>
        </p:txBody>
      </p:sp>
      <p:sp>
        <p:nvSpPr>
          <p:cNvPr id="6" name="TextBox 5"/>
          <p:cNvSpPr txBox="1"/>
          <p:nvPr/>
        </p:nvSpPr>
        <p:spPr>
          <a:xfrm>
            <a:off x="274320" y="548640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4200" b="1">
                <a:solidFill>
                  <a:srgbClr val="202124"/>
                </a:solidFill>
                <a:latin typeface="Calibri"/>
              </a:defRPr>
            </a:pPr>
            <a:r>
              <a:t>Table of Contents</a:t>
            </a:r>
          </a:p>
        </p:txBody>
      </p:sp>
      <p:sp>
        <p:nvSpPr>
          <p:cNvPr id="3" name="TextBox 2"/>
          <p:cNvSpPr txBox="1"/>
          <p:nvPr/>
        </p:nvSpPr>
        <p:spPr>
          <a:xfrm>
            <a:off x="731520" y="1005840"/>
            <a:ext cx="9144000" cy="365760"/>
          </a:xfrm>
          <a:prstGeom prst="rect">
            <a:avLst/>
          </a:prstGeom>
          <a:noFill/>
        </p:spPr>
        <p:txBody>
          <a:bodyPr wrap="square">
            <a:spAutoFit/>
          </a:bodyPr>
          <a:lstStyle/>
          <a:p>
            <a:pPr algn="l">
              <a:defRPr sz="2000" b="0">
                <a:solidFill>
                  <a:srgbClr val="5F6368"/>
                </a:solidFill>
                <a:latin typeface="Calibri"/>
              </a:defRPr>
            </a:pPr>
            <a:r>
              <a:t>Four sessions — from building agents to securing them in production</a:t>
            </a:r>
          </a:p>
        </p:txBody>
      </p:sp>
      <p:sp>
        <p:nvSpPr>
          <p:cNvPr id="4" name="Oval 3"/>
          <p:cNvSpPr/>
          <p:nvPr/>
        </p:nvSpPr>
        <p:spPr>
          <a:xfrm>
            <a:off x="731520" y="1645920"/>
            <a:ext cx="640080" cy="640080"/>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b="1">
                <a:solidFill>
                  <a:srgbClr val="FFFFFF"/>
                </a:solidFill>
                <a:latin typeface="Calibri"/>
              </a:defRPr>
            </a:pPr>
            <a:r>
              <a:t>1</a:t>
            </a:r>
          </a:p>
        </p:txBody>
      </p:sp>
      <p:sp>
        <p:nvSpPr>
          <p:cNvPr id="5" name="TextBox 4"/>
          <p:cNvSpPr txBox="1"/>
          <p:nvPr/>
        </p:nvSpPr>
        <p:spPr>
          <a:xfrm>
            <a:off x="1645920" y="1645920"/>
            <a:ext cx="9144000" cy="457200"/>
          </a:xfrm>
          <a:prstGeom prst="rect">
            <a:avLst/>
          </a:prstGeom>
          <a:noFill/>
        </p:spPr>
        <p:txBody>
          <a:bodyPr wrap="square">
            <a:spAutoFit/>
          </a:bodyPr>
          <a:lstStyle/>
          <a:p>
            <a:pPr algn="l">
              <a:defRPr sz="2400" b="1">
                <a:solidFill>
                  <a:srgbClr val="202124"/>
                </a:solidFill>
                <a:latin typeface="Calibri"/>
              </a:defRPr>
            </a:pPr>
            <a:r>
              <a:t>AI Gateway / MCP Gateway</a:t>
            </a:r>
          </a:p>
        </p:txBody>
      </p:sp>
      <p:sp>
        <p:nvSpPr>
          <p:cNvPr id="6" name="TextBox 5"/>
          <p:cNvSpPr txBox="1"/>
          <p:nvPr/>
        </p:nvSpPr>
        <p:spPr>
          <a:xfrm>
            <a:off x="1645920" y="2057400"/>
            <a:ext cx="9144000" cy="457200"/>
          </a:xfrm>
          <a:prstGeom prst="rect">
            <a:avLst/>
          </a:prstGeom>
          <a:noFill/>
        </p:spPr>
        <p:txBody>
          <a:bodyPr wrap="square">
            <a:spAutoFit/>
          </a:bodyPr>
          <a:lstStyle/>
          <a:p>
            <a:pPr algn="l">
              <a:defRPr sz="1600" b="0">
                <a:solidFill>
                  <a:srgbClr val="5F6368"/>
                </a:solidFill>
                <a:latin typeface="Calibri"/>
              </a:defRPr>
            </a:pPr>
            <a:r>
              <a:t>Multi-agent architecture  •  MCP tool servers  •  ADK agents  •  Deployment  •  Workload identity</a:t>
            </a:r>
          </a:p>
        </p:txBody>
      </p:sp>
      <p:sp>
        <p:nvSpPr>
          <p:cNvPr id="7" name="Oval 6"/>
          <p:cNvSpPr/>
          <p:nvPr/>
        </p:nvSpPr>
        <p:spPr>
          <a:xfrm>
            <a:off x="731520" y="2880360"/>
            <a:ext cx="640080" cy="640080"/>
          </a:xfrm>
          <a:prstGeom prst="ellipse">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b="1">
                <a:solidFill>
                  <a:srgbClr val="FFFFFF"/>
                </a:solidFill>
                <a:latin typeface="Calibri"/>
              </a:defRPr>
            </a:pPr>
            <a:r>
              <a:t>2</a:t>
            </a:r>
          </a:p>
        </p:txBody>
      </p:sp>
      <p:sp>
        <p:nvSpPr>
          <p:cNvPr id="8" name="TextBox 7"/>
          <p:cNvSpPr txBox="1"/>
          <p:nvPr/>
        </p:nvSpPr>
        <p:spPr>
          <a:xfrm>
            <a:off x="1645920" y="2880360"/>
            <a:ext cx="9144000" cy="457200"/>
          </a:xfrm>
          <a:prstGeom prst="rect">
            <a:avLst/>
          </a:prstGeom>
          <a:noFill/>
        </p:spPr>
        <p:txBody>
          <a:bodyPr wrap="square">
            <a:spAutoFit/>
          </a:bodyPr>
          <a:lstStyle/>
          <a:p>
            <a:pPr algn="l">
              <a:defRPr sz="2400" b="1">
                <a:solidFill>
                  <a:srgbClr val="202124"/>
                </a:solidFill>
                <a:latin typeface="Calibri"/>
              </a:defRPr>
            </a:pPr>
            <a:r>
              <a:t>AI Gateway — Governance &amp; Eval</a:t>
            </a:r>
          </a:p>
        </p:txBody>
      </p:sp>
      <p:sp>
        <p:nvSpPr>
          <p:cNvPr id="9" name="TextBox 8"/>
          <p:cNvSpPr txBox="1"/>
          <p:nvPr/>
        </p:nvSpPr>
        <p:spPr>
          <a:xfrm>
            <a:off x="1645920" y="3291840"/>
            <a:ext cx="9144000" cy="457200"/>
          </a:xfrm>
          <a:prstGeom prst="rect">
            <a:avLst/>
          </a:prstGeom>
          <a:noFill/>
        </p:spPr>
        <p:txBody>
          <a:bodyPr wrap="square">
            <a:spAutoFit/>
          </a:bodyPr>
          <a:lstStyle/>
          <a:p>
            <a:pPr algn="l">
              <a:defRPr sz="1600" b="0">
                <a:solidFill>
                  <a:srgbClr val="5F6368"/>
                </a:solidFill>
                <a:latin typeface="Calibri"/>
              </a:defRPr>
            </a:pPr>
            <a:r>
              <a:t>Agent Gateway (dual mode)  •  Three-tier evaluation  •  Observability  •  GEPA optimization</a:t>
            </a:r>
          </a:p>
        </p:txBody>
      </p:sp>
      <p:sp>
        <p:nvSpPr>
          <p:cNvPr id="10" name="Oval 9"/>
          <p:cNvSpPr/>
          <p:nvPr/>
        </p:nvSpPr>
        <p:spPr>
          <a:xfrm>
            <a:off x="731520" y="4114800"/>
            <a:ext cx="640080" cy="640080"/>
          </a:xfrm>
          <a:prstGeom prst="ellipse">
            <a:avLst/>
          </a:prstGeom>
          <a:solidFill>
            <a:srgbClr val="F9AB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b="1">
                <a:solidFill>
                  <a:srgbClr val="FFFFFF"/>
                </a:solidFill>
                <a:latin typeface="Calibri"/>
              </a:defRPr>
            </a:pPr>
            <a:r>
              <a:t>3</a:t>
            </a:r>
          </a:p>
        </p:txBody>
      </p:sp>
      <p:sp>
        <p:nvSpPr>
          <p:cNvPr id="11" name="TextBox 10"/>
          <p:cNvSpPr txBox="1"/>
          <p:nvPr/>
        </p:nvSpPr>
        <p:spPr>
          <a:xfrm>
            <a:off x="1645920" y="4114800"/>
            <a:ext cx="9144000" cy="457200"/>
          </a:xfrm>
          <a:prstGeom prst="rect">
            <a:avLst/>
          </a:prstGeom>
          <a:noFill/>
        </p:spPr>
        <p:txBody>
          <a:bodyPr wrap="square">
            <a:spAutoFit/>
          </a:bodyPr>
          <a:lstStyle/>
          <a:p>
            <a:pPr algn="l">
              <a:defRPr sz="2400" b="1">
                <a:solidFill>
                  <a:srgbClr val="202124"/>
                </a:solidFill>
                <a:latin typeface="Calibri"/>
              </a:defRPr>
            </a:pPr>
            <a:r>
              <a:t>Agent Registry</a:t>
            </a:r>
          </a:p>
        </p:txBody>
      </p:sp>
      <p:sp>
        <p:nvSpPr>
          <p:cNvPr id="12" name="TextBox 11"/>
          <p:cNvSpPr txBox="1"/>
          <p:nvPr/>
        </p:nvSpPr>
        <p:spPr>
          <a:xfrm>
            <a:off x="1645920" y="4526280"/>
            <a:ext cx="9144000" cy="457200"/>
          </a:xfrm>
          <a:prstGeom prst="rect">
            <a:avLst/>
          </a:prstGeom>
          <a:noFill/>
        </p:spPr>
        <p:txBody>
          <a:bodyPr wrap="square">
            <a:spAutoFit/>
          </a:bodyPr>
          <a:lstStyle/>
          <a:p>
            <a:pPr algn="l">
              <a:defRPr sz="1600" b="0">
                <a:solidFill>
                  <a:srgbClr val="5F6368"/>
                </a:solidFill>
                <a:latin typeface="Calibri"/>
              </a:defRPr>
            </a:pPr>
            <a:r>
              <a:t>Agent registration &amp; discovery  •  Toolspec association  •  Lifecycle governance</a:t>
            </a:r>
          </a:p>
        </p:txBody>
      </p:sp>
      <p:sp>
        <p:nvSpPr>
          <p:cNvPr id="13" name="Oval 12"/>
          <p:cNvSpPr/>
          <p:nvPr/>
        </p:nvSpPr>
        <p:spPr>
          <a:xfrm>
            <a:off x="731520" y="5349240"/>
            <a:ext cx="640080" cy="640080"/>
          </a:xfrm>
          <a:prstGeom prst="ellipse">
            <a:avLst/>
          </a:prstGeom>
          <a:solidFill>
            <a:srgbClr val="D9302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400" b="1">
                <a:solidFill>
                  <a:srgbClr val="FFFFFF"/>
                </a:solidFill>
                <a:latin typeface="Calibri"/>
              </a:defRPr>
            </a:pPr>
            <a:r>
              <a:t>4</a:t>
            </a:r>
          </a:p>
        </p:txBody>
      </p:sp>
      <p:sp>
        <p:nvSpPr>
          <p:cNvPr id="14" name="TextBox 13"/>
          <p:cNvSpPr txBox="1"/>
          <p:nvPr/>
        </p:nvSpPr>
        <p:spPr>
          <a:xfrm>
            <a:off x="1645920" y="5349240"/>
            <a:ext cx="9144000" cy="457200"/>
          </a:xfrm>
          <a:prstGeom prst="rect">
            <a:avLst/>
          </a:prstGeom>
          <a:noFill/>
        </p:spPr>
        <p:txBody>
          <a:bodyPr wrap="square">
            <a:spAutoFit/>
          </a:bodyPr>
          <a:lstStyle/>
          <a:p>
            <a:pPr algn="l">
              <a:defRPr sz="2400" b="1">
                <a:solidFill>
                  <a:srgbClr val="202124"/>
                </a:solidFill>
                <a:latin typeface="Calibri"/>
              </a:defRPr>
            </a:pPr>
            <a:r>
              <a:t>Model Security / Model Armor</a:t>
            </a:r>
          </a:p>
        </p:txBody>
      </p:sp>
      <p:sp>
        <p:nvSpPr>
          <p:cNvPr id="15" name="TextBox 14"/>
          <p:cNvSpPr txBox="1"/>
          <p:nvPr/>
        </p:nvSpPr>
        <p:spPr>
          <a:xfrm>
            <a:off x="1645920" y="5760720"/>
            <a:ext cx="9144000" cy="457200"/>
          </a:xfrm>
          <a:prstGeom prst="rect">
            <a:avLst/>
          </a:prstGeom>
          <a:noFill/>
        </p:spPr>
        <p:txBody>
          <a:bodyPr wrap="square">
            <a:spAutoFit/>
          </a:bodyPr>
          <a:lstStyle/>
          <a:p>
            <a:pPr algn="l">
              <a:defRPr sz="1600" b="0">
                <a:solidFill>
                  <a:srgbClr val="5F6368"/>
                </a:solidFill>
                <a:latin typeface="Calibri"/>
              </a:defRPr>
            </a:pPr>
            <a:r>
              <a:t>Input/output screening  •  Prompt injection detection  •  Guardrail callbacks</a:t>
            </a:r>
          </a:p>
        </p:txBody>
      </p:sp>
      <p:sp>
        <p:nvSpPr>
          <p:cNvPr id="16" name="TextBox 15"/>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4200" b="1">
                <a:solidFill>
                  <a:srgbClr val="202124"/>
                </a:solidFill>
                <a:latin typeface="Calibri"/>
              </a:defRPr>
            </a:pPr>
            <a:r>
              <a:t>Platform Architecture</a:t>
            </a:r>
          </a:p>
        </p:txBody>
      </p:sp>
      <p:pic>
        <p:nvPicPr>
          <p:cNvPr id="3" name="Picture 2" descr="geap_architecture.png"/>
          <p:cNvPicPr>
            <a:picLocks noChangeAspect="1"/>
          </p:cNvPicPr>
          <p:nvPr/>
        </p:nvPicPr>
        <p:blipFill>
          <a:blip r:embed="rId2"/>
          <a:stretch>
            <a:fillRect/>
          </a:stretch>
        </p:blipFill>
        <p:spPr>
          <a:xfrm>
            <a:off x="1371600" y="1280160"/>
            <a:ext cx="9144000" cy="5145673"/>
          </a:xfrm>
          <a:prstGeom prst="rect">
            <a:avLst/>
          </a:prstGeom>
        </p:spPr>
      </p:pic>
      <p:sp>
        <p:nvSpPr>
          <p:cNvPr id="4" name="TextBox 3"/>
          <p:cNvSpPr txBox="1"/>
          <p:nvPr/>
        </p:nvSpPr>
        <p:spPr>
          <a:xfrm>
            <a:off x="914400" y="5943600"/>
            <a:ext cx="10058400" cy="457200"/>
          </a:xfrm>
          <a:prstGeom prst="rect">
            <a:avLst/>
          </a:prstGeom>
          <a:noFill/>
        </p:spPr>
        <p:txBody>
          <a:bodyPr wrap="square">
            <a:spAutoFit/>
          </a:bodyPr>
          <a:lstStyle/>
          <a:p>
            <a:pPr algn="ctr">
              <a:defRPr sz="1600" b="0">
                <a:solidFill>
                  <a:srgbClr val="5F6368"/>
                </a:solidFill>
                <a:latin typeface="Calibri"/>
              </a:defRPr>
            </a:pPr>
            <a:r>
              <a:t>User → Frontend → Agent Gateway → Agent Identity (Runtime) → Agent Gateway → Agents, Tools, Models, APIs</a:t>
            </a:r>
          </a:p>
        </p:txBody>
      </p:sp>
      <p:sp>
        <p:nvSpPr>
          <p:cNvPr id="5" name="TextBox 4"/>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4200" b="1">
                <a:solidFill>
                  <a:srgbClr val="202124"/>
                </a:solidFill>
                <a:latin typeface="Calibri"/>
              </a:defRPr>
            </a:pPr>
            <a:r>
              <a:t>Agent Identity Model</a:t>
            </a:r>
          </a:p>
        </p:txBody>
      </p:sp>
      <p:pic>
        <p:nvPicPr>
          <p:cNvPr id="3" name="Picture 2" descr="identity_types.png"/>
          <p:cNvPicPr>
            <a:picLocks noChangeAspect="1"/>
          </p:cNvPicPr>
          <p:nvPr/>
        </p:nvPicPr>
        <p:blipFill>
          <a:blip r:embed="rId2"/>
          <a:stretch>
            <a:fillRect/>
          </a:stretch>
        </p:blipFill>
        <p:spPr>
          <a:xfrm>
            <a:off x="914400" y="1188720"/>
            <a:ext cx="10058400" cy="5634851"/>
          </a:xfrm>
          <a:prstGeom prst="rect">
            <a:avLst/>
          </a:prstGeom>
        </p:spPr>
      </p:pic>
      <p:sp>
        <p:nvSpPr>
          <p:cNvPr id="4" name="TextBox 3"/>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73E8"/>
        </a:soli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600" b="1">
                <a:solidFill>
                  <a:srgbClr val="CCDDFF"/>
                </a:solidFill>
                <a:latin typeface="Calibri"/>
              </a:defRPr>
            </a:pPr>
            <a:r>
              <a:t>Session 1</a:t>
            </a:r>
          </a:p>
        </p:txBody>
      </p:sp>
      <p:sp>
        <p:nvSpPr>
          <p:cNvPr id="3" name="TextBox 2"/>
          <p:cNvSpPr txBox="1"/>
          <p:nvPr/>
        </p:nvSpPr>
        <p:spPr>
          <a:xfrm>
            <a:off x="731520" y="1371600"/>
            <a:ext cx="10058400" cy="1097280"/>
          </a:xfrm>
          <a:prstGeom prst="rect">
            <a:avLst/>
          </a:prstGeom>
          <a:noFill/>
        </p:spPr>
        <p:txBody>
          <a:bodyPr wrap="square">
            <a:spAutoFit/>
          </a:bodyPr>
          <a:lstStyle/>
          <a:p>
            <a:pPr algn="l">
              <a:defRPr sz="4800" b="1">
                <a:solidFill>
                  <a:srgbClr val="FFFFFF"/>
                </a:solidFill>
                <a:latin typeface="Calibri"/>
              </a:defRPr>
            </a:pPr>
            <a:r>
              <a:t>AI Gateway / MCP Gateway</a:t>
            </a:r>
          </a:p>
        </p:txBody>
      </p:sp>
      <p:sp>
        <p:nvSpPr>
          <p:cNvPr id="4" name="TextBox 3"/>
          <p:cNvSpPr txBox="1"/>
          <p:nvPr/>
        </p:nvSpPr>
        <p:spPr>
          <a:xfrm>
            <a:off x="731520" y="2743200"/>
            <a:ext cx="10058400" cy="548640"/>
          </a:xfrm>
          <a:prstGeom prst="rect">
            <a:avLst/>
          </a:prstGeom>
          <a:noFill/>
        </p:spPr>
        <p:txBody>
          <a:bodyPr wrap="square">
            <a:spAutoFit/>
          </a:bodyPr>
          <a:lstStyle/>
          <a:p>
            <a:pPr algn="l">
              <a:defRPr sz="2200" b="0">
                <a:solidFill>
                  <a:srgbClr val="CCDDFF"/>
                </a:solidFill>
                <a:latin typeface="Calibri"/>
              </a:defRPr>
            </a:pPr>
            <a:r>
              <a:t>Build, connect, and deploy agents with MCP tool servers</a:t>
            </a:r>
          </a:p>
        </p:txBody>
      </p:sp>
      <p:sp>
        <p:nvSpPr>
          <p:cNvPr id="5" name="TextBox 4"/>
          <p:cNvSpPr txBox="1"/>
          <p:nvPr/>
        </p:nvSpPr>
        <p:spPr>
          <a:xfrm>
            <a:off x="731520" y="3657600"/>
            <a:ext cx="9144000" cy="2743200"/>
          </a:xfrm>
          <a:prstGeom prst="rect">
            <a:avLst/>
          </a:prstGeom>
          <a:noFill/>
        </p:spPr>
        <p:txBody>
          <a:bodyPr wrap="square">
            <a:spAutoFit/>
          </a:bodyPr>
          <a:lstStyle/>
          <a:p>
            <a:pPr>
              <a:spcBef>
                <a:spcPts val="600"/>
              </a:spcBef>
              <a:defRPr sz="2000">
                <a:solidFill>
                  <a:srgbClr val="EEEEFF"/>
                </a:solidFill>
                <a:latin typeface="Calibri"/>
              </a:defRPr>
            </a:pPr>
            <a:r>
              <a:t>Multi-agent architecture with MCP connectivity</a:t>
            </a:r>
          </a:p>
          <a:p>
            <a:pPr>
              <a:spcBef>
                <a:spcPts val="600"/>
              </a:spcBef>
              <a:defRPr sz="2000">
                <a:solidFill>
                  <a:srgbClr val="EEEEFF"/>
                </a:solidFill>
                <a:latin typeface="Calibri"/>
              </a:defRPr>
            </a:pPr>
            <a:r>
              <a:t>FastMCP tool servers on Cloud Run</a:t>
            </a:r>
          </a:p>
          <a:p>
            <a:pPr>
              <a:spcBef>
                <a:spcPts val="600"/>
              </a:spcBef>
              <a:defRPr sz="2000">
                <a:solidFill>
                  <a:srgbClr val="EEEEFF"/>
                </a:solidFill>
                <a:latin typeface="Calibri"/>
              </a:defRPr>
            </a:pPr>
            <a:r>
              <a:t>ADK agents deployed to Agent Runtime</a:t>
            </a:r>
          </a:p>
          <a:p>
            <a:pPr>
              <a:spcBef>
                <a:spcPts val="600"/>
              </a:spcBef>
              <a:defRPr sz="2000">
                <a:solidFill>
                  <a:srgbClr val="EEEEFF"/>
                </a:solidFill>
                <a:latin typeface="Calibri"/>
              </a:defRPr>
            </a:pPr>
            <a:r>
              <a:t>SPIFFE-based workload identity</a:t>
            </a:r>
          </a:p>
        </p:txBody>
      </p:sp>
      <p:sp>
        <p:nvSpPr>
          <p:cNvPr id="6" name="TextBox 5"/>
          <p:cNvSpPr txBox="1"/>
          <p:nvPr/>
        </p:nvSpPr>
        <p:spPr>
          <a:xfrm>
            <a:off x="274320" y="594360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8899CC"/>
                </a:solidFill>
                <a:latin typeface="Calibri"/>
              </a:defRPr>
            </a:pPr>
            <a:r>
              <a:t>Google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Multi-Agent Topology</a:t>
            </a:r>
          </a:p>
        </p:txBody>
      </p:sp>
      <p:pic>
        <p:nvPicPr>
          <p:cNvPr id="3" name="Picture 2" descr="01_multi_agent_topology.png"/>
          <p:cNvPicPr>
            <a:picLocks noChangeAspect="1"/>
          </p:cNvPicPr>
          <p:nvPr/>
        </p:nvPicPr>
        <p:blipFill>
          <a:blip r:embed="rId2"/>
          <a:stretch>
            <a:fillRect/>
          </a:stretch>
        </p:blipFill>
        <p:spPr>
          <a:xfrm>
            <a:off x="457200" y="1188720"/>
            <a:ext cx="5486400" cy="3062177"/>
          </a:xfrm>
          <a:prstGeom prst="rect">
            <a:avLst/>
          </a:prstGeom>
        </p:spPr>
      </p:pic>
      <p:sp>
        <p:nvSpPr>
          <p:cNvPr id="4" name="TextBox 3"/>
          <p:cNvSpPr txBox="1"/>
          <p:nvPr/>
        </p:nvSpPr>
        <p:spPr>
          <a:xfrm>
            <a:off x="6400800" y="1188720"/>
            <a:ext cx="5029200" cy="2286000"/>
          </a:xfrm>
          <a:prstGeom prst="rect">
            <a:avLst/>
          </a:prstGeom>
          <a:noFill/>
        </p:spPr>
        <p:txBody>
          <a:bodyPr wrap="square">
            <a:spAutoFit/>
          </a:bodyPr>
          <a:lstStyle/>
          <a:p>
            <a:pPr>
              <a:spcAft>
                <a:spcPts val="800"/>
              </a:spcAft>
              <a:defRPr sz="2200" b="1">
                <a:solidFill>
                  <a:srgbClr val="1A73E8"/>
                </a:solidFill>
                <a:latin typeface="Calibri"/>
              </a:defRPr>
            </a:pPr>
            <a:r>
              <a:t>Three ADK Agents</a:t>
            </a:r>
          </a:p>
          <a:p>
            <a:pPr>
              <a:spcBef>
                <a:spcPts val="600"/>
              </a:spcBef>
              <a:defRPr sz="1800">
                <a:solidFill>
                  <a:srgbClr val="202124"/>
                </a:solidFill>
                <a:latin typeface="Calibri"/>
              </a:defRPr>
            </a:pPr>
            <a:r>
              <a:t>Coordinator Agent — routes requests to specialists</a:t>
            </a:r>
          </a:p>
          <a:p>
            <a:pPr>
              <a:spcBef>
                <a:spcPts val="600"/>
              </a:spcBef>
              <a:defRPr sz="1800">
                <a:solidFill>
                  <a:srgbClr val="202124"/>
                </a:solidFill>
                <a:latin typeface="Calibri"/>
              </a:defRPr>
            </a:pPr>
            <a:r>
              <a:t>Travel Agent — searches flights/hotels, makes bookings</a:t>
            </a:r>
          </a:p>
          <a:p>
            <a:pPr>
              <a:spcBef>
                <a:spcPts val="600"/>
              </a:spcBef>
              <a:defRPr sz="1800">
                <a:solidFill>
                  <a:srgbClr val="202124"/>
                </a:solidFill>
                <a:latin typeface="Calibri"/>
              </a:defRPr>
            </a:pPr>
            <a:r>
              <a:t>Expense Agent — submits expenses, enforces policy limits</a:t>
            </a:r>
          </a:p>
        </p:txBody>
      </p:sp>
      <p:sp>
        <p:nvSpPr>
          <p:cNvPr id="5" name="TextBox 4"/>
          <p:cNvSpPr txBox="1"/>
          <p:nvPr/>
        </p:nvSpPr>
        <p:spPr>
          <a:xfrm>
            <a:off x="6400800" y="3840480"/>
            <a:ext cx="5029200" cy="2286000"/>
          </a:xfrm>
          <a:prstGeom prst="rect">
            <a:avLst/>
          </a:prstGeom>
          <a:noFill/>
        </p:spPr>
        <p:txBody>
          <a:bodyPr wrap="square">
            <a:spAutoFit/>
          </a:bodyPr>
          <a:lstStyle/>
          <a:p>
            <a:pPr>
              <a:spcAft>
                <a:spcPts val="800"/>
              </a:spcAft>
              <a:defRPr sz="2200" b="1">
                <a:solidFill>
                  <a:srgbClr val="1A73E8"/>
                </a:solidFill>
                <a:latin typeface="Calibri"/>
              </a:defRPr>
            </a:pPr>
            <a:r>
              <a:t>Three MCP Servers</a:t>
            </a:r>
          </a:p>
          <a:p>
            <a:pPr>
              <a:spcBef>
                <a:spcPts val="600"/>
              </a:spcBef>
              <a:defRPr sz="1800">
                <a:solidFill>
                  <a:srgbClr val="202124"/>
                </a:solidFill>
                <a:latin typeface="Calibri"/>
              </a:defRPr>
            </a:pPr>
            <a:r>
              <a:t>Search MCP — shared by Travel + Coordinator</a:t>
            </a:r>
          </a:p>
          <a:p>
            <a:pPr>
              <a:spcBef>
                <a:spcPts val="600"/>
              </a:spcBef>
              <a:defRPr sz="1800">
                <a:solidFill>
                  <a:srgbClr val="202124"/>
                </a:solidFill>
                <a:latin typeface="Calibri"/>
              </a:defRPr>
            </a:pPr>
            <a:r>
              <a:t>Booking MCP — flight/hotel reservations</a:t>
            </a:r>
          </a:p>
          <a:p>
            <a:pPr>
              <a:spcBef>
                <a:spcPts val="600"/>
              </a:spcBef>
              <a:defRPr sz="1800">
                <a:solidFill>
                  <a:srgbClr val="202124"/>
                </a:solidFill>
                <a:latin typeface="Calibri"/>
              </a:defRPr>
            </a:pPr>
            <a:r>
              <a:t>Expense MCP — expense submission + policy checks</a:t>
            </a:r>
          </a:p>
        </p:txBody>
      </p:sp>
      <p:sp>
        <p:nvSpPr>
          <p:cNvPr id="6" name="TextBox 5"/>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MCP Server Development</a:t>
            </a:r>
          </a:p>
        </p:txBody>
      </p:sp>
      <p:sp>
        <p:nvSpPr>
          <p:cNvPr id="3" name="TextBox 2"/>
          <p:cNvSpPr txBox="1"/>
          <p:nvPr/>
        </p:nvSpPr>
        <p:spPr>
          <a:xfrm>
            <a:off x="731520" y="1005840"/>
            <a:ext cx="4572000" cy="365760"/>
          </a:xfrm>
          <a:prstGeom prst="rect">
            <a:avLst/>
          </a:prstGeom>
          <a:noFill/>
        </p:spPr>
        <p:txBody>
          <a:bodyPr wrap="square">
            <a:spAutoFit/>
          </a:bodyPr>
          <a:lstStyle/>
          <a:p>
            <a:pPr algn="l">
              <a:defRPr sz="2200" b="1">
                <a:solidFill>
                  <a:srgbClr val="1A73E8"/>
                </a:solidFill>
                <a:latin typeface="Calibri"/>
              </a:defRPr>
            </a:pPr>
            <a:r>
              <a:t>FastMCP Pattern</a:t>
            </a:r>
          </a:p>
        </p:txBody>
      </p:sp>
      <p:sp>
        <p:nvSpPr>
          <p:cNvPr id="4" name="Rounded Rectangle 3"/>
          <p:cNvSpPr/>
          <p:nvPr/>
        </p:nvSpPr>
        <p:spPr>
          <a:xfrm>
            <a:off x="731520" y="1463040"/>
            <a:ext cx="5029200" cy="384048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200">
                <a:solidFill>
                  <a:srgbClr val="202124"/>
                </a:solidFill>
                <a:latin typeface="Consolas"/>
              </a:defRPr>
            </a:pPr>
            <a:r>
              <a:t>from fastmcp import FastMCP</a:t>
            </a:r>
          </a:p>
          <a:p>
            <a:pPr>
              <a:spcBef>
                <a:spcPts val="0"/>
              </a:spcBef>
              <a:spcAft>
                <a:spcPts val="0"/>
              </a:spcAft>
              <a:defRPr sz="1200">
                <a:solidFill>
                  <a:srgbClr val="202124"/>
                </a:solidFill>
                <a:latin typeface="Consolas"/>
              </a:defRPr>
            </a:pPr>
          </a:p>
          <a:p>
            <a:pPr>
              <a:spcBef>
                <a:spcPts val="0"/>
              </a:spcBef>
              <a:spcAft>
                <a:spcPts val="0"/>
              </a:spcAft>
              <a:defRPr sz="1200">
                <a:solidFill>
                  <a:srgbClr val="202124"/>
                </a:solidFill>
                <a:latin typeface="Consolas"/>
              </a:defRPr>
            </a:pPr>
            <a:r>
              <a:t>mcp = FastMCP("search-mcp")</a:t>
            </a:r>
          </a:p>
          <a:p>
            <a:pPr>
              <a:spcBef>
                <a:spcPts val="0"/>
              </a:spcBef>
              <a:spcAft>
                <a:spcPts val="0"/>
              </a:spcAft>
              <a:defRPr sz="1200">
                <a:solidFill>
                  <a:srgbClr val="202124"/>
                </a:solidFill>
                <a:latin typeface="Consolas"/>
              </a:defRPr>
            </a:pPr>
          </a:p>
          <a:p>
            <a:pPr>
              <a:spcBef>
                <a:spcPts val="0"/>
              </a:spcBef>
              <a:spcAft>
                <a:spcPts val="0"/>
              </a:spcAft>
              <a:defRPr sz="1200">
                <a:solidFill>
                  <a:srgbClr val="202124"/>
                </a:solidFill>
                <a:latin typeface="Consolas"/>
              </a:defRPr>
            </a:pPr>
            <a:r>
              <a:t>@mcp.tool()</a:t>
            </a:r>
          </a:p>
          <a:p>
            <a:pPr>
              <a:spcBef>
                <a:spcPts val="0"/>
              </a:spcBef>
              <a:spcAft>
                <a:spcPts val="0"/>
              </a:spcAft>
              <a:defRPr sz="1200">
                <a:solidFill>
                  <a:srgbClr val="202124"/>
                </a:solidFill>
                <a:latin typeface="Consolas"/>
              </a:defRPr>
            </a:pPr>
            <a:r>
              <a:t>def search_flights(</a:t>
            </a:r>
          </a:p>
          <a:p>
            <a:pPr>
              <a:spcBef>
                <a:spcPts val="0"/>
              </a:spcBef>
              <a:spcAft>
                <a:spcPts val="0"/>
              </a:spcAft>
              <a:defRPr sz="1200">
                <a:solidFill>
                  <a:srgbClr val="202124"/>
                </a:solidFill>
                <a:latin typeface="Consolas"/>
              </a:defRPr>
            </a:pPr>
            <a:r>
              <a:t>    origin: str,</a:t>
            </a:r>
          </a:p>
          <a:p>
            <a:pPr>
              <a:spcBef>
                <a:spcPts val="0"/>
              </a:spcBef>
              <a:spcAft>
                <a:spcPts val="0"/>
              </a:spcAft>
              <a:defRPr sz="1200">
                <a:solidFill>
                  <a:srgbClr val="202124"/>
                </a:solidFill>
                <a:latin typeface="Consolas"/>
              </a:defRPr>
            </a:pPr>
            <a:r>
              <a:t>    destination: str,</a:t>
            </a:r>
          </a:p>
          <a:p>
            <a:pPr>
              <a:spcBef>
                <a:spcPts val="0"/>
              </a:spcBef>
              <a:spcAft>
                <a:spcPts val="0"/>
              </a:spcAft>
              <a:defRPr sz="1200">
                <a:solidFill>
                  <a:srgbClr val="202124"/>
                </a:solidFill>
                <a:latin typeface="Consolas"/>
              </a:defRPr>
            </a:pPr>
            <a:r>
              <a:t>    date: str | None = None</a:t>
            </a:r>
          </a:p>
          <a:p>
            <a:pPr>
              <a:spcBef>
                <a:spcPts val="0"/>
              </a:spcBef>
              <a:spcAft>
                <a:spcPts val="0"/>
              </a:spcAft>
              <a:defRPr sz="1200">
                <a:solidFill>
                  <a:srgbClr val="202124"/>
                </a:solidFill>
                <a:latin typeface="Consolas"/>
              </a:defRPr>
            </a:pPr>
            <a:r>
              <a:t>) -&gt; list[dict]:</a:t>
            </a:r>
          </a:p>
          <a:p>
            <a:pPr>
              <a:spcBef>
                <a:spcPts val="0"/>
              </a:spcBef>
              <a:spcAft>
                <a:spcPts val="0"/>
              </a:spcAft>
              <a:defRPr sz="1200">
                <a:solidFill>
                  <a:srgbClr val="202124"/>
                </a:solidFill>
                <a:latin typeface="Consolas"/>
              </a:defRPr>
            </a:pPr>
            <a:r>
              <a:t>    """Search available flights."""</a:t>
            </a:r>
          </a:p>
          <a:p>
            <a:pPr>
              <a:spcBef>
                <a:spcPts val="0"/>
              </a:spcBef>
              <a:spcAft>
                <a:spcPts val="0"/>
              </a:spcAft>
              <a:defRPr sz="1200">
                <a:solidFill>
                  <a:srgbClr val="202124"/>
                </a:solidFill>
                <a:latin typeface="Consolas"/>
              </a:defRPr>
            </a:pPr>
            <a:r>
              <a:t>    return flight_db.search(</a:t>
            </a:r>
          </a:p>
          <a:p>
            <a:pPr>
              <a:spcBef>
                <a:spcPts val="0"/>
              </a:spcBef>
              <a:spcAft>
                <a:spcPts val="0"/>
              </a:spcAft>
              <a:defRPr sz="1200">
                <a:solidFill>
                  <a:srgbClr val="202124"/>
                </a:solidFill>
                <a:latin typeface="Consolas"/>
              </a:defRPr>
            </a:pPr>
            <a:r>
              <a:t>        origin, destination, date</a:t>
            </a:r>
          </a:p>
          <a:p>
            <a:pPr>
              <a:spcBef>
                <a:spcPts val="0"/>
              </a:spcBef>
              <a:spcAft>
                <a:spcPts val="0"/>
              </a:spcAft>
              <a:defRPr sz="1200">
                <a:solidFill>
                  <a:srgbClr val="202124"/>
                </a:solidFill>
                <a:latin typeface="Consolas"/>
              </a:defRPr>
            </a:pPr>
            <a:r>
              <a:t>    )</a:t>
            </a:r>
          </a:p>
        </p:txBody>
      </p:sp>
      <p:sp>
        <p:nvSpPr>
          <p:cNvPr id="5" name="Rounded Rectangle 4"/>
          <p:cNvSpPr/>
          <p:nvPr/>
        </p:nvSpPr>
        <p:spPr>
          <a:xfrm>
            <a:off x="6400800" y="1188720"/>
            <a:ext cx="5029200" cy="128016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StreamableHTTP Transport</a:t>
            </a:r>
          </a:p>
          <a:p>
            <a:pPr>
              <a:spcBef>
                <a:spcPts val="600"/>
              </a:spcBef>
              <a:defRPr sz="1300">
                <a:solidFill>
                  <a:srgbClr val="5F6368"/>
                </a:solidFill>
                <a:latin typeface="Calibri"/>
              </a:defRPr>
            </a:pPr>
            <a:r>
              <a:t>MCP servers run as standard HTTP services on Cloud Run with automatic scaling</a:t>
            </a:r>
          </a:p>
        </p:txBody>
      </p:sp>
      <p:sp>
        <p:nvSpPr>
          <p:cNvPr id="6" name="Rounded Rectangle 5"/>
          <p:cNvSpPr/>
          <p:nvPr/>
        </p:nvSpPr>
        <p:spPr>
          <a:xfrm>
            <a:off x="6400800" y="2743200"/>
            <a:ext cx="5029200" cy="128016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Tool Discovery</a:t>
            </a:r>
          </a:p>
          <a:p>
            <a:pPr>
              <a:spcBef>
                <a:spcPts val="600"/>
              </a:spcBef>
              <a:defRPr sz="1300">
                <a:solidFill>
                  <a:srgbClr val="5F6368"/>
                </a:solidFill>
                <a:latin typeface="Calibri"/>
              </a:defRPr>
            </a:pPr>
            <a:r>
              <a:t>Agents dynamically discover available tools via MCP protocol introspection</a:t>
            </a:r>
          </a:p>
        </p:txBody>
      </p:sp>
      <p:sp>
        <p:nvSpPr>
          <p:cNvPr id="7" name="Rounded Rectangle 6"/>
          <p:cNvSpPr/>
          <p:nvPr/>
        </p:nvSpPr>
        <p:spPr>
          <a:xfrm>
            <a:off x="6400800" y="4297680"/>
            <a:ext cx="5029200" cy="1280160"/>
          </a:xfrm>
          <a:prstGeom prst="roundRect">
            <a:avLst/>
          </a:prstGeom>
          <a:solidFill>
            <a:srgbClr val="FFFFFF"/>
          </a:solidFill>
          <a:ln w="25400">
            <a:solidFill>
              <a:srgbClr val="F9AB0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F9AB00"/>
                </a:solidFill>
                <a:latin typeface="Calibri"/>
              </a:defRPr>
            </a:pPr>
            <a:r>
              <a:t>1-to-Many Topology</a:t>
            </a:r>
          </a:p>
          <a:p>
            <a:pPr>
              <a:spcBef>
                <a:spcPts val="600"/>
              </a:spcBef>
              <a:defRPr sz="1300">
                <a:solidFill>
                  <a:srgbClr val="5F6368"/>
                </a:solidFill>
                <a:latin typeface="Calibri"/>
              </a:defRPr>
            </a:pPr>
            <a:r>
              <a:t>Multiple agents can share the same MCP server — no duplication needed</a:t>
            </a:r>
          </a:p>
        </p:txBody>
      </p:sp>
      <p:sp>
        <p:nvSpPr>
          <p:cNvPr id="8" name="TextBox 7"/>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https://github.com/jswortz/geap-tour/src/mcp_servers/search/server.py</a:t>
            </a:r>
          </a:p>
        </p:txBody>
      </p:sp>
      <p:sp>
        <p:nvSpPr>
          <p:cNvPr id="9" name="TextBox 8"/>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ADK Agent Architecture</a:t>
            </a:r>
          </a:p>
        </p:txBody>
      </p:sp>
      <p:sp>
        <p:nvSpPr>
          <p:cNvPr id="3" name="TextBox 2"/>
          <p:cNvSpPr txBox="1"/>
          <p:nvPr/>
        </p:nvSpPr>
        <p:spPr>
          <a:xfrm>
            <a:off x="731520" y="1005840"/>
            <a:ext cx="4572000" cy="365760"/>
          </a:xfrm>
          <a:prstGeom prst="rect">
            <a:avLst/>
          </a:prstGeom>
          <a:noFill/>
        </p:spPr>
        <p:txBody>
          <a:bodyPr wrap="square">
            <a:spAutoFit/>
          </a:bodyPr>
          <a:lstStyle/>
          <a:p>
            <a:pPr algn="l">
              <a:defRPr sz="2200" b="1">
                <a:solidFill>
                  <a:srgbClr val="1A73E8"/>
                </a:solidFill>
                <a:latin typeface="Calibri"/>
              </a:defRPr>
            </a:pPr>
            <a:r>
              <a:t>Agent Definition</a:t>
            </a:r>
          </a:p>
        </p:txBody>
      </p:sp>
      <p:sp>
        <p:nvSpPr>
          <p:cNvPr id="4" name="Rounded Rectangle 3"/>
          <p:cNvSpPr/>
          <p:nvPr/>
        </p:nvSpPr>
        <p:spPr>
          <a:xfrm>
            <a:off x="731520" y="1463040"/>
            <a:ext cx="5029200" cy="41148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100">
                <a:solidFill>
                  <a:srgbClr val="202124"/>
                </a:solidFill>
                <a:latin typeface="Consolas"/>
              </a:defRPr>
            </a:pPr>
            <a:r>
              <a:t>from google.adk.agents import LlmAgent</a:t>
            </a:r>
          </a:p>
          <a:p>
            <a:pPr>
              <a:spcBef>
                <a:spcPts val="0"/>
              </a:spcBef>
              <a:spcAft>
                <a:spcPts val="0"/>
              </a:spcAft>
              <a:defRPr sz="1100">
                <a:solidFill>
                  <a:srgbClr val="202124"/>
                </a:solidFill>
                <a:latin typeface="Consolas"/>
              </a:defRPr>
            </a:pPr>
            <a:r>
              <a:t>from google.adk.integrations\</a:t>
            </a:r>
          </a:p>
          <a:p>
            <a:pPr>
              <a:spcBef>
                <a:spcPts val="0"/>
              </a:spcBef>
              <a:spcAft>
                <a:spcPts val="0"/>
              </a:spcAft>
              <a:defRPr sz="1100">
                <a:solidFill>
                  <a:srgbClr val="202124"/>
                </a:solidFill>
                <a:latin typeface="Consolas"/>
              </a:defRPr>
            </a:pPr>
            <a:r>
              <a:t>  .agent_registry import AgentRegistry</a:t>
            </a:r>
          </a:p>
          <a:p>
            <a:pPr>
              <a:spcBef>
                <a:spcPts val="0"/>
              </a:spcBef>
              <a:spcAft>
                <a:spcPts val="0"/>
              </a:spcAft>
              <a:defRPr sz="1100">
                <a:solidFill>
                  <a:srgbClr val="202124"/>
                </a:solidFill>
                <a:latin typeface="Consolas"/>
              </a:defRPr>
            </a:pPr>
          </a:p>
          <a:p>
            <a:pPr>
              <a:spcBef>
                <a:spcPts val="0"/>
              </a:spcBef>
              <a:spcAft>
                <a:spcPts val="0"/>
              </a:spcAft>
              <a:defRPr sz="1100">
                <a:solidFill>
                  <a:srgbClr val="202124"/>
                </a:solidFill>
                <a:latin typeface="Consolas"/>
              </a:defRPr>
            </a:pPr>
            <a:r>
              <a:t>registry = AgentRegistry(</a:t>
            </a:r>
          </a:p>
          <a:p>
            <a:pPr>
              <a:spcBef>
                <a:spcPts val="0"/>
              </a:spcBef>
              <a:spcAft>
                <a:spcPts val="0"/>
              </a:spcAft>
              <a:defRPr sz="1100">
                <a:solidFill>
                  <a:srgbClr val="202124"/>
                </a:solidFill>
                <a:latin typeface="Consolas"/>
              </a:defRPr>
            </a:pPr>
            <a:r>
              <a:t>  project_id=PROJECT, location="global"</a:t>
            </a:r>
          </a:p>
          <a:p>
            <a:pPr>
              <a:spcBef>
                <a:spcPts val="0"/>
              </a:spcBef>
              <a:spcAft>
                <a:spcPts val="0"/>
              </a:spcAft>
              <a:defRPr sz="1100">
                <a:solidFill>
                  <a:srgbClr val="202124"/>
                </a:solidFill>
                <a:latin typeface="Consolas"/>
              </a:defRPr>
            </a:pPr>
            <a:r>
              <a:t>)</a:t>
            </a:r>
          </a:p>
          <a:p>
            <a:pPr>
              <a:spcBef>
                <a:spcPts val="0"/>
              </a:spcBef>
              <a:spcAft>
                <a:spcPts val="0"/>
              </a:spcAft>
              <a:defRPr sz="1100">
                <a:solidFill>
                  <a:srgbClr val="202124"/>
                </a:solidFill>
                <a:latin typeface="Consolas"/>
              </a:defRPr>
            </a:pPr>
          </a:p>
          <a:p>
            <a:pPr>
              <a:spcBef>
                <a:spcPts val="0"/>
              </a:spcBef>
              <a:spcAft>
                <a:spcPts val="0"/>
              </a:spcAft>
              <a:defRPr sz="1100">
                <a:solidFill>
                  <a:srgbClr val="202124"/>
                </a:solidFill>
                <a:latin typeface="Consolas"/>
              </a:defRPr>
            </a:pPr>
            <a:r>
              <a:t>travel_agent = LlmAgent(</a:t>
            </a:r>
          </a:p>
          <a:p>
            <a:pPr>
              <a:spcBef>
                <a:spcPts val="0"/>
              </a:spcBef>
              <a:spcAft>
                <a:spcPts val="0"/>
              </a:spcAft>
              <a:defRPr sz="1100">
                <a:solidFill>
                  <a:srgbClr val="202124"/>
                </a:solidFill>
                <a:latin typeface="Consolas"/>
              </a:defRPr>
            </a:pPr>
            <a:r>
              <a:t>  name="travel_agent",</a:t>
            </a:r>
          </a:p>
          <a:p>
            <a:pPr>
              <a:spcBef>
                <a:spcPts val="0"/>
              </a:spcBef>
              <a:spcAft>
                <a:spcPts val="0"/>
              </a:spcAft>
              <a:defRPr sz="1100">
                <a:solidFill>
                  <a:srgbClr val="202124"/>
                </a:solidFill>
                <a:latin typeface="Consolas"/>
              </a:defRPr>
            </a:pPr>
            <a:r>
              <a:t>  model="gemini-2.0-flash",</a:t>
            </a:r>
          </a:p>
          <a:p>
            <a:pPr>
              <a:spcBef>
                <a:spcPts val="0"/>
              </a:spcBef>
              <a:spcAft>
                <a:spcPts val="0"/>
              </a:spcAft>
              <a:defRPr sz="1100">
                <a:solidFill>
                  <a:srgbClr val="202124"/>
                </a:solidFill>
                <a:latin typeface="Consolas"/>
              </a:defRPr>
            </a:pPr>
            <a:r>
              <a:t>  instruction="""You are a travel</a:t>
            </a:r>
          </a:p>
          <a:p>
            <a:pPr>
              <a:spcBef>
                <a:spcPts val="0"/>
              </a:spcBef>
              <a:spcAft>
                <a:spcPts val="0"/>
              </a:spcAft>
              <a:defRPr sz="1100">
                <a:solidFill>
                  <a:srgbClr val="202124"/>
                </a:solidFill>
                <a:latin typeface="Consolas"/>
              </a:defRPr>
            </a:pPr>
            <a:r>
              <a:t>  assistant...""",</a:t>
            </a:r>
          </a:p>
          <a:p>
            <a:pPr>
              <a:spcBef>
                <a:spcPts val="0"/>
              </a:spcBef>
              <a:spcAft>
                <a:spcPts val="0"/>
              </a:spcAft>
              <a:defRPr sz="1100">
                <a:solidFill>
                  <a:srgbClr val="202124"/>
                </a:solidFill>
                <a:latin typeface="Consolas"/>
              </a:defRPr>
            </a:pPr>
            <a:r>
              <a:t>  tools=[</a:t>
            </a:r>
          </a:p>
          <a:p>
            <a:pPr>
              <a:spcBef>
                <a:spcPts val="0"/>
              </a:spcBef>
              <a:spcAft>
                <a:spcPts val="0"/>
              </a:spcAft>
              <a:defRPr sz="1100">
                <a:solidFill>
                  <a:srgbClr val="202124"/>
                </a:solidFill>
                <a:latin typeface="Consolas"/>
              </a:defRPr>
            </a:pPr>
            <a:r>
              <a:t>    registry.get_mcp_toolset(</a:t>
            </a:r>
          </a:p>
          <a:p>
            <a:pPr>
              <a:spcBef>
                <a:spcPts val="0"/>
              </a:spcBef>
              <a:spcAft>
                <a:spcPts val="0"/>
              </a:spcAft>
              <a:defRPr sz="1100">
                <a:solidFill>
                  <a:srgbClr val="202124"/>
                </a:solidFill>
                <a:latin typeface="Consolas"/>
              </a:defRPr>
            </a:pPr>
            <a:r>
              <a:t>      SEARCH_MCP_SERVER</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a:t>
            </a:r>
          </a:p>
        </p:txBody>
      </p:sp>
      <p:sp>
        <p:nvSpPr>
          <p:cNvPr id="5" name="Rounded Rectangle 4"/>
          <p:cNvSpPr/>
          <p:nvPr/>
        </p:nvSpPr>
        <p:spPr>
          <a:xfrm>
            <a:off x="6400800" y="1188720"/>
            <a:ext cx="5029200" cy="128016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Coordinator Pattern</a:t>
            </a:r>
          </a:p>
          <a:p>
            <a:pPr>
              <a:spcBef>
                <a:spcPts val="600"/>
              </a:spcBef>
              <a:defRPr sz="1300">
                <a:solidFill>
                  <a:srgbClr val="5F6368"/>
                </a:solidFill>
                <a:latin typeface="Calibri"/>
              </a:defRPr>
            </a:pPr>
            <a:r>
              <a:t>Root agent uses sub_agents=[travel, expense] to delegate by intent</a:t>
            </a:r>
          </a:p>
        </p:txBody>
      </p:sp>
      <p:sp>
        <p:nvSpPr>
          <p:cNvPr id="6" name="Rounded Rectangle 5"/>
          <p:cNvSpPr/>
          <p:nvPr/>
        </p:nvSpPr>
        <p:spPr>
          <a:xfrm>
            <a:off x="6400800" y="2743200"/>
            <a:ext cx="5029200" cy="128016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Session Management</a:t>
            </a:r>
          </a:p>
          <a:p>
            <a:pPr>
              <a:spcBef>
                <a:spcPts val="600"/>
              </a:spcBef>
              <a:defRPr sz="1300">
                <a:solidFill>
                  <a:srgbClr val="5F6368"/>
                </a:solidFill>
                <a:latin typeface="Calibri"/>
              </a:defRPr>
            </a:pPr>
            <a:r>
              <a:t>Each user gets isolated sessions with conversation history and state</a:t>
            </a:r>
          </a:p>
        </p:txBody>
      </p:sp>
      <p:sp>
        <p:nvSpPr>
          <p:cNvPr id="7" name="Rounded Rectangle 6"/>
          <p:cNvSpPr/>
          <p:nvPr/>
        </p:nvSpPr>
        <p:spPr>
          <a:xfrm>
            <a:off x="6400800" y="4297680"/>
            <a:ext cx="5029200" cy="1280160"/>
          </a:xfrm>
          <a:prstGeom prst="roundRect">
            <a:avLst/>
          </a:prstGeom>
          <a:solidFill>
            <a:srgbClr val="FFFFFF"/>
          </a:solidFill>
          <a:ln w="25400">
            <a:solidFill>
              <a:srgbClr val="F9AB0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F9AB00"/>
                </a:solidFill>
                <a:latin typeface="Calibri"/>
              </a:defRPr>
            </a:pPr>
            <a:r>
              <a:t>OTel Tracing</a:t>
            </a:r>
          </a:p>
          <a:p>
            <a:pPr>
              <a:spcBef>
                <a:spcPts val="600"/>
              </a:spcBef>
              <a:defRPr sz="1300">
                <a:solidFill>
                  <a:srgbClr val="5F6368"/>
                </a:solidFill>
                <a:latin typeface="Calibri"/>
              </a:defRPr>
            </a:pPr>
            <a:r>
              <a:t>Every agent call produces OpenTelemetry spans — exported to Cloud Trace automatically</a:t>
            </a:r>
          </a:p>
        </p:txBody>
      </p:sp>
      <p:sp>
        <p:nvSpPr>
          <p:cNvPr id="8" name="TextBox 7"/>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https://github.com/jswortz/geap-tour/src/agents/coordinator_agent.py</a:t>
            </a:r>
          </a:p>
        </p:txBody>
      </p:sp>
      <p:sp>
        <p:nvSpPr>
          <p:cNvPr id="9" name="TextBox 8"/>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Deployment Architecture</a:t>
            </a:r>
          </a:p>
        </p:txBody>
      </p:sp>
      <p:pic>
        <p:nvPicPr>
          <p:cNvPr id="3" name="Picture 2" descr="02_deployment_architecture.png"/>
          <p:cNvPicPr>
            <a:picLocks noChangeAspect="1"/>
          </p:cNvPicPr>
          <p:nvPr/>
        </p:nvPicPr>
        <p:blipFill>
          <a:blip r:embed="rId2"/>
          <a:stretch>
            <a:fillRect/>
          </a:stretch>
        </p:blipFill>
        <p:spPr>
          <a:xfrm>
            <a:off x="457200" y="1188720"/>
            <a:ext cx="5486400" cy="3062177"/>
          </a:xfrm>
          <a:prstGeom prst="rect">
            <a:avLst/>
          </a:prstGeom>
        </p:spPr>
      </p:pic>
      <p:sp>
        <p:nvSpPr>
          <p:cNvPr id="4" name="Rounded Rectangle 3"/>
          <p:cNvSpPr/>
          <p:nvPr/>
        </p:nvSpPr>
        <p:spPr>
          <a:xfrm>
            <a:off x="6400800" y="1188720"/>
            <a:ext cx="5029200" cy="137160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Cloud Run — MCP Servers</a:t>
            </a:r>
          </a:p>
          <a:p>
            <a:pPr>
              <a:spcBef>
                <a:spcPts val="600"/>
              </a:spcBef>
              <a:defRPr sz="1300">
                <a:solidFill>
                  <a:srgbClr val="5F6368"/>
                </a:solidFill>
                <a:latin typeface="Calibri"/>
              </a:defRPr>
            </a:pPr>
            <a:r>
              <a:t>StreamableHTTP transport, auto-scaling, IAM-secured endpoints</a:t>
            </a:r>
          </a:p>
        </p:txBody>
      </p:sp>
      <p:sp>
        <p:nvSpPr>
          <p:cNvPr id="5" name="Rounded Rectangle 4"/>
          <p:cNvSpPr/>
          <p:nvPr/>
        </p:nvSpPr>
        <p:spPr>
          <a:xfrm>
            <a:off x="6400800" y="2834640"/>
            <a:ext cx="5029200" cy="137160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Agent Runtime — ADK Agents</a:t>
            </a:r>
          </a:p>
          <a:p>
            <a:pPr>
              <a:spcBef>
                <a:spcPts val="600"/>
              </a:spcBef>
              <a:defRPr sz="1300">
                <a:solidFill>
                  <a:srgbClr val="5F6368"/>
                </a:solidFill>
                <a:latin typeface="Calibri"/>
              </a:defRPr>
            </a:pPr>
            <a:r>
              <a:t>Vertex AI Agent Engine with built-in session management and memory</a:t>
            </a:r>
          </a:p>
        </p:txBody>
      </p:sp>
      <p:sp>
        <p:nvSpPr>
          <p:cNvPr id="6" name="TextBox 5"/>
          <p:cNvSpPr txBox="1"/>
          <p:nvPr/>
        </p:nvSpPr>
        <p:spPr>
          <a:xfrm>
            <a:off x="6400800" y="4572000"/>
            <a:ext cx="5029200" cy="914400"/>
          </a:xfrm>
          <a:prstGeom prst="rect">
            <a:avLst/>
          </a:prstGeom>
          <a:noFill/>
        </p:spPr>
        <p:txBody>
          <a:bodyPr wrap="square">
            <a:spAutoFit/>
          </a:bodyPr>
          <a:lstStyle/>
          <a:p>
            <a:pPr algn="l">
              <a:defRPr sz="1600" b="0">
                <a:solidFill>
                  <a:srgbClr val="202124"/>
                </a:solidFill>
                <a:latin typeface="Calibri"/>
              </a:defRPr>
            </a:pPr>
            <a:r>
              <a:t>One command deploy: bash scripts/deploy_all.sh</a:t>
            </a:r>
            <a:br/>
            <a:r>
              <a:t>Deploys 3 MCP servers + coordinator agent in sequence</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200" b="1">
                <a:solidFill>
                  <a:srgbClr val="FFFFFF"/>
                </a:solidFill>
                <a:latin typeface="Calibri"/>
              </a:defRPr>
            </a:pPr>
            <a:r>
              <a:t>Console: Deployments on Agent Runtime</a:t>
            </a:r>
          </a:p>
        </p:txBody>
      </p:sp>
      <p:pic>
        <p:nvPicPr>
          <p:cNvPr id="3" name="Picture 2" descr="session1_agent_engine.png"/>
          <p:cNvPicPr>
            <a:picLocks noChangeAspect="1"/>
          </p:cNvPicPr>
          <p:nvPr/>
        </p:nvPicPr>
        <p:blipFill>
          <a:blip r:embed="rId2"/>
          <a:stretch>
            <a:fillRect/>
          </a:stretch>
        </p:blipFill>
        <p:spPr>
          <a:xfrm>
            <a:off x="731520" y="1188720"/>
            <a:ext cx="10515600" cy="6646398"/>
          </a:xfrm>
          <a:prstGeom prst="rect">
            <a:avLst/>
          </a:prstGeom>
        </p:spPr>
      </p:pic>
      <p:sp>
        <p:nvSpPr>
          <p:cNvPr id="4" name="TextBox 3"/>
          <p:cNvSpPr txBox="1"/>
          <p:nvPr/>
        </p:nvSpPr>
        <p:spPr>
          <a:xfrm>
            <a:off x="6400800" y="6309360"/>
            <a:ext cx="3657600" cy="274320"/>
          </a:xfrm>
          <a:prstGeom prst="rect">
            <a:avLst/>
          </a:prstGeom>
          <a:noFill/>
        </p:spPr>
        <p:txBody>
          <a:bodyPr wrap="square">
            <a:spAutoFit/>
          </a:bodyPr>
          <a:lstStyle/>
          <a:p>
            <a:pPr algn="l"/>
            <a:r>
              <a:rPr sz="1000">
                <a:solidFill>
                  <a:srgbClr val="AAAAAA"/>
                </a:solidFill>
                <a:latin typeface="Calibri"/>
                <a:hlinkClick r:id="rId3"/>
              </a:rPr>
              <a:t>Open in Cloud Console</a:t>
            </a:r>
          </a:p>
        </p:txBody>
      </p:sp>
      <p:sp>
        <p:nvSpPr>
          <p:cNvPr id="5" name="TextBox 4"/>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Agent Identity — SPIFFE</a:t>
            </a:r>
          </a:p>
        </p:txBody>
      </p:sp>
      <p:pic>
        <p:nvPicPr>
          <p:cNvPr id="3" name="Picture 2" descr="04_agent_identity_gateway.png"/>
          <p:cNvPicPr>
            <a:picLocks noChangeAspect="1"/>
          </p:cNvPicPr>
          <p:nvPr/>
        </p:nvPicPr>
        <p:blipFill>
          <a:blip r:embed="rId2"/>
          <a:stretch>
            <a:fillRect/>
          </a:stretch>
        </p:blipFill>
        <p:spPr>
          <a:xfrm>
            <a:off x="457200" y="1188720"/>
            <a:ext cx="5486400" cy="3062177"/>
          </a:xfrm>
          <a:prstGeom prst="rect">
            <a:avLst/>
          </a:prstGeom>
        </p:spPr>
      </p:pic>
      <p:sp>
        <p:nvSpPr>
          <p:cNvPr id="4" name="TextBox 3"/>
          <p:cNvSpPr txBox="1"/>
          <p:nvPr/>
        </p:nvSpPr>
        <p:spPr>
          <a:xfrm>
            <a:off x="6400800" y="1188720"/>
            <a:ext cx="5029200" cy="1828800"/>
          </a:xfrm>
          <a:prstGeom prst="rect">
            <a:avLst/>
          </a:prstGeom>
          <a:noFill/>
        </p:spPr>
        <p:txBody>
          <a:bodyPr wrap="square">
            <a:spAutoFit/>
          </a:bodyPr>
          <a:lstStyle/>
          <a:p>
            <a:pPr>
              <a:spcAft>
                <a:spcPts val="800"/>
              </a:spcAft>
              <a:defRPr sz="2200" b="1">
                <a:solidFill>
                  <a:srgbClr val="1A73E8"/>
                </a:solidFill>
                <a:latin typeface="Calibri"/>
              </a:defRPr>
            </a:pPr>
            <a:r>
              <a:t>Workload Identity Federation</a:t>
            </a:r>
          </a:p>
          <a:p>
            <a:pPr>
              <a:spcBef>
                <a:spcPts val="600"/>
              </a:spcBef>
              <a:defRPr sz="1800">
                <a:solidFill>
                  <a:srgbClr val="202124"/>
                </a:solidFill>
                <a:latin typeface="Calibri"/>
              </a:defRPr>
            </a:pPr>
            <a:r>
              <a:t>Each agent gets a SPIFFE ID at deployment</a:t>
            </a:r>
          </a:p>
          <a:p>
            <a:pPr>
              <a:spcBef>
                <a:spcPts val="600"/>
              </a:spcBef>
              <a:defRPr sz="1800">
                <a:solidFill>
                  <a:srgbClr val="202124"/>
                </a:solidFill>
                <a:latin typeface="Calibri"/>
              </a:defRPr>
            </a:pPr>
            <a:r>
              <a:t>Attestation policies verify agent identity at runtime</a:t>
            </a:r>
          </a:p>
          <a:p>
            <a:pPr>
              <a:spcBef>
                <a:spcPts val="600"/>
              </a:spcBef>
              <a:defRPr sz="1800">
                <a:solidFill>
                  <a:srgbClr val="202124"/>
                </a:solidFill>
                <a:latin typeface="Calibri"/>
              </a:defRPr>
            </a:pPr>
            <a:r>
              <a:t>Agent Gateway enforces identity at network boundary</a:t>
            </a:r>
          </a:p>
        </p:txBody>
      </p:sp>
      <p:graphicFrame>
        <p:nvGraphicFramePr>
          <p:cNvPr id="5" name="Table 4"/>
          <p:cNvGraphicFramePr>
            <a:graphicFrameLocks noGrp="1"/>
          </p:cNvGraphicFramePr>
          <p:nvPr/>
        </p:nvGraphicFramePr>
        <p:xfrm>
          <a:off x="6400800" y="3657600"/>
          <a:ext cx="5029200" cy="1828800"/>
        </p:xfrm>
        <a:graphic>
          <a:graphicData uri="http://schemas.openxmlformats.org/drawingml/2006/table">
            <a:tbl>
              <a:tblPr firstRow="1" bandRow="1">
                <a:tableStyleId>{5C22544A-7EE6-4342-B048-85BDC9FD1C3A}</a:tableStyleId>
              </a:tblPr>
              <a:tblGrid>
                <a:gridCol w="2514600"/>
                <a:gridCol w="2514600"/>
              </a:tblGrid>
              <a:tr h="457200">
                <a:tc>
                  <a:txBody>
                    <a:bodyPr/>
                    <a:lstStyle/>
                    <a:p>
                      <a:pPr>
                        <a:defRPr sz="1400" b="1">
                          <a:solidFill>
                            <a:srgbClr val="FFFFFF"/>
                          </a:solidFill>
                          <a:latin typeface="Calibri"/>
                        </a:defRPr>
                      </a:pPr>
                      <a:r>
                        <a:t>Type</a:t>
                      </a:r>
                    </a:p>
                  </a:txBody>
                  <a:tcPr>
                    <a:solidFill>
                      <a:srgbClr val="1A73E8"/>
                    </a:solidFill>
                  </a:tcPr>
                </a:tc>
                <a:tc>
                  <a:txBody>
                    <a:bodyPr/>
                    <a:lstStyle/>
                    <a:p>
                      <a:pPr>
                        <a:defRPr sz="1400" b="1">
                          <a:solidFill>
                            <a:srgbClr val="FFFFFF"/>
                          </a:solidFill>
                          <a:latin typeface="Calibri"/>
                        </a:defRPr>
                      </a:pPr>
                      <a:r>
                        <a:t>Purpose</a:t>
                      </a:r>
                    </a:p>
                  </a:txBody>
                  <a:tcPr>
                    <a:solidFill>
                      <a:srgbClr val="1A73E8"/>
                    </a:solidFill>
                  </a:tcPr>
                </a:tc>
              </a:tr>
              <a:tr h="457200">
                <a:tc>
                  <a:txBody>
                    <a:bodyPr/>
                    <a:lstStyle/>
                    <a:p>
                      <a:pPr>
                        <a:defRPr sz="1300">
                          <a:solidFill>
                            <a:srgbClr val="202124"/>
                          </a:solidFill>
                          <a:latin typeface="Calibri"/>
                        </a:defRPr>
                      </a:pPr>
                      <a:r>
                        <a:t>ID-1: User</a:t>
                      </a:r>
                    </a:p>
                  </a:txBody>
                  <a:tcPr/>
                </a:tc>
                <a:tc>
                  <a:txBody>
                    <a:bodyPr/>
                    <a:lstStyle/>
                    <a:p>
                      <a:pPr>
                        <a:defRPr sz="1300">
                          <a:solidFill>
                            <a:srgbClr val="202124"/>
                          </a:solidFill>
                          <a:latin typeface="Calibri"/>
                        </a:defRPr>
                      </a:pPr>
                      <a:r>
                        <a:t>Human accessing the app</a:t>
                      </a:r>
                    </a:p>
                  </a:txBody>
                  <a:tcPr/>
                </a:tc>
              </a:tr>
              <a:tr h="457200">
                <a:tc>
                  <a:txBody>
                    <a:bodyPr/>
                    <a:lstStyle/>
                    <a:p>
                      <a:pPr>
                        <a:defRPr sz="1300">
                          <a:solidFill>
                            <a:srgbClr val="202124"/>
                          </a:solidFill>
                          <a:latin typeface="Calibri"/>
                        </a:defRPr>
                      </a:pPr>
                      <a:r>
                        <a:t>ID-2: Agent</a:t>
                      </a:r>
                    </a:p>
                  </a:txBody>
                  <a:tcPr>
                    <a:solidFill>
                      <a:srgbClr val="F8F9FA"/>
                    </a:solidFill>
                  </a:tcPr>
                </a:tc>
                <a:tc>
                  <a:txBody>
                    <a:bodyPr/>
                    <a:lstStyle/>
                    <a:p>
                      <a:pPr>
                        <a:defRPr sz="1300">
                          <a:solidFill>
                            <a:srgbClr val="202124"/>
                          </a:solidFill>
                          <a:latin typeface="Calibri"/>
                        </a:defRPr>
                      </a:pPr>
                      <a:r>
                        <a:t>Agent's own authority</a:t>
                      </a:r>
                    </a:p>
                  </a:txBody>
                  <a:tcPr>
                    <a:solidFill>
                      <a:srgbClr val="F8F9FA"/>
                    </a:solidFill>
                  </a:tcPr>
                </a:tc>
              </a:tr>
              <a:tr h="457200">
                <a:tc>
                  <a:txBody>
                    <a:bodyPr/>
                    <a:lstStyle/>
                    <a:p>
                      <a:pPr>
                        <a:defRPr sz="1300">
                          <a:solidFill>
                            <a:srgbClr val="202124"/>
                          </a:solidFill>
                          <a:latin typeface="Calibri"/>
                        </a:defRPr>
                      </a:pPr>
                      <a:r>
                        <a:t>ID-3: Delegated</a:t>
                      </a:r>
                    </a:p>
                  </a:txBody>
                  <a:tcPr/>
                </a:tc>
                <a:tc>
                  <a:txBody>
                    <a:bodyPr/>
                    <a:lstStyle/>
                    <a:p>
                      <a:pPr>
                        <a:defRPr sz="1300">
                          <a:solidFill>
                            <a:srgbClr val="202124"/>
                          </a:solidFill>
                          <a:latin typeface="Calibri"/>
                        </a:defRPr>
                      </a:pPr>
                      <a:r>
                        <a:t>Agent on behalf of user</a:t>
                      </a:r>
                    </a:p>
                  </a:txBody>
                  <a:tcPr/>
                </a:tc>
              </a:tr>
            </a:tbl>
          </a:graphicData>
        </a:graphic>
      </p:graphicFrame>
      <p:sp>
        <p:nvSpPr>
          <p:cNvPr id="6" name="TextBox 5"/>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Workload Identity — Setup &amp; Verification</a:t>
            </a:r>
          </a:p>
        </p:txBody>
      </p:sp>
      <p:sp>
        <p:nvSpPr>
          <p:cNvPr id="3" name="TextBox 2"/>
          <p:cNvSpPr txBox="1"/>
          <p:nvPr/>
        </p:nvSpPr>
        <p:spPr>
          <a:xfrm>
            <a:off x="731520" y="1005840"/>
            <a:ext cx="5029200" cy="365760"/>
          </a:xfrm>
          <a:prstGeom prst="rect">
            <a:avLst/>
          </a:prstGeom>
          <a:noFill/>
        </p:spPr>
        <p:txBody>
          <a:bodyPr wrap="square">
            <a:spAutoFit/>
          </a:bodyPr>
          <a:lstStyle/>
          <a:p>
            <a:pPr algn="l">
              <a:defRPr sz="2200" b="1">
                <a:solidFill>
                  <a:srgbClr val="1A73E8"/>
                </a:solidFill>
                <a:latin typeface="Calibri"/>
              </a:defRPr>
            </a:pPr>
            <a:r>
              <a:t>Create Identity Pool &amp; Provider</a:t>
            </a:r>
          </a:p>
        </p:txBody>
      </p:sp>
      <p:sp>
        <p:nvSpPr>
          <p:cNvPr id="4" name="Rounded Rectangle 3"/>
          <p:cNvSpPr/>
          <p:nvPr/>
        </p:nvSpPr>
        <p:spPr>
          <a:xfrm>
            <a:off x="731520" y="1463040"/>
            <a:ext cx="5029200" cy="32004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100">
                <a:solidFill>
                  <a:srgbClr val="202124"/>
                </a:solidFill>
                <a:latin typeface="Consolas"/>
              </a:defRPr>
            </a:pPr>
            <a:r>
              <a:t># Create workload identity pool</a:t>
            </a:r>
          </a:p>
          <a:p>
            <a:pPr>
              <a:spcBef>
                <a:spcPts val="0"/>
              </a:spcBef>
              <a:spcAft>
                <a:spcPts val="0"/>
              </a:spcAft>
              <a:defRPr sz="1100">
                <a:solidFill>
                  <a:srgbClr val="202124"/>
                </a:solidFill>
                <a:latin typeface="Consolas"/>
              </a:defRPr>
            </a:pPr>
            <a:r>
              <a:t>gcloud iam workload-identity-pools \</a:t>
            </a:r>
          </a:p>
          <a:p>
            <a:pPr>
              <a:spcBef>
                <a:spcPts val="0"/>
              </a:spcBef>
              <a:spcAft>
                <a:spcPts val="0"/>
              </a:spcAft>
              <a:defRPr sz="1100">
                <a:solidFill>
                  <a:srgbClr val="202124"/>
                </a:solidFill>
                <a:latin typeface="Consolas"/>
              </a:defRPr>
            </a:pPr>
            <a:r>
              <a:t>  create geap-agent-pool \</a:t>
            </a:r>
          </a:p>
          <a:p>
            <a:pPr>
              <a:spcBef>
                <a:spcPts val="0"/>
              </a:spcBef>
              <a:spcAft>
                <a:spcPts val="0"/>
              </a:spcAft>
              <a:defRPr sz="1100">
                <a:solidFill>
                  <a:srgbClr val="202124"/>
                </a:solidFill>
                <a:latin typeface="Consolas"/>
              </a:defRPr>
            </a:pPr>
            <a:r>
              <a:t>  --location="global" \</a:t>
            </a:r>
          </a:p>
          <a:p>
            <a:pPr>
              <a:spcBef>
                <a:spcPts val="0"/>
              </a:spcBef>
              <a:spcAft>
                <a:spcPts val="0"/>
              </a:spcAft>
              <a:defRPr sz="1100">
                <a:solidFill>
                  <a:srgbClr val="202124"/>
                </a:solidFill>
                <a:latin typeface="Consolas"/>
              </a:defRPr>
            </a:pPr>
            <a:r>
              <a:t>  --display-name="GEAP Agent Pool"</a:t>
            </a:r>
          </a:p>
          <a:p>
            <a:pPr>
              <a:spcBef>
                <a:spcPts val="0"/>
              </a:spcBef>
              <a:spcAft>
                <a:spcPts val="0"/>
              </a:spcAft>
              <a:defRPr sz="1100">
                <a:solidFill>
                  <a:srgbClr val="202124"/>
                </a:solidFill>
                <a:latin typeface="Consolas"/>
              </a:defRPr>
            </a:pPr>
          </a:p>
          <a:p>
            <a:pPr>
              <a:spcBef>
                <a:spcPts val="0"/>
              </a:spcBef>
              <a:spcAft>
                <a:spcPts val="0"/>
              </a:spcAft>
              <a:defRPr sz="1100">
                <a:solidFill>
                  <a:srgbClr val="202124"/>
                </a:solidFill>
                <a:latin typeface="Consolas"/>
              </a:defRPr>
            </a:pPr>
            <a:r>
              <a:t># Create OIDC provider</a:t>
            </a:r>
          </a:p>
          <a:p>
            <a:pPr>
              <a:spcBef>
                <a:spcPts val="0"/>
              </a:spcBef>
              <a:spcAft>
                <a:spcPts val="0"/>
              </a:spcAft>
              <a:defRPr sz="1100">
                <a:solidFill>
                  <a:srgbClr val="202124"/>
                </a:solidFill>
                <a:latin typeface="Consolas"/>
              </a:defRPr>
            </a:pPr>
            <a:r>
              <a:t>gcloud iam workload-identity-pools \</a:t>
            </a:r>
          </a:p>
          <a:p>
            <a:pPr>
              <a:spcBef>
                <a:spcPts val="0"/>
              </a:spcBef>
              <a:spcAft>
                <a:spcPts val="0"/>
              </a:spcAft>
              <a:defRPr sz="1100">
                <a:solidFill>
                  <a:srgbClr val="202124"/>
                </a:solidFill>
                <a:latin typeface="Consolas"/>
              </a:defRPr>
            </a:pPr>
            <a:r>
              <a:t>  providers create-oidc agent-provider \</a:t>
            </a:r>
          </a:p>
          <a:p>
            <a:pPr>
              <a:spcBef>
                <a:spcPts val="0"/>
              </a:spcBef>
              <a:spcAft>
                <a:spcPts val="0"/>
              </a:spcAft>
              <a:defRPr sz="1100">
                <a:solidFill>
                  <a:srgbClr val="202124"/>
                </a:solidFill>
                <a:latin typeface="Consolas"/>
              </a:defRPr>
            </a:pPr>
            <a:r>
              <a:t>  --workload-identity-pool=geap-agent-pool \</a:t>
            </a:r>
          </a:p>
          <a:p>
            <a:pPr>
              <a:spcBef>
                <a:spcPts val="0"/>
              </a:spcBef>
              <a:spcAft>
                <a:spcPts val="0"/>
              </a:spcAft>
              <a:defRPr sz="1100">
                <a:solidFill>
                  <a:srgbClr val="202124"/>
                </a:solidFill>
                <a:latin typeface="Consolas"/>
              </a:defRPr>
            </a:pPr>
            <a:r>
              <a:t>  --issuer-uri="https://accounts.google.com" \</a:t>
            </a:r>
          </a:p>
          <a:p>
            <a:pPr>
              <a:spcBef>
                <a:spcPts val="0"/>
              </a:spcBef>
              <a:spcAft>
                <a:spcPts val="0"/>
              </a:spcAft>
              <a:defRPr sz="1100">
                <a:solidFill>
                  <a:srgbClr val="202124"/>
                </a:solidFill>
                <a:latin typeface="Consolas"/>
              </a:defRPr>
            </a:pPr>
            <a:r>
              <a:t>  --location="global"</a:t>
            </a:r>
          </a:p>
        </p:txBody>
      </p:sp>
      <p:sp>
        <p:nvSpPr>
          <p:cNvPr id="5" name="TextBox 4"/>
          <p:cNvSpPr txBox="1"/>
          <p:nvPr/>
        </p:nvSpPr>
        <p:spPr>
          <a:xfrm>
            <a:off x="731520" y="4846320"/>
            <a:ext cx="5029200" cy="457200"/>
          </a:xfrm>
          <a:prstGeom prst="rect">
            <a:avLst/>
          </a:prstGeom>
          <a:noFill/>
        </p:spPr>
        <p:txBody>
          <a:bodyPr wrap="square">
            <a:spAutoFit/>
          </a:bodyPr>
          <a:lstStyle/>
          <a:p>
            <a:pPr algn="l">
              <a:defRPr sz="1400" b="0">
                <a:solidFill>
                  <a:srgbClr val="5F6368"/>
                </a:solidFill>
                <a:latin typeface="Calibri"/>
              </a:defRPr>
            </a:pPr>
            <a:r>
              <a:t>Verify token exchange: IAM &amp; Admin &gt; Workload Identity Federation</a:t>
            </a:r>
          </a:p>
        </p:txBody>
      </p:sp>
      <p:sp>
        <p:nvSpPr>
          <p:cNvPr id="6" name="Rounded Rectangle 5"/>
          <p:cNvSpPr/>
          <p:nvPr/>
        </p:nvSpPr>
        <p:spPr>
          <a:xfrm>
            <a:off x="6400800" y="1188720"/>
            <a:ext cx="5029200" cy="137160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Pool = Trust Boundary</a:t>
            </a:r>
          </a:p>
          <a:p>
            <a:pPr>
              <a:spcBef>
                <a:spcPts val="600"/>
              </a:spcBef>
              <a:defRPr sz="1300">
                <a:solidFill>
                  <a:srgbClr val="5F6368"/>
                </a:solidFill>
                <a:latin typeface="Calibri"/>
              </a:defRPr>
            </a:pPr>
            <a:r>
              <a:t>Each pool groups external identities from one trust domain — agents get their own pool</a:t>
            </a:r>
          </a:p>
        </p:txBody>
      </p:sp>
      <p:sp>
        <p:nvSpPr>
          <p:cNvPr id="7" name="Rounded Rectangle 6"/>
          <p:cNvSpPr/>
          <p:nvPr/>
        </p:nvSpPr>
        <p:spPr>
          <a:xfrm>
            <a:off x="6400800" y="2834640"/>
            <a:ext cx="5029200" cy="137160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Provider = Auth Source</a:t>
            </a:r>
          </a:p>
          <a:p>
            <a:pPr>
              <a:spcBef>
                <a:spcPts val="600"/>
              </a:spcBef>
              <a:defRPr sz="1300">
                <a:solidFill>
                  <a:srgbClr val="5F6368"/>
                </a:solidFill>
                <a:latin typeface="Calibri"/>
              </a:defRPr>
            </a:pPr>
            <a:r>
              <a:t>OIDC or SAML provider that issues tokens to agents — verified at runtime by GCP</a:t>
            </a:r>
          </a:p>
        </p:txBody>
      </p:sp>
      <p:sp>
        <p:nvSpPr>
          <p:cNvPr id="8" name="Rounded Rectangle 7"/>
          <p:cNvSpPr/>
          <p:nvPr/>
        </p:nvSpPr>
        <p:spPr>
          <a:xfrm>
            <a:off x="6400800" y="4480560"/>
            <a:ext cx="5029200" cy="1371600"/>
          </a:xfrm>
          <a:prstGeom prst="roundRect">
            <a:avLst/>
          </a:prstGeom>
          <a:solidFill>
            <a:srgbClr val="FFFFFF"/>
          </a:solidFill>
          <a:ln w="25400">
            <a:solidFill>
              <a:srgbClr val="F9AB0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F9AB00"/>
                </a:solidFill>
                <a:latin typeface="Calibri"/>
              </a:defRPr>
            </a:pPr>
            <a:r>
              <a:t>Token Exchange</a:t>
            </a:r>
          </a:p>
          <a:p>
            <a:pPr>
              <a:spcBef>
                <a:spcPts val="600"/>
              </a:spcBef>
              <a:defRPr sz="1300">
                <a:solidFill>
                  <a:srgbClr val="5F6368"/>
                </a:solidFill>
                <a:latin typeface="Calibri"/>
              </a:defRPr>
            </a:pPr>
            <a:r>
              <a:t>External token → STS → short-lived GCP credential — no service account keys needed</a:t>
            </a:r>
          </a:p>
        </p:txBody>
      </p:sp>
      <p:sp>
        <p:nvSpPr>
          <p:cNvPr id="9" name="TextBox 8"/>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https://github.com/jswortz/geap-tour/scripts/setup_agent_identity.sh</a:t>
            </a:r>
          </a:p>
        </p:txBody>
      </p:sp>
      <p:sp>
        <p:nvSpPr>
          <p:cNvPr id="10" name="TextBox 9"/>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174EA6"/>
            </a:gs>
            <a:gs pos="100000">
              <a:srgbClr val="1A73E8"/>
            </a:gs>
          </a:gsLst>
          <a:lin scaled="0"/>
        </a:gra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600" b="1">
                <a:solidFill>
                  <a:srgbClr val="CCDDFF"/>
                </a:solidFill>
                <a:latin typeface="Calibri"/>
              </a:defRPr>
            </a:pPr>
            <a:r>
              <a:t>Session 2</a:t>
            </a:r>
          </a:p>
        </p:txBody>
      </p:sp>
      <p:sp>
        <p:nvSpPr>
          <p:cNvPr id="3" name="TextBox 2"/>
          <p:cNvSpPr txBox="1"/>
          <p:nvPr/>
        </p:nvSpPr>
        <p:spPr>
          <a:xfrm>
            <a:off x="731520" y="1371600"/>
            <a:ext cx="10058400" cy="1371600"/>
          </a:xfrm>
          <a:prstGeom prst="rect">
            <a:avLst/>
          </a:prstGeom>
          <a:noFill/>
        </p:spPr>
        <p:txBody>
          <a:bodyPr wrap="square">
            <a:spAutoFit/>
          </a:bodyPr>
          <a:lstStyle/>
          <a:p>
            <a:pPr algn="l">
              <a:defRPr sz="4400" b="1">
                <a:solidFill>
                  <a:srgbClr val="FFFFFF"/>
                </a:solidFill>
                <a:latin typeface="Calibri"/>
              </a:defRPr>
            </a:pPr>
            <a:r>
              <a:t>AI Gateway / MCP Gateway</a:t>
            </a:r>
            <a:br/>
            <a:r>
              <a:t>(continued)</a:t>
            </a:r>
          </a:p>
        </p:txBody>
      </p:sp>
      <p:sp>
        <p:nvSpPr>
          <p:cNvPr id="4" name="TextBox 3"/>
          <p:cNvSpPr txBox="1"/>
          <p:nvPr/>
        </p:nvSpPr>
        <p:spPr>
          <a:xfrm>
            <a:off x="731520" y="3200400"/>
            <a:ext cx="10058400" cy="548640"/>
          </a:xfrm>
          <a:prstGeom prst="rect">
            <a:avLst/>
          </a:prstGeom>
          <a:noFill/>
        </p:spPr>
        <p:txBody>
          <a:bodyPr wrap="square">
            <a:spAutoFit/>
          </a:bodyPr>
          <a:lstStyle/>
          <a:p>
            <a:pPr algn="l">
              <a:defRPr sz="2200" b="0">
                <a:solidFill>
                  <a:srgbClr val="CCDDFF"/>
                </a:solidFill>
                <a:latin typeface="Calibri"/>
              </a:defRPr>
            </a:pPr>
            <a:r>
              <a:t>Gateway, evaluation, observability, and optimization</a:t>
            </a:r>
          </a:p>
        </p:txBody>
      </p:sp>
      <p:sp>
        <p:nvSpPr>
          <p:cNvPr id="5" name="TextBox 4"/>
          <p:cNvSpPr txBox="1"/>
          <p:nvPr/>
        </p:nvSpPr>
        <p:spPr>
          <a:xfrm>
            <a:off x="731520" y="3931920"/>
            <a:ext cx="9144000" cy="2286000"/>
          </a:xfrm>
          <a:prstGeom prst="rect">
            <a:avLst/>
          </a:prstGeom>
          <a:noFill/>
        </p:spPr>
        <p:txBody>
          <a:bodyPr wrap="square">
            <a:spAutoFit/>
          </a:bodyPr>
          <a:lstStyle/>
          <a:p>
            <a:pPr>
              <a:spcBef>
                <a:spcPts val="600"/>
              </a:spcBef>
              <a:defRPr sz="2000">
                <a:solidFill>
                  <a:srgbClr val="EEEEFF"/>
                </a:solidFill>
                <a:latin typeface="Calibri"/>
              </a:defRPr>
            </a:pPr>
            <a:r>
              <a:t>Agent Gateway for ingress/egress control</a:t>
            </a:r>
          </a:p>
          <a:p>
            <a:pPr>
              <a:spcBef>
                <a:spcPts val="600"/>
              </a:spcBef>
              <a:defRPr sz="2000">
                <a:solidFill>
                  <a:srgbClr val="EEEEFF"/>
                </a:solidFill>
                <a:latin typeface="Calibri"/>
              </a:defRPr>
            </a:pPr>
            <a:r>
              <a:t>Three-tier evaluation pipeline</a:t>
            </a:r>
          </a:p>
          <a:p>
            <a:pPr>
              <a:spcBef>
                <a:spcPts val="600"/>
              </a:spcBef>
              <a:defRPr sz="2000">
                <a:solidFill>
                  <a:srgbClr val="EEEEFF"/>
                </a:solidFill>
                <a:latin typeface="Calibri"/>
              </a:defRPr>
            </a:pPr>
            <a:r>
              <a:t>Online monitors and failure cluster analysis</a:t>
            </a:r>
          </a:p>
          <a:p>
            <a:pPr>
              <a:spcBef>
                <a:spcPts val="600"/>
              </a:spcBef>
              <a:defRPr sz="2000">
                <a:solidFill>
                  <a:srgbClr val="EEEEFF"/>
                </a:solidFill>
                <a:latin typeface="Calibri"/>
              </a:defRPr>
            </a:pPr>
            <a:r>
              <a:t>Agent optimization with GEPA algorithm</a:t>
            </a:r>
          </a:p>
        </p:txBody>
      </p:sp>
      <p:sp>
        <p:nvSpPr>
          <p:cNvPr id="6" name="TextBox 5"/>
          <p:cNvSpPr txBox="1"/>
          <p:nvPr/>
        </p:nvSpPr>
        <p:spPr>
          <a:xfrm>
            <a:off x="274320" y="594360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8899CC"/>
                </a:solidFill>
                <a:latin typeface="Calibri"/>
              </a:defRPr>
            </a:pPr>
            <a:r>
              <a:t>Google Cloud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Agent Gateway — Dual Mode</a:t>
            </a:r>
          </a:p>
        </p:txBody>
      </p:sp>
      <p:sp>
        <p:nvSpPr>
          <p:cNvPr id="3" name="TextBox 2"/>
          <p:cNvSpPr txBox="1"/>
          <p:nvPr/>
        </p:nvSpPr>
        <p:spPr>
          <a:xfrm>
            <a:off x="731520" y="1005840"/>
            <a:ext cx="4572000" cy="365760"/>
          </a:xfrm>
          <a:prstGeom prst="rect">
            <a:avLst/>
          </a:prstGeom>
          <a:noFill/>
        </p:spPr>
        <p:txBody>
          <a:bodyPr wrap="square">
            <a:spAutoFit/>
          </a:bodyPr>
          <a:lstStyle/>
          <a:p>
            <a:pPr algn="l">
              <a:defRPr sz="2200" b="1">
                <a:solidFill>
                  <a:srgbClr val="1A73E8"/>
                </a:solidFill>
                <a:latin typeface="Calibri"/>
              </a:defRPr>
            </a:pPr>
            <a:r>
              <a:t>Ingress + Egress Governance</a:t>
            </a:r>
          </a:p>
        </p:txBody>
      </p:sp>
      <p:graphicFrame>
        <p:nvGraphicFramePr>
          <p:cNvPr id="4" name="Table 3"/>
          <p:cNvGraphicFramePr>
            <a:graphicFrameLocks noGrp="1"/>
          </p:cNvGraphicFramePr>
          <p:nvPr/>
        </p:nvGraphicFramePr>
        <p:xfrm>
          <a:off x="731520" y="1463040"/>
          <a:ext cx="5303520" cy="1371600"/>
        </p:xfrm>
        <a:graphic>
          <a:graphicData uri="http://schemas.openxmlformats.org/drawingml/2006/table">
            <a:tbl>
              <a:tblPr firstRow="1" bandRow="1">
                <a:tableStyleId>{5C22544A-7EE6-4342-B048-85BDC9FD1C3A}</a:tableStyleId>
              </a:tblPr>
              <a:tblGrid>
                <a:gridCol w="1767840"/>
                <a:gridCol w="1767840"/>
                <a:gridCol w="1767840"/>
              </a:tblGrid>
              <a:tr h="457200">
                <a:tc>
                  <a:txBody>
                    <a:bodyPr/>
                    <a:lstStyle/>
                    <a:p>
                      <a:pPr>
                        <a:defRPr sz="1300" b="1">
                          <a:solidFill>
                            <a:srgbClr val="FFFFFF"/>
                          </a:solidFill>
                          <a:latin typeface="Calibri"/>
                        </a:defRPr>
                      </a:pPr>
                      <a:r>
                        <a:t>Mode</a:t>
                      </a:r>
                    </a:p>
                  </a:txBody>
                  <a:tcPr>
                    <a:solidFill>
                      <a:srgbClr val="1A73E8"/>
                    </a:solidFill>
                  </a:tcPr>
                </a:tc>
                <a:tc>
                  <a:txBody>
                    <a:bodyPr/>
                    <a:lstStyle/>
                    <a:p>
                      <a:pPr>
                        <a:defRPr sz="1300" b="1">
                          <a:solidFill>
                            <a:srgbClr val="FFFFFF"/>
                          </a:solidFill>
                          <a:latin typeface="Calibri"/>
                        </a:defRPr>
                      </a:pPr>
                      <a:r>
                        <a:t>Gateway</a:t>
                      </a:r>
                    </a:p>
                  </a:txBody>
                  <a:tcPr>
                    <a:solidFill>
                      <a:srgbClr val="1A73E8"/>
                    </a:solidFill>
                  </a:tcPr>
                </a:tc>
                <a:tc>
                  <a:txBody>
                    <a:bodyPr/>
                    <a:lstStyle/>
                    <a:p>
                      <a:pPr>
                        <a:defRPr sz="1300" b="1">
                          <a:solidFill>
                            <a:srgbClr val="FFFFFF"/>
                          </a:solidFill>
                          <a:latin typeface="Calibri"/>
                        </a:defRPr>
                      </a:pPr>
                      <a:r>
                        <a:t>Controls</a:t>
                      </a:r>
                    </a:p>
                  </a:txBody>
                  <a:tcPr>
                    <a:solidFill>
                      <a:srgbClr val="1A73E8"/>
                    </a:solidFill>
                  </a:tcPr>
                </a:tc>
              </a:tr>
              <a:tr h="457200">
                <a:tc>
                  <a:txBody>
                    <a:bodyPr/>
                    <a:lstStyle/>
                    <a:p>
                      <a:pPr>
                        <a:defRPr sz="1200">
                          <a:solidFill>
                            <a:srgbClr val="202124"/>
                          </a:solidFill>
                          <a:latin typeface="Calibri"/>
                        </a:defRPr>
                      </a:pPr>
                      <a:r>
                        <a:t>Client-to-Agent</a:t>
                      </a:r>
                    </a:p>
                  </a:txBody>
                  <a:tcPr/>
                </a:tc>
                <a:tc>
                  <a:txBody>
                    <a:bodyPr/>
                    <a:lstStyle/>
                    <a:p>
                      <a:pPr>
                        <a:defRPr sz="1200">
                          <a:solidFill>
                            <a:srgbClr val="202124"/>
                          </a:solidFill>
                          <a:latin typeface="Calibri"/>
                        </a:defRPr>
                      </a:pPr>
                      <a:r>
                        <a:t>geap-workshop-gateway</a:t>
                      </a:r>
                    </a:p>
                  </a:txBody>
                  <a:tcPr/>
                </a:tc>
                <a:tc>
                  <a:txBody>
                    <a:bodyPr/>
                    <a:lstStyle/>
                    <a:p>
                      <a:pPr>
                        <a:defRPr sz="1200">
                          <a:solidFill>
                            <a:srgbClr val="202124"/>
                          </a:solidFill>
                          <a:latin typeface="Calibri"/>
                        </a:defRPr>
                      </a:pPr>
                      <a:r>
                        <a:t>Inbound user requests</a:t>
                      </a:r>
                    </a:p>
                  </a:txBody>
                  <a:tcPr/>
                </a:tc>
              </a:tr>
              <a:tr h="457200">
                <a:tc>
                  <a:txBody>
                    <a:bodyPr/>
                    <a:lstStyle/>
                    <a:p>
                      <a:pPr>
                        <a:defRPr sz="1200">
                          <a:solidFill>
                            <a:srgbClr val="202124"/>
                          </a:solidFill>
                          <a:latin typeface="Calibri"/>
                        </a:defRPr>
                      </a:pPr>
                      <a:r>
                        <a:t>Agent-to-Anywhere</a:t>
                      </a:r>
                    </a:p>
                  </a:txBody>
                  <a:tcPr>
                    <a:solidFill>
                      <a:srgbClr val="F8F9FA"/>
                    </a:solidFill>
                  </a:tcPr>
                </a:tc>
                <a:tc>
                  <a:txBody>
                    <a:bodyPr/>
                    <a:lstStyle/>
                    <a:p>
                      <a:pPr>
                        <a:defRPr sz="1200">
                          <a:solidFill>
                            <a:srgbClr val="202124"/>
                          </a:solidFill>
                          <a:latin typeface="Calibri"/>
                        </a:defRPr>
                      </a:pPr>
                      <a:r>
                        <a:t>geap-workshop-gateway-egress</a:t>
                      </a:r>
                    </a:p>
                  </a:txBody>
                  <a:tcPr>
                    <a:solidFill>
                      <a:srgbClr val="F8F9FA"/>
                    </a:solidFill>
                  </a:tcPr>
                </a:tc>
                <a:tc>
                  <a:txBody>
                    <a:bodyPr/>
                    <a:lstStyle/>
                    <a:p>
                      <a:pPr>
                        <a:defRPr sz="1200">
                          <a:solidFill>
                            <a:srgbClr val="202124"/>
                          </a:solidFill>
                          <a:latin typeface="Calibri"/>
                        </a:defRPr>
                      </a:pPr>
                      <a:r>
                        <a:t>Gemini model calls, MCP tools, external APIs</a:t>
                      </a:r>
                    </a:p>
                  </a:txBody>
                  <a:tcPr>
                    <a:solidFill>
                      <a:srgbClr val="F8F9FA"/>
                    </a:solidFill>
                  </a:tcPr>
                </a:tc>
              </a:tr>
            </a:tbl>
          </a:graphicData>
        </a:graphic>
      </p:graphicFrame>
      <p:sp>
        <p:nvSpPr>
          <p:cNvPr id="5" name="TextBox 4"/>
          <p:cNvSpPr txBox="1"/>
          <p:nvPr/>
        </p:nvSpPr>
        <p:spPr>
          <a:xfrm>
            <a:off x="731520" y="3108960"/>
            <a:ext cx="5303520" cy="731520"/>
          </a:xfrm>
          <a:prstGeom prst="rect">
            <a:avLst/>
          </a:prstGeom>
          <a:noFill/>
        </p:spPr>
        <p:txBody>
          <a:bodyPr wrap="square">
            <a:spAutoFit/>
          </a:bodyPr>
          <a:lstStyle/>
          <a:p>
            <a:pPr algn="l">
              <a:defRPr sz="1400" b="0">
                <a:solidFill>
                  <a:srgbClr val="202124"/>
                </a:solidFill>
                <a:latin typeface="Calibri"/>
              </a:defRPr>
            </a:pPr>
            <a:r>
              <a:t>With egress gateway, ALL outbound traffic — including Gemini model calls — routes through governance (IAM Allow + SGP + Model Armor)</a:t>
            </a:r>
          </a:p>
        </p:txBody>
      </p:sp>
      <p:sp>
        <p:nvSpPr>
          <p:cNvPr id="6" name="Rounded Rectangle 5"/>
          <p:cNvSpPr/>
          <p:nvPr/>
        </p:nvSpPr>
        <p:spPr>
          <a:xfrm>
            <a:off x="731520" y="4023360"/>
            <a:ext cx="5303520" cy="18288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100">
                <a:solidFill>
                  <a:srgbClr val="202124"/>
                </a:solidFill>
                <a:latin typeface="Consolas"/>
              </a:defRPr>
            </a:pPr>
            <a:r>
              <a:t>config = {</a:t>
            </a:r>
          </a:p>
          <a:p>
            <a:pPr>
              <a:spcBef>
                <a:spcPts val="0"/>
              </a:spcBef>
              <a:spcAft>
                <a:spcPts val="0"/>
              </a:spcAft>
              <a:defRPr sz="1100">
                <a:solidFill>
                  <a:srgbClr val="202124"/>
                </a:solidFill>
                <a:latin typeface="Consolas"/>
              </a:defRPr>
            </a:pPr>
            <a:r>
              <a:t>  "agent_gateway_config": {</a:t>
            </a:r>
          </a:p>
          <a:p>
            <a:pPr>
              <a:spcBef>
                <a:spcPts val="0"/>
              </a:spcBef>
              <a:spcAft>
                <a:spcPts val="0"/>
              </a:spcAft>
              <a:defRPr sz="1100">
                <a:solidFill>
                  <a:srgbClr val="202124"/>
                </a:solidFill>
                <a:latin typeface="Consolas"/>
              </a:defRPr>
            </a:pPr>
            <a:r>
              <a:t>    "client_to_agent_config": {"agent_gateway": INGRESS},</a:t>
            </a:r>
          </a:p>
          <a:p>
            <a:pPr>
              <a:spcBef>
                <a:spcPts val="0"/>
              </a:spcBef>
              <a:spcAft>
                <a:spcPts val="0"/>
              </a:spcAft>
              <a:defRPr sz="1100">
                <a:solidFill>
                  <a:srgbClr val="202124"/>
                </a:solidFill>
                <a:latin typeface="Consolas"/>
              </a:defRPr>
            </a:pPr>
            <a:r>
              <a:t>    "agent_to_anywhere_config": {"agent_gateway": EGRESS},</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  "identity_type": "AGENT_IDENTITY",</a:t>
            </a:r>
          </a:p>
          <a:p>
            <a:pPr>
              <a:spcBef>
                <a:spcPts val="0"/>
              </a:spcBef>
              <a:spcAft>
                <a:spcPts val="0"/>
              </a:spcAft>
              <a:defRPr sz="1100">
                <a:solidFill>
                  <a:srgbClr val="202124"/>
                </a:solidFill>
                <a:latin typeface="Consolas"/>
              </a:defRPr>
            </a:pPr>
            <a:r>
              <a:t>}</a:t>
            </a:r>
          </a:p>
        </p:txBody>
      </p:sp>
      <p:sp>
        <p:nvSpPr>
          <p:cNvPr id="7" name="TextBox 6"/>
          <p:cNvSpPr txBox="1"/>
          <p:nvPr/>
        </p:nvSpPr>
        <p:spPr>
          <a:xfrm>
            <a:off x="731520" y="5943600"/>
            <a:ext cx="5303520" cy="365760"/>
          </a:xfrm>
          <a:prstGeom prst="rect">
            <a:avLst/>
          </a:prstGeom>
          <a:noFill/>
        </p:spPr>
        <p:txBody>
          <a:bodyPr wrap="square">
            <a:spAutoFit/>
          </a:bodyPr>
          <a:lstStyle/>
          <a:p>
            <a:pPr algn="l">
              <a:defRPr sz="1100" b="0">
                <a:solidFill>
                  <a:srgbClr val="5F6368"/>
                </a:solidFill>
                <a:latin typeface="Calibri"/>
              </a:defRPr>
            </a:pPr>
            <a:r>
              <a:t>Requires Private Preview — gateway attachment via REST API PATCH</a:t>
            </a:r>
          </a:p>
        </p:txBody>
      </p:sp>
      <p:pic>
        <p:nvPicPr>
          <p:cNvPr id="8" name="Picture 7" descr="session2_agent_gateway.png"/>
          <p:cNvPicPr>
            <a:picLocks noChangeAspect="1"/>
          </p:cNvPicPr>
          <p:nvPr/>
        </p:nvPicPr>
        <p:blipFill>
          <a:blip r:embed="rId2"/>
          <a:stretch>
            <a:fillRect/>
          </a:stretch>
        </p:blipFill>
        <p:spPr>
          <a:xfrm>
            <a:off x="6400800" y="1188720"/>
            <a:ext cx="5303520" cy="3352097"/>
          </a:xfrm>
          <a:prstGeom prst="rect">
            <a:avLst/>
          </a:prstGeom>
        </p:spPr>
      </p:pic>
      <p:sp>
        <p:nvSpPr>
          <p:cNvPr id="9" name="TextBox 8"/>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3"/>
              </a:rPr>
              <a:t>https://github.com/jswortz/geap-tour/scripts/setup_agent_gateway.sh</a:t>
            </a:r>
          </a:p>
        </p:txBody>
      </p:sp>
      <p:sp>
        <p:nvSpPr>
          <p:cNvPr id="10" name="TextBox 9"/>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200" b="1">
                <a:solidFill>
                  <a:srgbClr val="FFFFFF"/>
                </a:solidFill>
                <a:latin typeface="Calibri"/>
              </a:defRPr>
            </a:pPr>
            <a:r>
              <a:t>Console: Agent Traces</a:t>
            </a:r>
          </a:p>
        </p:txBody>
      </p:sp>
      <p:pic>
        <p:nvPicPr>
          <p:cNvPr id="3" name="Picture 2" descr="session2_agent_traces.png"/>
          <p:cNvPicPr>
            <a:picLocks noChangeAspect="1"/>
          </p:cNvPicPr>
          <p:nvPr/>
        </p:nvPicPr>
        <p:blipFill>
          <a:blip r:embed="rId2"/>
          <a:stretch>
            <a:fillRect/>
          </a:stretch>
        </p:blipFill>
        <p:spPr>
          <a:xfrm>
            <a:off x="731520" y="1188720"/>
            <a:ext cx="10515600" cy="6572250"/>
          </a:xfrm>
          <a:prstGeom prst="rect">
            <a:avLst/>
          </a:prstGeom>
        </p:spPr>
      </p:pic>
      <p:sp>
        <p:nvSpPr>
          <p:cNvPr id="4" name="TextBox 3"/>
          <p:cNvSpPr txBox="1"/>
          <p:nvPr/>
        </p:nvSpPr>
        <p:spPr>
          <a:xfrm>
            <a:off x="914400" y="5943600"/>
            <a:ext cx="10058400" cy="457200"/>
          </a:xfrm>
          <a:prstGeom prst="rect">
            <a:avLst/>
          </a:prstGeom>
          <a:noFill/>
        </p:spPr>
        <p:txBody>
          <a:bodyPr wrap="square">
            <a:spAutoFit/>
          </a:bodyPr>
          <a:lstStyle/>
          <a:p>
            <a:pPr algn="ctr">
              <a:defRPr sz="1600" b="0">
                <a:solidFill>
                  <a:srgbClr val="AAAAAA"/>
                </a:solidFill>
                <a:latin typeface="Calibri"/>
              </a:defRPr>
            </a:pPr>
            <a:r>
              <a:t>Session view showing model calls, tool calls, token usage, and duration per trace</a:t>
            </a:r>
          </a:p>
        </p:txBody>
      </p:sp>
      <p:sp>
        <p:nvSpPr>
          <p:cNvPr id="5" name="TextBox 4"/>
          <p:cNvSpPr txBox="1"/>
          <p:nvPr/>
        </p:nvSpPr>
        <p:spPr>
          <a:xfrm>
            <a:off x="6400800" y="6309360"/>
            <a:ext cx="3657600" cy="274320"/>
          </a:xfrm>
          <a:prstGeom prst="rect">
            <a:avLst/>
          </a:prstGeom>
          <a:noFill/>
        </p:spPr>
        <p:txBody>
          <a:bodyPr wrap="square">
            <a:spAutoFit/>
          </a:bodyPr>
          <a:lstStyle/>
          <a:p>
            <a:pPr algn="l"/>
            <a:r>
              <a:rPr sz="1000">
                <a:solidFill>
                  <a:srgbClr val="AAAAAA"/>
                </a:solidFill>
                <a:latin typeface="Calibri"/>
                <a:hlinkClick r:id="rId3"/>
              </a:rPr>
              <a:t>Open in Cloud Console</a:t>
            </a:r>
          </a:p>
        </p:txBody>
      </p:sp>
      <p:sp>
        <p:nvSpPr>
          <p:cNvPr id="6" name="TextBox 5"/>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Governance — Three Policy Layers</a:t>
            </a:r>
          </a:p>
        </p:txBody>
      </p:sp>
      <p:graphicFrame>
        <p:nvGraphicFramePr>
          <p:cNvPr id="3" name="Table 2"/>
          <p:cNvGraphicFramePr>
            <a:graphicFrameLocks noGrp="1"/>
          </p:cNvGraphicFramePr>
          <p:nvPr/>
        </p:nvGraphicFramePr>
        <p:xfrm>
          <a:off x="731520" y="1188720"/>
          <a:ext cx="5486400" cy="2011680"/>
        </p:xfrm>
        <a:graphic>
          <a:graphicData uri="http://schemas.openxmlformats.org/drawingml/2006/table">
            <a:tbl>
              <a:tblPr firstRow="1" bandRow="1">
                <a:tableStyleId>{5C22544A-7EE6-4342-B048-85BDC9FD1C3A}</a:tableStyleId>
              </a:tblPr>
              <a:tblGrid>
                <a:gridCol w="1828800"/>
                <a:gridCol w="1828800"/>
                <a:gridCol w="1828800"/>
              </a:tblGrid>
              <a:tr h="502920">
                <a:tc>
                  <a:txBody>
                    <a:bodyPr/>
                    <a:lstStyle/>
                    <a:p>
                      <a:pPr>
                        <a:defRPr sz="1300" b="1">
                          <a:solidFill>
                            <a:srgbClr val="FFFFFF"/>
                          </a:solidFill>
                          <a:latin typeface="Calibri"/>
                        </a:defRPr>
                      </a:pPr>
                      <a:r>
                        <a:t>Layer</a:t>
                      </a:r>
                    </a:p>
                  </a:txBody>
                  <a:tcPr>
                    <a:solidFill>
                      <a:srgbClr val="1A73E8"/>
                    </a:solidFill>
                  </a:tcPr>
                </a:tc>
                <a:tc>
                  <a:txBody>
                    <a:bodyPr/>
                    <a:lstStyle/>
                    <a:p>
                      <a:pPr>
                        <a:defRPr sz="1300" b="1">
                          <a:solidFill>
                            <a:srgbClr val="FFFFFF"/>
                          </a:solidFill>
                          <a:latin typeface="Calibri"/>
                        </a:defRPr>
                      </a:pPr>
                      <a:r>
                        <a:t>Type</a:t>
                      </a:r>
                    </a:p>
                  </a:txBody>
                  <a:tcPr>
                    <a:solidFill>
                      <a:srgbClr val="1A73E8"/>
                    </a:solidFill>
                  </a:tcPr>
                </a:tc>
                <a:tc>
                  <a:txBody>
                    <a:bodyPr/>
                    <a:lstStyle/>
                    <a:p>
                      <a:pPr>
                        <a:defRPr sz="1300" b="1">
                          <a:solidFill>
                            <a:srgbClr val="FFFFFF"/>
                          </a:solidFill>
                          <a:latin typeface="Calibri"/>
                        </a:defRPr>
                      </a:pPr>
                      <a:r>
                        <a:t>Enforces</a:t>
                      </a:r>
                    </a:p>
                  </a:txBody>
                  <a:tcPr>
                    <a:solidFill>
                      <a:srgbClr val="1A73E8"/>
                    </a:solidFill>
                  </a:tcPr>
                </a:tc>
              </a:tr>
              <a:tr h="502920">
                <a:tc>
                  <a:txBody>
                    <a:bodyPr/>
                    <a:lstStyle/>
                    <a:p>
                      <a:pPr>
                        <a:defRPr sz="1200">
                          <a:solidFill>
                            <a:srgbClr val="202124"/>
                          </a:solidFill>
                          <a:latin typeface="Calibri"/>
                        </a:defRPr>
                      </a:pPr>
                      <a:r>
                        <a:t>IAM Allow</a:t>
                      </a:r>
                    </a:p>
                  </a:txBody>
                  <a:tcPr/>
                </a:tc>
                <a:tc>
                  <a:txBody>
                    <a:bodyPr/>
                    <a:lstStyle/>
                    <a:p>
                      <a:pPr>
                        <a:defRPr sz="1200">
                          <a:solidFill>
                            <a:srgbClr val="202124"/>
                          </a:solidFill>
                          <a:latin typeface="Calibri"/>
                        </a:defRPr>
                      </a:pPr>
                      <a:r>
                        <a:t>Static (CEL rules)</a:t>
                      </a:r>
                    </a:p>
                  </a:txBody>
                  <a:tcPr/>
                </a:tc>
                <a:tc>
                  <a:txBody>
                    <a:bodyPr/>
                    <a:lstStyle/>
                    <a:p>
                      <a:pPr>
                        <a:defRPr sz="1200">
                          <a:solidFill>
                            <a:srgbClr val="202124"/>
                          </a:solidFill>
                          <a:latin typeface="Calibri"/>
                        </a:defRPr>
                      </a:pPr>
                      <a:r>
                        <a:t>Which MCP servers an agent can call</a:t>
                      </a:r>
                    </a:p>
                  </a:txBody>
                  <a:tcPr/>
                </a:tc>
              </a:tr>
              <a:tr h="502920">
                <a:tc>
                  <a:txBody>
                    <a:bodyPr/>
                    <a:lstStyle/>
                    <a:p>
                      <a:pPr>
                        <a:defRPr sz="1200">
                          <a:solidFill>
                            <a:srgbClr val="202124"/>
                          </a:solidFill>
                          <a:latin typeface="Calibri"/>
                        </a:defRPr>
                      </a:pPr>
                      <a:r>
                        <a:t>SGP</a:t>
                      </a:r>
                    </a:p>
                  </a:txBody>
                  <a:tcPr>
                    <a:solidFill>
                      <a:srgbClr val="F8F9FA"/>
                    </a:solidFill>
                  </a:tcPr>
                </a:tc>
                <a:tc>
                  <a:txBody>
                    <a:bodyPr/>
                    <a:lstStyle/>
                    <a:p>
                      <a:pPr>
                        <a:defRPr sz="1200">
                          <a:solidFill>
                            <a:srgbClr val="202124"/>
                          </a:solidFill>
                          <a:latin typeface="Calibri"/>
                        </a:defRPr>
                      </a:pPr>
                      <a:r>
                        <a:t>Runtime (natural language)</a:t>
                      </a:r>
                    </a:p>
                  </a:txBody>
                  <a:tcPr>
                    <a:solidFill>
                      <a:srgbClr val="F8F9FA"/>
                    </a:solidFill>
                  </a:tcPr>
                </a:tc>
                <a:tc>
                  <a:txBody>
                    <a:bodyPr/>
                    <a:lstStyle/>
                    <a:p>
                      <a:pPr>
                        <a:defRPr sz="1200">
                          <a:solidFill>
                            <a:srgbClr val="202124"/>
                          </a:solidFill>
                          <a:latin typeface="Calibri"/>
                        </a:defRPr>
                      </a:pPr>
                      <a:r>
                        <a:t>Business rules — e.g. "Booking &lt; $5,000"</a:t>
                      </a:r>
                    </a:p>
                  </a:txBody>
                  <a:tcPr>
                    <a:solidFill>
                      <a:srgbClr val="F8F9FA"/>
                    </a:solidFill>
                  </a:tcPr>
                </a:tc>
              </a:tr>
              <a:tr h="502920">
                <a:tc>
                  <a:txBody>
                    <a:bodyPr/>
                    <a:lstStyle/>
                    <a:p>
                      <a:pPr>
                        <a:defRPr sz="1200">
                          <a:solidFill>
                            <a:srgbClr val="202124"/>
                          </a:solidFill>
                          <a:latin typeface="Calibri"/>
                        </a:defRPr>
                      </a:pPr>
                      <a:r>
                        <a:t>Model Armor</a:t>
                      </a:r>
                    </a:p>
                  </a:txBody>
                  <a:tcPr/>
                </a:tc>
                <a:tc>
                  <a:txBody>
                    <a:bodyPr/>
                    <a:lstStyle/>
                    <a:p>
                      <a:pPr>
                        <a:defRPr sz="1200">
                          <a:solidFill>
                            <a:srgbClr val="202124"/>
                          </a:solidFill>
                          <a:latin typeface="Calibri"/>
                        </a:defRPr>
                      </a:pPr>
                      <a:r>
                        <a:t>Content screening</a:t>
                      </a:r>
                    </a:p>
                  </a:txBody>
                  <a:tcPr/>
                </a:tc>
                <a:tc>
                  <a:txBody>
                    <a:bodyPr/>
                    <a:lstStyle/>
                    <a:p>
                      <a:pPr>
                        <a:defRPr sz="1200">
                          <a:solidFill>
                            <a:srgbClr val="202124"/>
                          </a:solidFill>
                          <a:latin typeface="Calibri"/>
                        </a:defRPr>
                      </a:pPr>
                      <a:r>
                        <a:t>Prompt injection, jailbreak, PII, harmful content</a:t>
                      </a:r>
                    </a:p>
                  </a:txBody>
                  <a:tcPr/>
                </a:tc>
              </a:tr>
            </a:tbl>
          </a:graphicData>
        </a:graphic>
      </p:graphicFrame>
      <p:sp>
        <p:nvSpPr>
          <p:cNvPr id="4" name="TextBox 3"/>
          <p:cNvSpPr txBox="1"/>
          <p:nvPr/>
        </p:nvSpPr>
        <p:spPr>
          <a:xfrm>
            <a:off x="731520" y="3474720"/>
            <a:ext cx="5486400" cy="731520"/>
          </a:xfrm>
          <a:prstGeom prst="rect">
            <a:avLst/>
          </a:prstGeom>
          <a:noFill/>
        </p:spPr>
        <p:txBody>
          <a:bodyPr wrap="square">
            <a:spAutoFit/>
          </a:bodyPr>
          <a:lstStyle/>
          <a:p>
            <a:pPr algn="l">
              <a:defRPr sz="1400" b="0">
                <a:solidFill>
                  <a:srgbClr val="202124"/>
                </a:solidFill>
                <a:latin typeface="Calibri"/>
              </a:defRPr>
            </a:pPr>
            <a:r>
              <a:t>Layered defense: IAM Allow restricts where agents connect, SGP restricts what agents do, Model Armor restricts how content is screened</a:t>
            </a:r>
          </a:p>
        </p:txBody>
      </p:sp>
      <p:sp>
        <p:nvSpPr>
          <p:cNvPr id="5" name="TextBox 4"/>
          <p:cNvSpPr txBox="1"/>
          <p:nvPr/>
        </p:nvSpPr>
        <p:spPr>
          <a:xfrm>
            <a:off x="6400800" y="1005840"/>
            <a:ext cx="5029200" cy="365760"/>
          </a:xfrm>
          <a:prstGeom prst="rect">
            <a:avLst/>
          </a:prstGeom>
          <a:noFill/>
        </p:spPr>
        <p:txBody>
          <a:bodyPr wrap="square">
            <a:spAutoFit/>
          </a:bodyPr>
          <a:lstStyle/>
          <a:p>
            <a:pPr algn="l">
              <a:defRPr sz="1800" b="1">
                <a:solidFill>
                  <a:srgbClr val="1A73E8"/>
                </a:solidFill>
                <a:latin typeface="Calibri"/>
              </a:defRPr>
            </a:pPr>
            <a:r>
              <a:t>IAM Allow Policy (CEL)</a:t>
            </a:r>
          </a:p>
        </p:txBody>
      </p:sp>
      <p:sp>
        <p:nvSpPr>
          <p:cNvPr id="6" name="Rounded Rectangle 5"/>
          <p:cNvSpPr/>
          <p:nvPr/>
        </p:nvSpPr>
        <p:spPr>
          <a:xfrm>
            <a:off x="6400800" y="1463040"/>
            <a:ext cx="5029200" cy="164592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100">
                <a:solidFill>
                  <a:srgbClr val="202124"/>
                </a:solidFill>
                <a:latin typeface="Consolas"/>
              </a:defRPr>
            </a:pPr>
            <a:r>
              <a:t>resource.type == "networkservices"</a:t>
            </a:r>
          </a:p>
          <a:p>
            <a:pPr>
              <a:spcBef>
                <a:spcPts val="0"/>
              </a:spcBef>
              <a:spcAft>
                <a:spcPts val="0"/>
              </a:spcAft>
              <a:defRPr sz="1100">
                <a:solidFill>
                  <a:srgbClr val="202124"/>
                </a:solidFill>
                <a:latin typeface="Consolas"/>
              </a:defRPr>
            </a:pPr>
            <a:r>
              <a:t>&amp;&amp; resource.service in [</a:t>
            </a:r>
          </a:p>
          <a:p>
            <a:pPr>
              <a:spcBef>
                <a:spcPts val="0"/>
              </a:spcBef>
              <a:spcAft>
                <a:spcPts val="0"/>
              </a:spcAft>
              <a:defRPr sz="1100">
                <a:solidFill>
                  <a:srgbClr val="202124"/>
                </a:solidFill>
                <a:latin typeface="Consolas"/>
              </a:defRPr>
            </a:pPr>
            <a:r>
              <a:t>  "search-mcp",</a:t>
            </a:r>
          </a:p>
          <a:p>
            <a:pPr>
              <a:spcBef>
                <a:spcPts val="0"/>
              </a:spcBef>
              <a:spcAft>
                <a:spcPts val="0"/>
              </a:spcAft>
              <a:defRPr sz="1100">
                <a:solidFill>
                  <a:srgbClr val="202124"/>
                </a:solidFill>
                <a:latin typeface="Consolas"/>
              </a:defRPr>
            </a:pPr>
            <a:r>
              <a:t>  "booking-mcp",</a:t>
            </a:r>
          </a:p>
          <a:p>
            <a:pPr>
              <a:spcBef>
                <a:spcPts val="0"/>
              </a:spcBef>
              <a:spcAft>
                <a:spcPts val="0"/>
              </a:spcAft>
              <a:defRPr sz="1100">
                <a:solidFill>
                  <a:srgbClr val="202124"/>
                </a:solidFill>
                <a:latin typeface="Consolas"/>
              </a:defRPr>
            </a:pPr>
            <a:r>
              <a:t>  "expense-mcp"</a:t>
            </a:r>
          </a:p>
          <a:p>
            <a:pPr>
              <a:spcBef>
                <a:spcPts val="0"/>
              </a:spcBef>
              <a:spcAft>
                <a:spcPts val="0"/>
              </a:spcAft>
              <a:defRPr sz="1100">
                <a:solidFill>
                  <a:srgbClr val="202124"/>
                </a:solidFill>
                <a:latin typeface="Consolas"/>
              </a:defRPr>
            </a:pPr>
            <a:r>
              <a:t>]</a:t>
            </a:r>
          </a:p>
        </p:txBody>
      </p:sp>
      <p:sp>
        <p:nvSpPr>
          <p:cNvPr id="7" name="TextBox 6"/>
          <p:cNvSpPr txBox="1"/>
          <p:nvPr/>
        </p:nvSpPr>
        <p:spPr>
          <a:xfrm>
            <a:off x="6400800" y="3291840"/>
            <a:ext cx="5029200" cy="365760"/>
          </a:xfrm>
          <a:prstGeom prst="rect">
            <a:avLst/>
          </a:prstGeom>
          <a:noFill/>
        </p:spPr>
        <p:txBody>
          <a:bodyPr wrap="square">
            <a:spAutoFit/>
          </a:bodyPr>
          <a:lstStyle/>
          <a:p>
            <a:pPr algn="l">
              <a:defRPr sz="1800" b="1">
                <a:solidFill>
                  <a:srgbClr val="1A73E8"/>
                </a:solidFill>
                <a:latin typeface="Calibri"/>
              </a:defRPr>
            </a:pPr>
            <a:r>
              <a:t>Semantic Governance Policy</a:t>
            </a:r>
          </a:p>
        </p:txBody>
      </p:sp>
      <p:sp>
        <p:nvSpPr>
          <p:cNvPr id="8" name="Rounded Rectangle 7"/>
          <p:cNvSpPr/>
          <p:nvPr/>
        </p:nvSpPr>
        <p:spPr>
          <a:xfrm>
            <a:off x="6400800" y="3749039"/>
            <a:ext cx="5029200" cy="18288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100">
                <a:solidFill>
                  <a:srgbClr val="202124"/>
                </a:solidFill>
                <a:latin typeface="Consolas"/>
              </a:defRPr>
            </a:pPr>
            <a:r>
              <a:t>name: "geap-expense-limit"</a:t>
            </a:r>
          </a:p>
          <a:p>
            <a:pPr>
              <a:spcBef>
                <a:spcPts val="0"/>
              </a:spcBef>
              <a:spcAft>
                <a:spcPts val="0"/>
              </a:spcAft>
              <a:defRPr sz="1100">
                <a:solidFill>
                  <a:srgbClr val="202124"/>
                </a:solidFill>
                <a:latin typeface="Consolas"/>
              </a:defRPr>
            </a:pPr>
            <a:r>
              <a:t>constraint: "Disallow expense</a:t>
            </a:r>
          </a:p>
          <a:p>
            <a:pPr>
              <a:spcBef>
                <a:spcPts val="0"/>
              </a:spcBef>
              <a:spcAft>
                <a:spcPts val="0"/>
              </a:spcAft>
              <a:defRPr sz="1100">
                <a:solidFill>
                  <a:srgbClr val="202124"/>
                </a:solidFill>
                <a:latin typeface="Consolas"/>
              </a:defRPr>
            </a:pPr>
            <a:r>
              <a:t>  submissions exceeding $200</a:t>
            </a:r>
          </a:p>
          <a:p>
            <a:pPr>
              <a:spcBef>
                <a:spcPts val="0"/>
              </a:spcBef>
              <a:spcAft>
                <a:spcPts val="0"/>
              </a:spcAft>
              <a:defRPr sz="1100">
                <a:solidFill>
                  <a:srgbClr val="202124"/>
                </a:solidFill>
                <a:latin typeface="Consolas"/>
              </a:defRPr>
            </a:pPr>
            <a:r>
              <a:t>  for meals, $500 for</a:t>
            </a:r>
          </a:p>
          <a:p>
            <a:pPr>
              <a:spcBef>
                <a:spcPts val="0"/>
              </a:spcBef>
              <a:spcAft>
                <a:spcPts val="0"/>
              </a:spcAft>
              <a:defRPr sz="1100">
                <a:solidFill>
                  <a:srgbClr val="202124"/>
                </a:solidFill>
                <a:latin typeface="Consolas"/>
              </a:defRPr>
            </a:pPr>
            <a:r>
              <a:t>  entertainment"</a:t>
            </a:r>
          </a:p>
          <a:p>
            <a:pPr>
              <a:spcBef>
                <a:spcPts val="0"/>
              </a:spcBef>
              <a:spcAft>
                <a:spcPts val="0"/>
              </a:spcAft>
              <a:defRPr sz="1100">
                <a:solidFill>
                  <a:srgbClr val="202124"/>
                </a:solidFill>
                <a:latin typeface="Consolas"/>
              </a:defRPr>
            </a:pPr>
            <a:r>
              <a:t>verdict: DENY</a:t>
            </a:r>
          </a:p>
        </p:txBody>
      </p:sp>
      <p:sp>
        <p:nvSpPr>
          <p:cNvPr id="9" name="TextBox 8"/>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https://github.com/jswortz/geap-tour/scripts/setup_governance_policies.sh</a:t>
            </a:r>
          </a:p>
        </p:txBody>
      </p:sp>
      <p:sp>
        <p:nvSpPr>
          <p:cNvPr id="10" name="TextBox 9"/>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Delegating Authorization to the Gateway</a:t>
            </a:r>
          </a:p>
        </p:txBody>
      </p:sp>
      <p:sp>
        <p:nvSpPr>
          <p:cNvPr id="3" name="TextBox 2"/>
          <p:cNvSpPr txBox="1"/>
          <p:nvPr/>
        </p:nvSpPr>
        <p:spPr>
          <a:xfrm>
            <a:off x="731520" y="914400"/>
            <a:ext cx="5486400" cy="365760"/>
          </a:xfrm>
          <a:prstGeom prst="rect">
            <a:avLst/>
          </a:prstGeom>
          <a:noFill/>
        </p:spPr>
        <p:txBody>
          <a:bodyPr wrap="square">
            <a:spAutoFit/>
          </a:bodyPr>
          <a:lstStyle/>
          <a:p>
            <a:pPr algn="l">
              <a:defRPr sz="1800" b="1">
                <a:solidFill>
                  <a:srgbClr val="1A73E8"/>
                </a:solidFill>
                <a:latin typeface="Calibri"/>
              </a:defRPr>
            </a:pPr>
            <a:r>
              <a:t>Authz Extensions wire governance into the request path</a:t>
            </a:r>
          </a:p>
        </p:txBody>
      </p:sp>
      <p:graphicFrame>
        <p:nvGraphicFramePr>
          <p:cNvPr id="4" name="Table 3"/>
          <p:cNvGraphicFramePr>
            <a:graphicFrameLocks noGrp="1"/>
          </p:cNvGraphicFramePr>
          <p:nvPr/>
        </p:nvGraphicFramePr>
        <p:xfrm>
          <a:off x="731520" y="1463040"/>
          <a:ext cx="5486400" cy="2377440"/>
        </p:xfrm>
        <a:graphic>
          <a:graphicData uri="http://schemas.openxmlformats.org/drawingml/2006/table">
            <a:tbl>
              <a:tblPr firstRow="1" bandRow="1">
                <a:tableStyleId>{5C22544A-7EE6-4342-B048-85BDC9FD1C3A}</a:tableStyleId>
              </a:tblPr>
              <a:tblGrid>
                <a:gridCol w="1371600"/>
                <a:gridCol w="1371600"/>
                <a:gridCol w="1371600"/>
                <a:gridCol w="1371600"/>
              </a:tblGrid>
              <a:tr h="475488">
                <a:tc>
                  <a:txBody>
                    <a:bodyPr/>
                    <a:lstStyle/>
                    <a:p>
                      <a:pPr>
                        <a:defRPr sz="1200" b="1">
                          <a:solidFill>
                            <a:srgbClr val="FFFFFF"/>
                          </a:solidFill>
                          <a:latin typeface="Calibri"/>
                        </a:defRPr>
                      </a:pPr>
                      <a:r>
                        <a:t>Extension</a:t>
                      </a:r>
                    </a:p>
                  </a:txBody>
                  <a:tcPr>
                    <a:solidFill>
                      <a:srgbClr val="1A73E8"/>
                    </a:solidFill>
                  </a:tcPr>
                </a:tc>
                <a:tc>
                  <a:txBody>
                    <a:bodyPr/>
                    <a:lstStyle/>
                    <a:p>
                      <a:pPr>
                        <a:defRPr sz="1200" b="1">
                          <a:solidFill>
                            <a:srgbClr val="FFFFFF"/>
                          </a:solidFill>
                          <a:latin typeface="Calibri"/>
                        </a:defRPr>
                      </a:pPr>
                      <a:r>
                        <a:t>Profile</a:t>
                      </a:r>
                    </a:p>
                  </a:txBody>
                  <a:tcPr>
                    <a:solidFill>
                      <a:srgbClr val="1A73E8"/>
                    </a:solidFill>
                  </a:tcPr>
                </a:tc>
                <a:tc>
                  <a:txBody>
                    <a:bodyPr/>
                    <a:lstStyle/>
                    <a:p>
                      <a:pPr>
                        <a:defRPr sz="1200" b="1">
                          <a:solidFill>
                            <a:srgbClr val="FFFFFF"/>
                          </a:solidFill>
                          <a:latin typeface="Calibri"/>
                        </a:defRPr>
                      </a:pPr>
                      <a:r>
                        <a:t>What It Sees</a:t>
                      </a:r>
                    </a:p>
                  </a:txBody>
                  <a:tcPr>
                    <a:solidFill>
                      <a:srgbClr val="1A73E8"/>
                    </a:solidFill>
                  </a:tcPr>
                </a:tc>
                <a:tc>
                  <a:txBody>
                    <a:bodyPr/>
                    <a:lstStyle/>
                    <a:p>
                      <a:pPr>
                        <a:defRPr sz="1200" b="1">
                          <a:solidFill>
                            <a:srgbClr val="FFFFFF"/>
                          </a:solidFill>
                          <a:latin typeface="Calibri"/>
                        </a:defRPr>
                      </a:pPr>
                      <a:r>
                        <a:t>Service</a:t>
                      </a:r>
                    </a:p>
                  </a:txBody>
                  <a:tcPr>
                    <a:solidFill>
                      <a:srgbClr val="1A73E8"/>
                    </a:solidFill>
                  </a:tcPr>
                </a:tc>
              </a:tr>
              <a:tr h="475488">
                <a:tc>
                  <a:txBody>
                    <a:bodyPr/>
                    <a:lstStyle/>
                    <a:p>
                      <a:pPr>
                        <a:defRPr sz="1100">
                          <a:solidFill>
                            <a:srgbClr val="202124"/>
                          </a:solidFill>
                          <a:latin typeface="Calibri"/>
                        </a:defRPr>
                      </a:pPr>
                      <a:r>
                        <a:t>IAP</a:t>
                      </a:r>
                    </a:p>
                  </a:txBody>
                  <a:tcPr/>
                </a:tc>
                <a:tc>
                  <a:txBody>
                    <a:bodyPr/>
                    <a:lstStyle/>
                    <a:p>
                      <a:pPr>
                        <a:defRPr sz="1100">
                          <a:solidFill>
                            <a:srgbClr val="202124"/>
                          </a:solidFill>
                          <a:latin typeface="Calibri"/>
                        </a:defRPr>
                      </a:pPr>
                      <a:r>
                        <a:t>REQUEST_AUTHZ</a:t>
                      </a:r>
                    </a:p>
                  </a:txBody>
                  <a:tcPr/>
                </a:tc>
                <a:tc>
                  <a:txBody>
                    <a:bodyPr/>
                    <a:lstStyle/>
                    <a:p>
                      <a:pPr>
                        <a:defRPr sz="1100">
                          <a:solidFill>
                            <a:srgbClr val="202124"/>
                          </a:solidFill>
                          <a:latin typeface="Calibri"/>
                        </a:defRPr>
                      </a:pPr>
                      <a:r>
                        <a:t>Headers only</a:t>
                      </a:r>
                    </a:p>
                  </a:txBody>
                  <a:tcPr/>
                </a:tc>
                <a:tc>
                  <a:txBody>
                    <a:bodyPr/>
                    <a:lstStyle/>
                    <a:p>
                      <a:pPr>
                        <a:defRPr sz="1100">
                          <a:solidFill>
                            <a:srgbClr val="202124"/>
                          </a:solidFill>
                          <a:latin typeface="Calibri"/>
                        </a:defRPr>
                      </a:pPr>
                      <a:r>
                        <a:t>iap.googleapis.com</a:t>
                      </a:r>
                    </a:p>
                  </a:txBody>
                  <a:tcPr/>
                </a:tc>
              </a:tr>
              <a:tr h="475488">
                <a:tc>
                  <a:txBody>
                    <a:bodyPr/>
                    <a:lstStyle/>
                    <a:p>
                      <a:pPr>
                        <a:defRPr sz="1100">
                          <a:solidFill>
                            <a:srgbClr val="202124"/>
                          </a:solidFill>
                          <a:latin typeface="Calibri"/>
                        </a:defRPr>
                      </a:pPr>
                      <a:r>
                        <a:t>Model Armor</a:t>
                      </a:r>
                    </a:p>
                  </a:txBody>
                  <a:tcPr>
                    <a:solidFill>
                      <a:srgbClr val="F8F9FA"/>
                    </a:solidFill>
                  </a:tcPr>
                </a:tc>
                <a:tc>
                  <a:txBody>
                    <a:bodyPr/>
                    <a:lstStyle/>
                    <a:p>
                      <a:pPr>
                        <a:defRPr sz="1100">
                          <a:solidFill>
                            <a:srgbClr val="202124"/>
                          </a:solidFill>
                          <a:latin typeface="Calibri"/>
                        </a:defRPr>
                      </a:pPr>
                      <a:r>
                        <a:t>CONTENT_AUTHZ</a:t>
                      </a:r>
                    </a:p>
                  </a:txBody>
                  <a:tcPr>
                    <a:solidFill>
                      <a:srgbClr val="F8F9FA"/>
                    </a:solidFill>
                  </a:tcPr>
                </a:tc>
                <a:tc>
                  <a:txBody>
                    <a:bodyPr/>
                    <a:lstStyle/>
                    <a:p>
                      <a:pPr>
                        <a:defRPr sz="1100">
                          <a:solidFill>
                            <a:srgbClr val="202124"/>
                          </a:solidFill>
                          <a:latin typeface="Calibri"/>
                        </a:defRPr>
                      </a:pPr>
                      <a:r>
                        <a:t>Full request + response body</a:t>
                      </a:r>
                    </a:p>
                  </a:txBody>
                  <a:tcPr>
                    <a:solidFill>
                      <a:srgbClr val="F8F9FA"/>
                    </a:solidFill>
                  </a:tcPr>
                </a:tc>
                <a:tc>
                  <a:txBody>
                    <a:bodyPr/>
                    <a:lstStyle/>
                    <a:p>
                      <a:pPr>
                        <a:defRPr sz="1100">
                          <a:solidFill>
                            <a:srgbClr val="202124"/>
                          </a:solidFill>
                          <a:latin typeface="Calibri"/>
                        </a:defRPr>
                      </a:pPr>
                      <a:r>
                        <a:t>modelarmor.REGION.rep.googleapis.com</a:t>
                      </a:r>
                    </a:p>
                  </a:txBody>
                  <a:tcPr>
                    <a:solidFill>
                      <a:srgbClr val="F8F9FA"/>
                    </a:solidFill>
                  </a:tcPr>
                </a:tc>
              </a:tr>
              <a:tr h="475488">
                <a:tc>
                  <a:txBody>
                    <a:bodyPr/>
                    <a:lstStyle/>
                    <a:p>
                      <a:pPr>
                        <a:defRPr sz="1100">
                          <a:solidFill>
                            <a:srgbClr val="202124"/>
                          </a:solidFill>
                          <a:latin typeface="Calibri"/>
                        </a:defRPr>
                      </a:pPr>
                      <a:r>
                        <a:t>SGP</a:t>
                      </a:r>
                    </a:p>
                  </a:txBody>
                  <a:tcPr/>
                </a:tc>
                <a:tc>
                  <a:txBody>
                    <a:bodyPr/>
                    <a:lstStyle/>
                    <a:p>
                      <a:pPr>
                        <a:defRPr sz="1100">
                          <a:solidFill>
                            <a:srgbClr val="202124"/>
                          </a:solidFill>
                          <a:latin typeface="Calibri"/>
                        </a:defRPr>
                      </a:pPr>
                      <a:r>
                        <a:t>CONTENT_AUTHZ</a:t>
                      </a:r>
                    </a:p>
                  </a:txBody>
                  <a:tcPr/>
                </a:tc>
                <a:tc>
                  <a:txBody>
                    <a:bodyPr/>
                    <a:lstStyle/>
                    <a:p>
                      <a:pPr>
                        <a:defRPr sz="1100">
                          <a:solidFill>
                            <a:srgbClr val="202124"/>
                          </a:solidFill>
                          <a:latin typeface="Calibri"/>
                        </a:defRPr>
                      </a:pPr>
                      <a:r>
                        <a:t>Full request + response body</a:t>
                      </a:r>
                    </a:p>
                  </a:txBody>
                  <a:tcPr/>
                </a:tc>
                <a:tc>
                  <a:txBody>
                    <a:bodyPr/>
                    <a:lstStyle/>
                    <a:p>
                      <a:pPr>
                        <a:defRPr sz="1100">
                          <a:solidFill>
                            <a:srgbClr val="202124"/>
                          </a:solidFill>
                          <a:latin typeface="Calibri"/>
                        </a:defRPr>
                      </a:pPr>
                      <a:r>
                        <a:t>SGP engine (VPC DNS)</a:t>
                      </a:r>
                    </a:p>
                  </a:txBody>
                  <a:tcPr/>
                </a:tc>
              </a:tr>
              <a:tr h="475488">
                <a:tc>
                  <a:txBody>
                    <a:bodyPr/>
                    <a:lstStyle/>
                    <a:p>
                      <a:pPr>
                        <a:defRPr sz="1100">
                          <a:solidFill>
                            <a:srgbClr val="202124"/>
                          </a:solidFill>
                          <a:latin typeface="Calibri"/>
                        </a:defRPr>
                      </a:pPr>
                      <a:r>
                        <a:t>Custom</a:t>
                      </a:r>
                    </a:p>
                  </a:txBody>
                  <a:tcPr>
                    <a:solidFill>
                      <a:srgbClr val="F8F9FA"/>
                    </a:solidFill>
                  </a:tcPr>
                </a:tc>
                <a:tc>
                  <a:txBody>
                    <a:bodyPr/>
                    <a:lstStyle/>
                    <a:p>
                      <a:pPr>
                        <a:defRPr sz="1100">
                          <a:solidFill>
                            <a:srgbClr val="202124"/>
                          </a:solidFill>
                          <a:latin typeface="Calibri"/>
                        </a:defRPr>
                      </a:pPr>
                      <a:r>
                        <a:t>Either</a:t>
                      </a:r>
                    </a:p>
                  </a:txBody>
                  <a:tcPr>
                    <a:solidFill>
                      <a:srgbClr val="F8F9FA"/>
                    </a:solidFill>
                  </a:tcPr>
                </a:tc>
                <a:tc>
                  <a:txBody>
                    <a:bodyPr/>
                    <a:lstStyle/>
                    <a:p>
                      <a:pPr>
                        <a:defRPr sz="1100">
                          <a:solidFill>
                            <a:srgbClr val="202124"/>
                          </a:solidFill>
                          <a:latin typeface="Calibri"/>
                        </a:defRPr>
                      </a:pPr>
                      <a:r>
                        <a:t>Configurable</a:t>
                      </a:r>
                    </a:p>
                  </a:txBody>
                  <a:tcPr>
                    <a:solidFill>
                      <a:srgbClr val="F8F9FA"/>
                    </a:solidFill>
                  </a:tcPr>
                </a:tc>
                <a:tc>
                  <a:txBody>
                    <a:bodyPr/>
                    <a:lstStyle/>
                    <a:p>
                      <a:pPr>
                        <a:defRPr sz="1100">
                          <a:solidFill>
                            <a:srgbClr val="202124"/>
                          </a:solidFill>
                          <a:latin typeface="Calibri"/>
                        </a:defRPr>
                      </a:pPr>
                      <a:r>
                        <a:t>Your FQDN (VPC)</a:t>
                      </a:r>
                    </a:p>
                  </a:txBody>
                  <a:tcPr>
                    <a:solidFill>
                      <a:srgbClr val="F8F9FA"/>
                    </a:solidFill>
                  </a:tcPr>
                </a:tc>
              </a:tr>
            </a:tbl>
          </a:graphicData>
        </a:graphic>
      </p:graphicFrame>
      <p:sp>
        <p:nvSpPr>
          <p:cNvPr id="5" name="TextBox 4"/>
          <p:cNvSpPr txBox="1"/>
          <p:nvPr/>
        </p:nvSpPr>
        <p:spPr>
          <a:xfrm>
            <a:off x="731520" y="4114800"/>
            <a:ext cx="5486400" cy="731520"/>
          </a:xfrm>
          <a:prstGeom prst="rect">
            <a:avLst/>
          </a:prstGeom>
          <a:noFill/>
        </p:spPr>
        <p:txBody>
          <a:bodyPr wrap="square">
            <a:spAutoFit/>
          </a:bodyPr>
          <a:lstStyle/>
          <a:p>
            <a:pPr algn="l">
              <a:defRPr sz="1300" b="0">
                <a:solidFill>
                  <a:srgbClr val="202124"/>
                </a:solidFill>
                <a:latin typeface="Calibri"/>
              </a:defRPr>
            </a:pPr>
            <a:r>
              <a:t>Max 4 policies per gateway  |  REQUEST_AUTHZ runs first  |  CONTENT_AUTHZ sees bodies</a:t>
            </a:r>
          </a:p>
        </p:txBody>
      </p:sp>
      <p:sp>
        <p:nvSpPr>
          <p:cNvPr id="6" name="TextBox 5"/>
          <p:cNvSpPr txBox="1"/>
          <p:nvPr/>
        </p:nvSpPr>
        <p:spPr>
          <a:xfrm>
            <a:off x="6583680" y="914400"/>
            <a:ext cx="5029200" cy="365760"/>
          </a:xfrm>
          <a:prstGeom prst="rect">
            <a:avLst/>
          </a:prstGeom>
          <a:noFill/>
        </p:spPr>
        <p:txBody>
          <a:bodyPr wrap="square">
            <a:spAutoFit/>
          </a:bodyPr>
          <a:lstStyle/>
          <a:p>
            <a:pPr algn="l">
              <a:defRPr sz="1800" b="1">
                <a:solidFill>
                  <a:srgbClr val="1A73E8"/>
                </a:solidFill>
                <a:latin typeface="Calibri"/>
              </a:defRPr>
            </a:pPr>
            <a:r>
              <a:t>Request Flow Through Gateway</a:t>
            </a:r>
          </a:p>
        </p:txBody>
      </p:sp>
      <p:sp>
        <p:nvSpPr>
          <p:cNvPr id="7" name="Rounded Rectangle 6"/>
          <p:cNvSpPr/>
          <p:nvPr/>
        </p:nvSpPr>
        <p:spPr>
          <a:xfrm>
            <a:off x="6583680" y="1371600"/>
            <a:ext cx="5029200" cy="292608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100">
                <a:solidFill>
                  <a:srgbClr val="202124"/>
                </a:solidFill>
                <a:latin typeface="Consolas"/>
              </a:defRPr>
            </a:pPr>
            <a:r>
              <a:t>Request arrives</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  ├─ REQUEST_AUTHZ ◄── IAP</a:t>
            </a:r>
          </a:p>
          <a:p>
            <a:pPr>
              <a:spcBef>
                <a:spcPts val="0"/>
              </a:spcBef>
              <a:spcAft>
                <a:spcPts val="0"/>
              </a:spcAft>
              <a:defRPr sz="1100">
                <a:solidFill>
                  <a:srgbClr val="202124"/>
                </a:solidFill>
                <a:latin typeface="Consolas"/>
              </a:defRPr>
            </a:pPr>
            <a:r>
              <a:t>  │   (identity + CEL conditions)</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  ├─ Route to agent/MCP</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  ├─ CONTENT_AUTHZ ◄── Model Armor</a:t>
            </a:r>
          </a:p>
          <a:p>
            <a:pPr>
              <a:spcBef>
                <a:spcPts val="0"/>
              </a:spcBef>
              <a:spcAft>
                <a:spcPts val="0"/>
              </a:spcAft>
              <a:defRPr sz="1100">
                <a:solidFill>
                  <a:srgbClr val="202124"/>
                </a:solidFill>
                <a:latin typeface="Consolas"/>
              </a:defRPr>
            </a:pPr>
            <a:r>
              <a:t>  │   (prompt/response screening)</a:t>
            </a:r>
          </a:p>
          <a:p>
            <a:pPr>
              <a:spcBef>
                <a:spcPts val="0"/>
              </a:spcBef>
              <a:spcAft>
                <a:spcPts val="0"/>
              </a:spcAft>
              <a:defRPr sz="1100">
                <a:solidFill>
                  <a:srgbClr val="202124"/>
                </a:solidFill>
                <a:latin typeface="Consolas"/>
              </a:defRPr>
            </a:pPr>
            <a:r>
              <a:t>  │</a:t>
            </a:r>
          </a:p>
          <a:p>
            <a:pPr>
              <a:spcBef>
                <a:spcPts val="0"/>
              </a:spcBef>
              <a:spcAft>
                <a:spcPts val="0"/>
              </a:spcAft>
              <a:defRPr sz="1100">
                <a:solidFill>
                  <a:srgbClr val="202124"/>
                </a:solidFill>
                <a:latin typeface="Consolas"/>
              </a:defRPr>
            </a:pPr>
            <a:r>
              <a:t>  └─ CONTENT_AUTHZ ◄── SGP</a:t>
            </a:r>
          </a:p>
          <a:p>
            <a:pPr>
              <a:spcBef>
                <a:spcPts val="0"/>
              </a:spcBef>
              <a:spcAft>
                <a:spcPts val="0"/>
              </a:spcAft>
              <a:defRPr sz="1100">
                <a:solidFill>
                  <a:srgbClr val="202124"/>
                </a:solidFill>
                <a:latin typeface="Consolas"/>
              </a:defRPr>
            </a:pPr>
            <a:r>
              <a:t>      (semantic business rules)</a:t>
            </a:r>
          </a:p>
        </p:txBody>
      </p:sp>
      <p:sp>
        <p:nvSpPr>
          <p:cNvPr id="8" name="TextBox 7"/>
          <p:cNvSpPr txBox="1"/>
          <p:nvPr/>
        </p:nvSpPr>
        <p:spPr>
          <a:xfrm>
            <a:off x="731520" y="4846320"/>
            <a:ext cx="5029200" cy="365760"/>
          </a:xfrm>
          <a:prstGeom prst="rect">
            <a:avLst/>
          </a:prstGeom>
          <a:noFill/>
        </p:spPr>
        <p:txBody>
          <a:bodyPr wrap="square">
            <a:spAutoFit/>
          </a:bodyPr>
          <a:lstStyle/>
          <a:p>
            <a:pPr algn="l">
              <a:defRPr sz="1600" b="1">
                <a:solidFill>
                  <a:srgbClr val="1A73E8"/>
                </a:solidFill>
                <a:latin typeface="Calibri"/>
              </a:defRPr>
            </a:pPr>
            <a:r>
              <a:t>MCP Tool-Level Policies (inline, no extension)</a:t>
            </a:r>
          </a:p>
        </p:txBody>
      </p:sp>
      <p:sp>
        <p:nvSpPr>
          <p:cNvPr id="9" name="Rounded Rectangle 8"/>
          <p:cNvSpPr/>
          <p:nvPr/>
        </p:nvSpPr>
        <p:spPr>
          <a:xfrm>
            <a:off x="731520" y="5303520"/>
            <a:ext cx="5029200" cy="13716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000">
                <a:solidFill>
                  <a:srgbClr val="202124"/>
                </a:solidFill>
                <a:latin typeface="Consolas"/>
              </a:defRPr>
            </a:pPr>
            <a:r>
              <a:t>httpRules:</a:t>
            </a:r>
          </a:p>
          <a:p>
            <a:pPr>
              <a:spcBef>
                <a:spcPts val="0"/>
              </a:spcBef>
              <a:spcAft>
                <a:spcPts val="0"/>
              </a:spcAft>
              <a:defRPr sz="1000">
                <a:solidFill>
                  <a:srgbClr val="202124"/>
                </a:solidFill>
                <a:latin typeface="Consolas"/>
              </a:defRPr>
            </a:pPr>
            <a:r>
              <a:t>  - to:</a:t>
            </a:r>
          </a:p>
          <a:p>
            <a:pPr>
              <a:spcBef>
                <a:spcPts val="0"/>
              </a:spcBef>
              <a:spcAft>
                <a:spcPts val="0"/>
              </a:spcAft>
              <a:defRPr sz="1000">
                <a:solidFill>
                  <a:srgbClr val="202124"/>
                </a:solidFill>
                <a:latin typeface="Consolas"/>
              </a:defRPr>
            </a:pPr>
            <a:r>
              <a:t>      operations:</a:t>
            </a:r>
          </a:p>
          <a:p>
            <a:pPr>
              <a:spcBef>
                <a:spcPts val="0"/>
              </a:spcBef>
              <a:spcAft>
                <a:spcPts val="0"/>
              </a:spcAft>
              <a:defRPr sz="1000">
                <a:solidFill>
                  <a:srgbClr val="202124"/>
                </a:solidFill>
                <a:latin typeface="Consolas"/>
              </a:defRPr>
            </a:pPr>
            <a:r>
              <a:t>        - mcp:</a:t>
            </a:r>
          </a:p>
          <a:p>
            <a:pPr>
              <a:spcBef>
                <a:spcPts val="0"/>
              </a:spcBef>
              <a:spcAft>
                <a:spcPts val="0"/>
              </a:spcAft>
              <a:defRPr sz="1000">
                <a:solidFill>
                  <a:srgbClr val="202124"/>
                </a:solidFill>
                <a:latin typeface="Consolas"/>
              </a:defRPr>
            </a:pPr>
            <a:r>
              <a:t>            baseProtocolMethodsOption:</a:t>
            </a:r>
          </a:p>
          <a:p>
            <a:pPr>
              <a:spcBef>
                <a:spcPts val="0"/>
              </a:spcBef>
              <a:spcAft>
                <a:spcPts val="0"/>
              </a:spcAft>
              <a:defRPr sz="1000">
                <a:solidFill>
                  <a:srgbClr val="202124"/>
                </a:solidFill>
                <a:latin typeface="Consolas"/>
              </a:defRPr>
            </a:pPr>
            <a:r>
              <a:t>              MATCH_BASE_PROTOCOL_METHODS</a:t>
            </a:r>
          </a:p>
          <a:p>
            <a:pPr>
              <a:spcBef>
                <a:spcPts val="0"/>
              </a:spcBef>
              <a:spcAft>
                <a:spcPts val="0"/>
              </a:spcAft>
              <a:defRPr sz="1000">
                <a:solidFill>
                  <a:srgbClr val="202124"/>
                </a:solidFill>
                <a:latin typeface="Consolas"/>
              </a:defRPr>
            </a:pPr>
            <a:r>
              <a:t>            methods:</a:t>
            </a:r>
          </a:p>
          <a:p>
            <a:pPr>
              <a:spcBef>
                <a:spcPts val="0"/>
              </a:spcBef>
              <a:spcAft>
                <a:spcPts val="0"/>
              </a:spcAft>
              <a:defRPr sz="1000">
                <a:solidFill>
                  <a:srgbClr val="202124"/>
                </a:solidFill>
                <a:latin typeface="Consolas"/>
              </a:defRPr>
            </a:pPr>
            <a:r>
              <a:t>              - name: "tools/call"</a:t>
            </a:r>
          </a:p>
          <a:p>
            <a:pPr>
              <a:spcBef>
                <a:spcPts val="0"/>
              </a:spcBef>
              <a:spcAft>
                <a:spcPts val="0"/>
              </a:spcAft>
              <a:defRPr sz="1000">
                <a:solidFill>
                  <a:srgbClr val="202124"/>
                </a:solidFill>
                <a:latin typeface="Consolas"/>
              </a:defRPr>
            </a:pPr>
            <a:r>
              <a:t>                params: ["search_flights"]</a:t>
            </a:r>
          </a:p>
        </p:txBody>
      </p:sp>
      <p:sp>
        <p:nvSpPr>
          <p:cNvPr id="10" name="TextBox 9"/>
          <p:cNvSpPr txBox="1"/>
          <p:nvPr/>
        </p:nvSpPr>
        <p:spPr>
          <a:xfrm>
            <a:off x="6583680" y="4572000"/>
            <a:ext cx="5029200" cy="365760"/>
          </a:xfrm>
          <a:prstGeom prst="rect">
            <a:avLst/>
          </a:prstGeom>
          <a:noFill/>
        </p:spPr>
        <p:txBody>
          <a:bodyPr wrap="square">
            <a:spAutoFit/>
          </a:bodyPr>
          <a:lstStyle/>
          <a:p>
            <a:pPr algn="l">
              <a:defRPr sz="1600" b="1">
                <a:solidFill>
                  <a:srgbClr val="1A73E8"/>
                </a:solidFill>
                <a:latin typeface="Calibri"/>
              </a:defRPr>
            </a:pPr>
            <a:r>
              <a:t>Setup (REST API)</a:t>
            </a:r>
          </a:p>
        </p:txBody>
      </p:sp>
      <p:sp>
        <p:nvSpPr>
          <p:cNvPr id="11" name="Rounded Rectangle 10"/>
          <p:cNvSpPr/>
          <p:nvPr/>
        </p:nvSpPr>
        <p:spPr>
          <a:xfrm>
            <a:off x="6583680" y="5029200"/>
            <a:ext cx="5029200" cy="164592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000">
                <a:solidFill>
                  <a:srgbClr val="202124"/>
                </a:solidFill>
                <a:latin typeface="Consolas"/>
              </a:defRPr>
            </a:pPr>
            <a:r>
              <a:t># 1. Create extension</a:t>
            </a:r>
          </a:p>
          <a:p>
            <a:pPr>
              <a:spcBef>
                <a:spcPts val="0"/>
              </a:spcBef>
              <a:spcAft>
                <a:spcPts val="0"/>
              </a:spcAft>
              <a:defRPr sz="1000">
                <a:solidFill>
                  <a:srgbClr val="202124"/>
                </a:solidFill>
                <a:latin typeface="Consolas"/>
              </a:defRPr>
            </a:pPr>
            <a:r>
              <a:t>POST networkservices/v1beta1/</a:t>
            </a:r>
          </a:p>
          <a:p>
            <a:pPr>
              <a:spcBef>
                <a:spcPts val="0"/>
              </a:spcBef>
              <a:spcAft>
                <a:spcPts val="0"/>
              </a:spcAft>
              <a:defRPr sz="1000">
                <a:solidFill>
                  <a:srgbClr val="202124"/>
                </a:solidFill>
                <a:latin typeface="Consolas"/>
              </a:defRPr>
            </a:pPr>
            <a:r>
              <a:t>  .../authzExtensions</a:t>
            </a:r>
          </a:p>
          <a:p>
            <a:pPr>
              <a:spcBef>
                <a:spcPts val="0"/>
              </a:spcBef>
              <a:spcAft>
                <a:spcPts val="0"/>
              </a:spcAft>
              <a:defRPr sz="1000">
                <a:solidFill>
                  <a:srgbClr val="202124"/>
                </a:solidFill>
                <a:latin typeface="Consolas"/>
              </a:defRPr>
            </a:pPr>
            <a:r>
              <a:t>  {service, failOpen, timeout}</a:t>
            </a:r>
          </a:p>
          <a:p>
            <a:pPr>
              <a:spcBef>
                <a:spcPts val="0"/>
              </a:spcBef>
              <a:spcAft>
                <a:spcPts val="0"/>
              </a:spcAft>
              <a:defRPr sz="1000">
                <a:solidFill>
                  <a:srgbClr val="202124"/>
                </a:solidFill>
                <a:latin typeface="Consolas"/>
              </a:defRPr>
            </a:pPr>
          </a:p>
          <a:p>
            <a:pPr>
              <a:spcBef>
                <a:spcPts val="0"/>
              </a:spcBef>
              <a:spcAft>
                <a:spcPts val="0"/>
              </a:spcAft>
              <a:defRPr sz="1000">
                <a:solidFill>
                  <a:srgbClr val="202124"/>
                </a:solidFill>
                <a:latin typeface="Consolas"/>
              </a:defRPr>
            </a:pPr>
            <a:r>
              <a:t># 2. Create policy</a:t>
            </a:r>
          </a:p>
          <a:p>
            <a:pPr>
              <a:spcBef>
                <a:spcPts val="0"/>
              </a:spcBef>
              <a:spcAft>
                <a:spcPts val="0"/>
              </a:spcAft>
              <a:defRPr sz="1000">
                <a:solidFill>
                  <a:srgbClr val="202124"/>
                </a:solidFill>
                <a:latin typeface="Consolas"/>
              </a:defRPr>
            </a:pPr>
            <a:r>
              <a:t>POST networksecurity/v1beta1/</a:t>
            </a:r>
          </a:p>
          <a:p>
            <a:pPr>
              <a:spcBef>
                <a:spcPts val="0"/>
              </a:spcBef>
              <a:spcAft>
                <a:spcPts val="0"/>
              </a:spcAft>
              <a:defRPr sz="1000">
                <a:solidFill>
                  <a:srgbClr val="202124"/>
                </a:solidFill>
                <a:latin typeface="Consolas"/>
              </a:defRPr>
            </a:pPr>
            <a:r>
              <a:t>  .../authzPolicies</a:t>
            </a:r>
          </a:p>
          <a:p>
            <a:pPr>
              <a:spcBef>
                <a:spcPts val="0"/>
              </a:spcBef>
              <a:spcAft>
                <a:spcPts val="0"/>
              </a:spcAft>
              <a:defRPr sz="1000">
                <a:solidFill>
                  <a:srgbClr val="202124"/>
                </a:solidFill>
                <a:latin typeface="Consolas"/>
              </a:defRPr>
            </a:pPr>
            <a:r>
              <a:t>  {target, policyProfile, action}</a:t>
            </a:r>
          </a:p>
        </p:txBody>
      </p:sp>
      <p:sp>
        <p:nvSpPr>
          <p:cNvPr id="12" name="TextBox 11"/>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Three-Tier Evaluation Pipeline</a:t>
            </a:r>
          </a:p>
        </p:txBody>
      </p:sp>
      <p:pic>
        <p:nvPicPr>
          <p:cNvPr id="3" name="Picture 2" descr="03_eval_pipeline.png"/>
          <p:cNvPicPr>
            <a:picLocks noChangeAspect="1"/>
          </p:cNvPicPr>
          <p:nvPr/>
        </p:nvPicPr>
        <p:blipFill>
          <a:blip r:embed="rId2"/>
          <a:stretch>
            <a:fillRect/>
          </a:stretch>
        </p:blipFill>
        <p:spPr>
          <a:xfrm>
            <a:off x="3474720" y="1005840"/>
            <a:ext cx="4914900" cy="2743200"/>
          </a:xfrm>
          <a:prstGeom prst="rect">
            <a:avLst/>
          </a:prstGeom>
        </p:spPr>
      </p:pic>
      <p:sp>
        <p:nvSpPr>
          <p:cNvPr id="4" name="Rounded Rectangle 3"/>
          <p:cNvSpPr/>
          <p:nvPr/>
        </p:nvSpPr>
        <p:spPr>
          <a:xfrm>
            <a:off x="731520" y="4114800"/>
            <a:ext cx="3291840" cy="182880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One-Time Eval</a:t>
            </a:r>
          </a:p>
          <a:p>
            <a:pPr>
              <a:spcBef>
                <a:spcPts val="600"/>
              </a:spcBef>
              <a:defRPr sz="1300">
                <a:solidFill>
                  <a:srgbClr val="5F6368"/>
                </a:solidFill>
                <a:latin typeface="Calibri"/>
              </a:defRPr>
            </a:pPr>
            <a:r>
              <a:t>Manual, on-demand evaluation with PointwiseMetric rubrics against a curated dataset</a:t>
            </a:r>
          </a:p>
        </p:txBody>
      </p:sp>
      <p:sp>
        <p:nvSpPr>
          <p:cNvPr id="5" name="Rounded Rectangle 4"/>
          <p:cNvSpPr/>
          <p:nvPr/>
        </p:nvSpPr>
        <p:spPr>
          <a:xfrm>
            <a:off x="4389120" y="4114800"/>
            <a:ext cx="3291840" cy="182880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Online Monitors</a:t>
            </a:r>
          </a:p>
          <a:p>
            <a:pPr>
              <a:spcBef>
                <a:spcPts val="600"/>
              </a:spcBef>
              <a:defRPr sz="1300">
                <a:solidFill>
                  <a:srgbClr val="5F6368"/>
                </a:solidFill>
                <a:latin typeface="Calibri"/>
              </a:defRPr>
            </a:pPr>
            <a:r>
              <a:t>Continuous evaluation of live traffic via Cloud Trace telemetry on 10-min cycles</a:t>
            </a:r>
          </a:p>
        </p:txBody>
      </p:sp>
      <p:sp>
        <p:nvSpPr>
          <p:cNvPr id="6" name="Rounded Rectangle 5"/>
          <p:cNvSpPr/>
          <p:nvPr/>
        </p:nvSpPr>
        <p:spPr>
          <a:xfrm>
            <a:off x="8046720" y="4114800"/>
            <a:ext cx="3291840" cy="1828800"/>
          </a:xfrm>
          <a:prstGeom prst="roundRect">
            <a:avLst/>
          </a:prstGeom>
          <a:solidFill>
            <a:srgbClr val="FFFFFF"/>
          </a:solidFill>
          <a:ln w="25400">
            <a:solidFill>
              <a:srgbClr val="F9AB0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F9AB00"/>
                </a:solidFill>
                <a:latin typeface="Calibri"/>
              </a:defRPr>
            </a:pPr>
            <a:r>
              <a:t>Simulated (CI/CD)</a:t>
            </a:r>
          </a:p>
          <a:p>
            <a:pPr>
              <a:spcBef>
                <a:spcPts val="600"/>
              </a:spcBef>
              <a:defRPr sz="1300">
                <a:solidFill>
                  <a:srgbClr val="5F6368"/>
                </a:solidFill>
                <a:latin typeface="Calibri"/>
              </a:defRPr>
            </a:pPr>
            <a:r>
              <a:t>Automated eval gate on PRs — score ≥ 3.0 to merge, blocks otherwise</a:t>
            </a:r>
          </a:p>
        </p:txBody>
      </p:sp>
      <p:sp>
        <p:nvSpPr>
          <p:cNvPr id="7" name="TextBox 6"/>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3"/>
              </a:rPr>
              <a:t>https://github.com/jswortz/geap-tour/src/eval/</a:t>
            </a:r>
          </a:p>
        </p:txBody>
      </p:sp>
      <p:sp>
        <p:nvSpPr>
          <p:cNvPr id="8" name="TextBox 7"/>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200" b="1">
                <a:solidFill>
                  <a:srgbClr val="FFFFFF"/>
                </a:solidFill>
                <a:latin typeface="Calibri"/>
              </a:defRPr>
            </a:pPr>
            <a:r>
              <a:t>Console: Evaluation Experiments</a:t>
            </a:r>
          </a:p>
        </p:txBody>
      </p:sp>
      <p:pic>
        <p:nvPicPr>
          <p:cNvPr id="3" name="Picture 2" descr="session2_evaluation.png"/>
          <p:cNvPicPr>
            <a:picLocks noChangeAspect="1"/>
          </p:cNvPicPr>
          <p:nvPr/>
        </p:nvPicPr>
        <p:blipFill>
          <a:blip r:embed="rId2"/>
          <a:stretch>
            <a:fillRect/>
          </a:stretch>
        </p:blipFill>
        <p:spPr>
          <a:xfrm>
            <a:off x="731520" y="1188720"/>
            <a:ext cx="10515600" cy="6646398"/>
          </a:xfrm>
          <a:prstGeom prst="rect">
            <a:avLst/>
          </a:prstGeom>
        </p:spPr>
      </p:pic>
      <p:sp>
        <p:nvSpPr>
          <p:cNvPr id="4" name="TextBox 3"/>
          <p:cNvSpPr txBox="1"/>
          <p:nvPr/>
        </p:nvSpPr>
        <p:spPr>
          <a:xfrm>
            <a:off x="6400800" y="6309360"/>
            <a:ext cx="3657600" cy="274320"/>
          </a:xfrm>
          <a:prstGeom prst="rect">
            <a:avLst/>
          </a:prstGeom>
          <a:noFill/>
        </p:spPr>
        <p:txBody>
          <a:bodyPr wrap="square">
            <a:spAutoFit/>
          </a:bodyPr>
          <a:lstStyle/>
          <a:p>
            <a:pPr algn="l"/>
            <a:r>
              <a:rPr sz="1000">
                <a:solidFill>
                  <a:srgbClr val="AAAAAA"/>
                </a:solidFill>
                <a:latin typeface="Calibri"/>
                <a:hlinkClick r:id="rId3"/>
              </a:rPr>
              <a:t>Open in Cloud Console</a:t>
            </a:r>
          </a:p>
        </p:txBody>
      </p:sp>
      <p:sp>
        <p:nvSpPr>
          <p:cNvPr id="5" name="TextBox 4"/>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Observability Stack</a:t>
            </a:r>
          </a:p>
        </p:txBody>
      </p:sp>
      <p:pic>
        <p:nvPicPr>
          <p:cNvPr id="3" name="Picture 2" descr="05_observability_stack.png"/>
          <p:cNvPicPr>
            <a:picLocks noChangeAspect="1"/>
          </p:cNvPicPr>
          <p:nvPr/>
        </p:nvPicPr>
        <p:blipFill>
          <a:blip r:embed="rId2"/>
          <a:stretch>
            <a:fillRect/>
          </a:stretch>
        </p:blipFill>
        <p:spPr>
          <a:xfrm>
            <a:off x="457200" y="1188720"/>
            <a:ext cx="5486400" cy="3062177"/>
          </a:xfrm>
          <a:prstGeom prst="rect">
            <a:avLst/>
          </a:prstGeom>
        </p:spPr>
      </p:pic>
      <p:sp>
        <p:nvSpPr>
          <p:cNvPr id="4" name="TextBox 3"/>
          <p:cNvSpPr txBox="1"/>
          <p:nvPr/>
        </p:nvSpPr>
        <p:spPr>
          <a:xfrm>
            <a:off x="6400800" y="1188720"/>
            <a:ext cx="5029200" cy="365760"/>
          </a:xfrm>
          <a:prstGeom prst="rect">
            <a:avLst/>
          </a:prstGeom>
          <a:noFill/>
        </p:spPr>
        <p:txBody>
          <a:bodyPr wrap="square">
            <a:spAutoFit/>
          </a:bodyPr>
          <a:lstStyle/>
          <a:p>
            <a:pPr algn="l">
              <a:defRPr sz="2200" b="1">
                <a:solidFill>
                  <a:srgbClr val="1A73E8"/>
                </a:solidFill>
                <a:latin typeface="Calibri"/>
              </a:defRPr>
            </a:pPr>
            <a:r>
              <a:t>End-to-End Tracing</a:t>
            </a:r>
          </a:p>
        </p:txBody>
      </p:sp>
      <p:sp>
        <p:nvSpPr>
          <p:cNvPr id="5" name="TextBox 4"/>
          <p:cNvSpPr txBox="1"/>
          <p:nvPr/>
        </p:nvSpPr>
        <p:spPr>
          <a:xfrm>
            <a:off x="6400800" y="1737360"/>
            <a:ext cx="5029200" cy="548640"/>
          </a:xfrm>
          <a:prstGeom prst="rect">
            <a:avLst/>
          </a:prstGeom>
          <a:noFill/>
        </p:spPr>
        <p:txBody>
          <a:bodyPr wrap="square">
            <a:spAutoFit/>
          </a:bodyPr>
          <a:lstStyle/>
          <a:p>
            <a:pPr algn="l">
              <a:defRPr sz="1800" b="0">
                <a:solidFill>
                  <a:srgbClr val="1A73E8"/>
                </a:solidFill>
                <a:latin typeface="Calibri"/>
              </a:defRPr>
            </a:pPr>
            <a:r>
              <a:t>Agent Call  →  OTel Spans  →  Cloud Trace  →  BigQuery</a:t>
            </a:r>
          </a:p>
        </p:txBody>
      </p:sp>
      <p:sp>
        <p:nvSpPr>
          <p:cNvPr id="6" name="TextBox 5"/>
          <p:cNvSpPr txBox="1"/>
          <p:nvPr/>
        </p:nvSpPr>
        <p:spPr>
          <a:xfrm>
            <a:off x="6400800" y="2743200"/>
            <a:ext cx="5029200" cy="3200400"/>
          </a:xfrm>
          <a:prstGeom prst="rect">
            <a:avLst/>
          </a:prstGeom>
          <a:noFill/>
        </p:spPr>
        <p:txBody>
          <a:bodyPr wrap="square">
            <a:spAutoFit/>
          </a:bodyPr>
          <a:lstStyle/>
          <a:p>
            <a:pPr>
              <a:spcAft>
                <a:spcPts val="800"/>
              </a:spcAft>
              <a:defRPr sz="2200" b="1">
                <a:solidFill>
                  <a:srgbClr val="1A73E8"/>
                </a:solidFill>
                <a:latin typeface="Calibri"/>
              </a:defRPr>
            </a:pPr>
            <a:r>
              <a:t>Data Pipeline</a:t>
            </a:r>
          </a:p>
          <a:p>
            <a:pPr>
              <a:spcBef>
                <a:spcPts val="600"/>
              </a:spcBef>
              <a:defRPr sz="1800">
                <a:solidFill>
                  <a:srgbClr val="202124"/>
                </a:solidFill>
                <a:latin typeface="Calibri"/>
              </a:defRPr>
            </a:pPr>
            <a:r>
              <a:t>Cloud Trace captures every agent + tool call</a:t>
            </a:r>
          </a:p>
          <a:p>
            <a:pPr>
              <a:spcBef>
                <a:spcPts val="600"/>
              </a:spcBef>
              <a:defRPr sz="1800">
                <a:solidFill>
                  <a:srgbClr val="202124"/>
                </a:solidFill>
                <a:latin typeface="Calibri"/>
              </a:defRPr>
            </a:pPr>
            <a:r>
              <a:t>Log sink exports structured data to BigQuery</a:t>
            </a:r>
          </a:p>
          <a:p>
            <a:pPr>
              <a:spcBef>
                <a:spcPts val="600"/>
              </a:spcBef>
              <a:defRPr sz="1800">
                <a:solidFill>
                  <a:srgbClr val="202124"/>
                </a:solidFill>
                <a:latin typeface="Calibri"/>
              </a:defRPr>
            </a:pPr>
            <a:r>
              <a:t>Cloud Monitoring alerts on anomalies</a:t>
            </a:r>
          </a:p>
          <a:p>
            <a:pPr>
              <a:spcBef>
                <a:spcPts val="600"/>
              </a:spcBef>
              <a:defRPr sz="1800">
                <a:solidFill>
                  <a:srgbClr val="202124"/>
                </a:solidFill>
                <a:latin typeface="Calibri"/>
              </a:defRPr>
            </a:pPr>
            <a:r>
              <a:t>Failure cluster analysis groups error patterns</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Failure Clusters &amp; Quality Alerts</a:t>
            </a:r>
          </a:p>
        </p:txBody>
      </p:sp>
      <p:sp>
        <p:nvSpPr>
          <p:cNvPr id="3" name="TextBox 2"/>
          <p:cNvSpPr txBox="1"/>
          <p:nvPr/>
        </p:nvSpPr>
        <p:spPr>
          <a:xfrm>
            <a:off x="731520" y="1005840"/>
            <a:ext cx="5029200" cy="365760"/>
          </a:xfrm>
          <a:prstGeom prst="rect">
            <a:avLst/>
          </a:prstGeom>
          <a:noFill/>
        </p:spPr>
        <p:txBody>
          <a:bodyPr wrap="square">
            <a:spAutoFit/>
          </a:bodyPr>
          <a:lstStyle/>
          <a:p>
            <a:pPr algn="l">
              <a:defRPr sz="2200" b="1">
                <a:solidFill>
                  <a:srgbClr val="1A73E8"/>
                </a:solidFill>
                <a:latin typeface="Calibri"/>
              </a:defRPr>
            </a:pPr>
            <a:r>
              <a:t>Automated Error Analysis</a:t>
            </a:r>
          </a:p>
        </p:txBody>
      </p:sp>
      <p:sp>
        <p:nvSpPr>
          <p:cNvPr id="4" name="Rounded Rectangle 3"/>
          <p:cNvSpPr/>
          <p:nvPr/>
        </p:nvSpPr>
        <p:spPr>
          <a:xfrm>
            <a:off x="731520" y="1463040"/>
            <a:ext cx="5029200" cy="27432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200">
                <a:solidFill>
                  <a:srgbClr val="202124"/>
                </a:solidFill>
                <a:latin typeface="Consolas"/>
              </a:defRPr>
            </a:pPr>
            <a:r>
              <a:t>clusters = client.evals</a:t>
            </a:r>
          </a:p>
          <a:p>
            <a:pPr>
              <a:spcBef>
                <a:spcPts val="0"/>
              </a:spcBef>
              <a:spcAft>
                <a:spcPts val="0"/>
              </a:spcAft>
              <a:defRPr sz="1200">
                <a:solidFill>
                  <a:srgbClr val="202124"/>
                </a:solidFill>
                <a:latin typeface="Consolas"/>
              </a:defRPr>
            </a:pPr>
            <a:r>
              <a:t>  .generate_loss_clusters(</a:t>
            </a:r>
          </a:p>
          <a:p>
            <a:pPr>
              <a:spcBef>
                <a:spcPts val="0"/>
              </a:spcBef>
              <a:spcAft>
                <a:spcPts val="0"/>
              </a:spcAft>
              <a:defRPr sz="1200">
                <a:solidFill>
                  <a:srgbClr val="202124"/>
                </a:solidFill>
                <a:latin typeface="Consolas"/>
              </a:defRPr>
            </a:pPr>
            <a:r>
              <a:t>    src=eval_result_name</a:t>
            </a:r>
          </a:p>
          <a:p>
            <a:pPr>
              <a:spcBef>
                <a:spcPts val="0"/>
              </a:spcBef>
              <a:spcAft>
                <a:spcPts val="0"/>
              </a:spcAft>
              <a:defRPr sz="1200">
                <a:solidFill>
                  <a:srgbClr val="202124"/>
                </a:solidFill>
                <a:latin typeface="Consolas"/>
              </a:defRPr>
            </a:pPr>
            <a:r>
              <a:t>  )</a:t>
            </a:r>
          </a:p>
          <a:p>
            <a:pPr>
              <a:spcBef>
                <a:spcPts val="0"/>
              </a:spcBef>
              <a:spcAft>
                <a:spcPts val="0"/>
              </a:spcAft>
              <a:defRPr sz="1200">
                <a:solidFill>
                  <a:srgbClr val="202124"/>
                </a:solidFill>
                <a:latin typeface="Consolas"/>
              </a:defRPr>
            </a:pPr>
          </a:p>
          <a:p>
            <a:pPr>
              <a:spcBef>
                <a:spcPts val="0"/>
              </a:spcBef>
              <a:spcAft>
                <a:spcPts val="0"/>
              </a:spcAft>
              <a:defRPr sz="1200">
                <a:solidFill>
                  <a:srgbClr val="202124"/>
                </a:solidFill>
                <a:latin typeface="Consolas"/>
              </a:defRPr>
            </a:pPr>
            <a:r>
              <a:t>for cluster in clusters:</a:t>
            </a:r>
          </a:p>
          <a:p>
            <a:pPr>
              <a:spcBef>
                <a:spcPts val="0"/>
              </a:spcBef>
              <a:spcAft>
                <a:spcPts val="0"/>
              </a:spcAft>
              <a:defRPr sz="1200">
                <a:solidFill>
                  <a:srgbClr val="202124"/>
                </a:solidFill>
                <a:latin typeface="Consolas"/>
              </a:defRPr>
            </a:pPr>
            <a:r>
              <a:t>  print(cluster.title)</a:t>
            </a:r>
          </a:p>
          <a:p>
            <a:pPr>
              <a:spcBef>
                <a:spcPts val="0"/>
              </a:spcBef>
              <a:spcAft>
                <a:spcPts val="0"/>
              </a:spcAft>
              <a:defRPr sz="1200">
                <a:solidFill>
                  <a:srgbClr val="202124"/>
                </a:solidFill>
                <a:latin typeface="Consolas"/>
              </a:defRPr>
            </a:pPr>
            <a:r>
              <a:t>  print(cluster.description)</a:t>
            </a:r>
          </a:p>
          <a:p>
            <a:pPr>
              <a:spcBef>
                <a:spcPts val="0"/>
              </a:spcBef>
              <a:spcAft>
                <a:spcPts val="0"/>
              </a:spcAft>
              <a:defRPr sz="1200">
                <a:solidFill>
                  <a:srgbClr val="202124"/>
                </a:solidFill>
                <a:latin typeface="Consolas"/>
              </a:defRPr>
            </a:pPr>
            <a:r>
              <a:t>  print(f"Samples: {cluster.sample_count}")</a:t>
            </a:r>
          </a:p>
          <a:p>
            <a:pPr>
              <a:spcBef>
                <a:spcPts val="0"/>
              </a:spcBef>
              <a:spcAft>
                <a:spcPts val="0"/>
              </a:spcAft>
              <a:defRPr sz="1200">
                <a:solidFill>
                  <a:srgbClr val="202124"/>
                </a:solidFill>
                <a:latin typeface="Consolas"/>
              </a:defRPr>
            </a:pPr>
            <a:r>
              <a:t>  print(f"Avg score: {cluster.avg_score}")</a:t>
            </a:r>
          </a:p>
        </p:txBody>
      </p:sp>
      <p:sp>
        <p:nvSpPr>
          <p:cNvPr id="5" name="TextBox 4"/>
          <p:cNvSpPr txBox="1"/>
          <p:nvPr/>
        </p:nvSpPr>
        <p:spPr>
          <a:xfrm>
            <a:off x="731520" y="4480560"/>
            <a:ext cx="5029200" cy="731520"/>
          </a:xfrm>
          <a:prstGeom prst="rect">
            <a:avLst/>
          </a:prstGeom>
          <a:noFill/>
        </p:spPr>
        <p:txBody>
          <a:bodyPr wrap="square">
            <a:spAutoFit/>
          </a:bodyPr>
          <a:lstStyle/>
          <a:p>
            <a:pPr algn="l">
              <a:defRPr sz="1400" b="0">
                <a:solidFill>
                  <a:srgbClr val="202124"/>
                </a:solidFill>
                <a:latin typeface="Calibri"/>
              </a:defRPr>
            </a:pPr>
            <a:r>
              <a:t>Groups similar failures by semantic similarity — surface systemic issues instead of debugging one trace at a time</a:t>
            </a:r>
          </a:p>
        </p:txBody>
      </p:sp>
      <p:sp>
        <p:nvSpPr>
          <p:cNvPr id="6" name="Rounded Rectangle 5"/>
          <p:cNvSpPr/>
          <p:nvPr/>
        </p:nvSpPr>
        <p:spPr>
          <a:xfrm>
            <a:off x="6400800" y="1188720"/>
            <a:ext cx="5029200" cy="182880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Failure Clusters</a:t>
            </a:r>
          </a:p>
          <a:p>
            <a:pPr>
              <a:spcBef>
                <a:spcPts val="600"/>
              </a:spcBef>
              <a:defRPr sz="1300">
                <a:solidFill>
                  <a:srgbClr val="5F6368"/>
                </a:solidFill>
                <a:latin typeface="Calibri"/>
              </a:defRPr>
            </a:pPr>
            <a:r>
              <a:t>Semantic grouping of eval failures into themes: tool misuse, routing errors, policy violations. Each cluster includes sample count, avg score, and representative examples.</a:t>
            </a:r>
          </a:p>
        </p:txBody>
      </p:sp>
      <p:sp>
        <p:nvSpPr>
          <p:cNvPr id="7" name="Rounded Rectangle 6"/>
          <p:cNvSpPr/>
          <p:nvPr/>
        </p:nvSpPr>
        <p:spPr>
          <a:xfrm>
            <a:off x="6400800" y="3291840"/>
            <a:ext cx="5029200" cy="1828800"/>
          </a:xfrm>
          <a:prstGeom prst="roundRect">
            <a:avLst/>
          </a:prstGeom>
          <a:solidFill>
            <a:srgbClr val="FFFFFF"/>
          </a:solidFill>
          <a:ln w="25400">
            <a:solidFill>
              <a:srgbClr val="D93025"/>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D93025"/>
                </a:solidFill>
                <a:latin typeface="Calibri"/>
              </a:defRPr>
            </a:pPr>
            <a:r>
              <a:t>Quality Alerts</a:t>
            </a:r>
          </a:p>
          <a:p>
            <a:pPr>
              <a:spcBef>
                <a:spcPts val="600"/>
              </a:spcBef>
              <a:defRPr sz="1300">
                <a:solidFill>
                  <a:srgbClr val="5F6368"/>
                </a:solidFill>
                <a:latin typeface="Calibri"/>
              </a:defRPr>
            </a:pPr>
            <a:r>
              <a:t>Cloud Monitoring alert policies fire when eval scores drop below threshold. 10-minute aggregation window with custom metric: agent_eval/{metric_name}.</a:t>
            </a:r>
          </a:p>
        </p:txBody>
      </p:sp>
      <p:sp>
        <p:nvSpPr>
          <p:cNvPr id="8" name="TextBox 7"/>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https://github.com/jswortz/geap-tour/src/eval/failure_clusters.py</a:t>
            </a:r>
          </a:p>
        </p:txBody>
      </p:sp>
      <p:sp>
        <p:nvSpPr>
          <p:cNvPr id="9" name="TextBox 8"/>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200" b="1">
                <a:solidFill>
                  <a:srgbClr val="FFFFFF"/>
                </a:solidFill>
                <a:latin typeface="Calibri"/>
              </a:defRPr>
            </a:pPr>
            <a:r>
              <a:t>Console: Cloud Trace</a:t>
            </a:r>
          </a:p>
        </p:txBody>
      </p:sp>
      <p:pic>
        <p:nvPicPr>
          <p:cNvPr id="3" name="Picture 2" descr="session2_cloud_trace.png"/>
          <p:cNvPicPr>
            <a:picLocks noChangeAspect="1"/>
          </p:cNvPicPr>
          <p:nvPr/>
        </p:nvPicPr>
        <p:blipFill>
          <a:blip r:embed="rId2"/>
          <a:stretch>
            <a:fillRect/>
          </a:stretch>
        </p:blipFill>
        <p:spPr>
          <a:xfrm>
            <a:off x="731520" y="1188720"/>
            <a:ext cx="10515600" cy="6646398"/>
          </a:xfrm>
          <a:prstGeom prst="rect">
            <a:avLst/>
          </a:prstGeom>
        </p:spPr>
      </p:pic>
      <p:sp>
        <p:nvSpPr>
          <p:cNvPr id="4" name="TextBox 3"/>
          <p:cNvSpPr txBox="1"/>
          <p:nvPr/>
        </p:nvSpPr>
        <p:spPr>
          <a:xfrm>
            <a:off x="6400800" y="6309360"/>
            <a:ext cx="3657600" cy="274320"/>
          </a:xfrm>
          <a:prstGeom prst="rect">
            <a:avLst/>
          </a:prstGeom>
          <a:noFill/>
        </p:spPr>
        <p:txBody>
          <a:bodyPr wrap="square">
            <a:spAutoFit/>
          </a:bodyPr>
          <a:lstStyle/>
          <a:p>
            <a:pPr algn="l"/>
            <a:r>
              <a:rPr sz="1000">
                <a:solidFill>
                  <a:srgbClr val="AAAAAA"/>
                </a:solidFill>
                <a:latin typeface="Calibri"/>
                <a:hlinkClick r:id="rId3"/>
              </a:rPr>
              <a:t>Open in Cloud Console</a:t>
            </a:r>
          </a:p>
        </p:txBody>
      </p:sp>
      <p:sp>
        <p:nvSpPr>
          <p:cNvPr id="5" name="TextBox 4"/>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CI/CD — Simulated Eval Gate</a:t>
            </a:r>
          </a:p>
        </p:txBody>
      </p:sp>
      <p:pic>
        <p:nvPicPr>
          <p:cNvPr id="3" name="Picture 2" descr="06_ci_cd_flow.png"/>
          <p:cNvPicPr>
            <a:picLocks noChangeAspect="1"/>
          </p:cNvPicPr>
          <p:nvPr/>
        </p:nvPicPr>
        <p:blipFill>
          <a:blip r:embed="rId2"/>
          <a:stretch>
            <a:fillRect/>
          </a:stretch>
        </p:blipFill>
        <p:spPr>
          <a:xfrm>
            <a:off x="457200" y="1188720"/>
            <a:ext cx="5486400" cy="3062177"/>
          </a:xfrm>
          <a:prstGeom prst="rect">
            <a:avLst/>
          </a:prstGeom>
        </p:spPr>
      </p:pic>
      <p:sp>
        <p:nvSpPr>
          <p:cNvPr id="4" name="TextBox 3"/>
          <p:cNvSpPr txBox="1"/>
          <p:nvPr/>
        </p:nvSpPr>
        <p:spPr>
          <a:xfrm>
            <a:off x="6400800" y="1188720"/>
            <a:ext cx="5029200" cy="365760"/>
          </a:xfrm>
          <a:prstGeom prst="rect">
            <a:avLst/>
          </a:prstGeom>
          <a:noFill/>
        </p:spPr>
        <p:txBody>
          <a:bodyPr wrap="square">
            <a:spAutoFit/>
          </a:bodyPr>
          <a:lstStyle/>
          <a:p>
            <a:pPr algn="l">
              <a:defRPr sz="2200" b="1">
                <a:solidFill>
                  <a:srgbClr val="1A73E8"/>
                </a:solidFill>
                <a:latin typeface="Calibri"/>
              </a:defRPr>
            </a:pPr>
            <a:r>
              <a:t>GitHub Actions Workflow</a:t>
            </a:r>
          </a:p>
        </p:txBody>
      </p:sp>
      <p:sp>
        <p:nvSpPr>
          <p:cNvPr id="5" name="TextBox 4"/>
          <p:cNvSpPr txBox="1"/>
          <p:nvPr/>
        </p:nvSpPr>
        <p:spPr>
          <a:xfrm>
            <a:off x="6400800" y="1737360"/>
            <a:ext cx="5029200" cy="548640"/>
          </a:xfrm>
          <a:prstGeom prst="rect">
            <a:avLst/>
          </a:prstGeom>
          <a:noFill/>
        </p:spPr>
        <p:txBody>
          <a:bodyPr wrap="square">
            <a:spAutoFit/>
          </a:bodyPr>
          <a:lstStyle/>
          <a:p>
            <a:pPr algn="l">
              <a:defRPr sz="1600" b="0">
                <a:solidFill>
                  <a:srgbClr val="1A73E8"/>
                </a:solidFill>
                <a:latin typeface="Calibri"/>
              </a:defRPr>
            </a:pPr>
            <a:r>
              <a:t>PR Opened  →  Generate Scenarios  →  Run Inference  →  Evaluate  →  Score ≥ 3.0?</a:t>
            </a:r>
          </a:p>
        </p:txBody>
      </p:sp>
      <p:sp>
        <p:nvSpPr>
          <p:cNvPr id="6" name="TextBox 5"/>
          <p:cNvSpPr txBox="1"/>
          <p:nvPr/>
        </p:nvSpPr>
        <p:spPr>
          <a:xfrm>
            <a:off x="6400800" y="2743200"/>
            <a:ext cx="5029200" cy="914400"/>
          </a:xfrm>
          <a:prstGeom prst="rect">
            <a:avLst/>
          </a:prstGeom>
          <a:noFill/>
        </p:spPr>
        <p:txBody>
          <a:bodyPr wrap="square">
            <a:spAutoFit/>
          </a:bodyPr>
          <a:lstStyle/>
          <a:p>
            <a:pPr algn="l">
              <a:defRPr sz="1800" b="0">
                <a:solidFill>
                  <a:srgbClr val="202124"/>
                </a:solidFill>
                <a:latin typeface="Calibri"/>
              </a:defRPr>
            </a:pPr>
            <a:r>
              <a:t>✅  Pass — Merge allowed</a:t>
            </a:r>
            <a:br/>
            <a:r>
              <a:t>❌  Fail — PR blocked with failure report</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Agent Optimization — GEPA Algorithm</a:t>
            </a:r>
          </a:p>
        </p:txBody>
      </p:sp>
      <p:sp>
        <p:nvSpPr>
          <p:cNvPr id="3" name="TextBox 2"/>
          <p:cNvSpPr txBox="1"/>
          <p:nvPr/>
        </p:nvSpPr>
        <p:spPr>
          <a:xfrm>
            <a:off x="731520" y="1188720"/>
            <a:ext cx="5029200" cy="2743200"/>
          </a:xfrm>
          <a:prstGeom prst="rect">
            <a:avLst/>
          </a:prstGeom>
          <a:noFill/>
        </p:spPr>
        <p:txBody>
          <a:bodyPr wrap="square">
            <a:spAutoFit/>
          </a:bodyPr>
          <a:lstStyle/>
          <a:p>
            <a:pPr>
              <a:spcAft>
                <a:spcPts val="800"/>
              </a:spcAft>
              <a:defRPr sz="2200" b="1">
                <a:solidFill>
                  <a:srgbClr val="1A73E8"/>
                </a:solidFill>
                <a:latin typeface="Calibri"/>
              </a:defRPr>
            </a:pPr>
            <a:r>
              <a:t>Gemini Evolutionary Prompt Algorithm</a:t>
            </a:r>
          </a:p>
          <a:p>
            <a:pPr>
              <a:spcBef>
                <a:spcPts val="600"/>
              </a:spcBef>
              <a:defRPr sz="1800">
                <a:solidFill>
                  <a:srgbClr val="202124"/>
                </a:solidFill>
                <a:latin typeface="Calibri"/>
              </a:defRPr>
            </a:pPr>
            <a:r>
              <a:t>Generate prompt variants using LLM mutation</a:t>
            </a:r>
          </a:p>
          <a:p>
            <a:pPr>
              <a:spcBef>
                <a:spcPts val="600"/>
              </a:spcBef>
              <a:defRPr sz="1800">
                <a:solidFill>
                  <a:srgbClr val="202124"/>
                </a:solidFill>
                <a:latin typeface="Calibri"/>
              </a:defRPr>
            </a:pPr>
            <a:r>
              <a:t>Evaluate each variant against test scenarios</a:t>
            </a:r>
          </a:p>
          <a:p>
            <a:pPr>
              <a:spcBef>
                <a:spcPts val="600"/>
              </a:spcBef>
              <a:defRPr sz="1800">
                <a:solidFill>
                  <a:srgbClr val="202124"/>
                </a:solidFill>
                <a:latin typeface="Calibri"/>
              </a:defRPr>
            </a:pPr>
            <a:r>
              <a:t>Select top performers based on eval scores</a:t>
            </a:r>
          </a:p>
          <a:p>
            <a:pPr>
              <a:spcBef>
                <a:spcPts val="600"/>
              </a:spcBef>
              <a:defRPr sz="1800">
                <a:solidFill>
                  <a:srgbClr val="202124"/>
                </a:solidFill>
                <a:latin typeface="Calibri"/>
              </a:defRPr>
            </a:pPr>
            <a:r>
              <a:t>Evolve over multiple generations</a:t>
            </a:r>
          </a:p>
        </p:txBody>
      </p:sp>
      <p:sp>
        <p:nvSpPr>
          <p:cNvPr id="4" name="TextBox 3"/>
          <p:cNvSpPr txBox="1"/>
          <p:nvPr/>
        </p:nvSpPr>
        <p:spPr>
          <a:xfrm>
            <a:off x="731520" y="4389120"/>
            <a:ext cx="5029200" cy="914400"/>
          </a:xfrm>
          <a:prstGeom prst="rect">
            <a:avLst/>
          </a:prstGeom>
          <a:noFill/>
        </p:spPr>
        <p:txBody>
          <a:bodyPr wrap="square">
            <a:spAutoFit/>
          </a:bodyPr>
          <a:lstStyle/>
          <a:p>
            <a:pPr algn="l">
              <a:defRPr sz="1800" b="0">
                <a:solidFill>
                  <a:srgbClr val="202124"/>
                </a:solidFill>
                <a:latin typeface="Calibri"/>
              </a:defRPr>
            </a:pPr>
            <a:r>
              <a:t>Result: Automatically discovers better agent instructions without manual prompt engineering</a:t>
            </a:r>
          </a:p>
        </p:txBody>
      </p:sp>
      <p:sp>
        <p:nvSpPr>
          <p:cNvPr id="5" name="TextBox 4"/>
          <p:cNvSpPr txBox="1"/>
          <p:nvPr/>
        </p:nvSpPr>
        <p:spPr>
          <a:xfrm>
            <a:off x="6400800" y="1005840"/>
            <a:ext cx="5029200" cy="365760"/>
          </a:xfrm>
          <a:prstGeom prst="rect">
            <a:avLst/>
          </a:prstGeom>
          <a:noFill/>
        </p:spPr>
        <p:txBody>
          <a:bodyPr wrap="square">
            <a:spAutoFit/>
          </a:bodyPr>
          <a:lstStyle/>
          <a:p>
            <a:pPr algn="l">
              <a:defRPr sz="2200" b="1">
                <a:solidFill>
                  <a:srgbClr val="1A73E8"/>
                </a:solidFill>
                <a:latin typeface="Calibri"/>
              </a:defRPr>
            </a:pPr>
            <a:r>
              <a:t>Configuration</a:t>
            </a:r>
          </a:p>
        </p:txBody>
      </p:sp>
      <p:sp>
        <p:nvSpPr>
          <p:cNvPr id="6" name="Rounded Rectangle 5"/>
          <p:cNvSpPr/>
          <p:nvPr/>
        </p:nvSpPr>
        <p:spPr>
          <a:xfrm>
            <a:off x="6400800" y="1463040"/>
            <a:ext cx="5029200" cy="32004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300">
                <a:solidFill>
                  <a:srgbClr val="202124"/>
                </a:solidFill>
                <a:latin typeface="Consolas"/>
              </a:defRPr>
            </a:pPr>
            <a:r>
              <a:t>optimizer = AgentOptimizer(</a:t>
            </a:r>
          </a:p>
          <a:p>
            <a:pPr>
              <a:spcBef>
                <a:spcPts val="0"/>
              </a:spcBef>
              <a:spcAft>
                <a:spcPts val="0"/>
              </a:spcAft>
              <a:defRPr sz="1300">
                <a:solidFill>
                  <a:srgbClr val="202124"/>
                </a:solidFill>
                <a:latin typeface="Consolas"/>
              </a:defRPr>
            </a:pPr>
            <a:r>
              <a:t>  agent=coordinator_agent,</a:t>
            </a:r>
          </a:p>
          <a:p>
            <a:pPr>
              <a:spcBef>
                <a:spcPts val="0"/>
              </a:spcBef>
              <a:spcAft>
                <a:spcPts val="0"/>
              </a:spcAft>
              <a:defRPr sz="1300">
                <a:solidFill>
                  <a:srgbClr val="202124"/>
                </a:solidFill>
                <a:latin typeface="Consolas"/>
              </a:defRPr>
            </a:pPr>
            <a:r>
              <a:t>  eval_dataset=eval_data,</a:t>
            </a:r>
          </a:p>
          <a:p>
            <a:pPr>
              <a:spcBef>
                <a:spcPts val="0"/>
              </a:spcBef>
              <a:spcAft>
                <a:spcPts val="0"/>
              </a:spcAft>
              <a:defRPr sz="1300">
                <a:solidFill>
                  <a:srgbClr val="202124"/>
                </a:solidFill>
                <a:latin typeface="Consolas"/>
              </a:defRPr>
            </a:pPr>
            <a:r>
              <a:t>  metrics=[</a:t>
            </a:r>
          </a:p>
          <a:p>
            <a:pPr>
              <a:spcBef>
                <a:spcPts val="0"/>
              </a:spcBef>
              <a:spcAft>
                <a:spcPts val="0"/>
              </a:spcAft>
              <a:defRPr sz="1300">
                <a:solidFill>
                  <a:srgbClr val="202124"/>
                </a:solidFill>
                <a:latin typeface="Consolas"/>
              </a:defRPr>
            </a:pPr>
            <a:r>
              <a:t>    "response_quality",</a:t>
            </a:r>
          </a:p>
          <a:p>
            <a:pPr>
              <a:spcBef>
                <a:spcPts val="0"/>
              </a:spcBef>
              <a:spcAft>
                <a:spcPts val="0"/>
              </a:spcAft>
              <a:defRPr sz="1300">
                <a:solidFill>
                  <a:srgbClr val="202124"/>
                </a:solidFill>
                <a:latin typeface="Consolas"/>
              </a:defRPr>
            </a:pPr>
            <a:r>
              <a:t>    "tool_selection",</a:t>
            </a:r>
          </a:p>
          <a:p>
            <a:pPr>
              <a:spcBef>
                <a:spcPts val="0"/>
              </a:spcBef>
              <a:spcAft>
                <a:spcPts val="0"/>
              </a:spcAft>
              <a:defRPr sz="1300">
                <a:solidFill>
                  <a:srgbClr val="202124"/>
                </a:solidFill>
                <a:latin typeface="Consolas"/>
              </a:defRPr>
            </a:pPr>
            <a:r>
              <a:t>    "safety"</a:t>
            </a:r>
          </a:p>
          <a:p>
            <a:pPr>
              <a:spcBef>
                <a:spcPts val="0"/>
              </a:spcBef>
              <a:spcAft>
                <a:spcPts val="0"/>
              </a:spcAft>
              <a:defRPr sz="1300">
                <a:solidFill>
                  <a:srgbClr val="202124"/>
                </a:solidFill>
                <a:latin typeface="Consolas"/>
              </a:defRPr>
            </a:pPr>
            <a:r>
              <a:t>  ],</a:t>
            </a:r>
          </a:p>
          <a:p>
            <a:pPr>
              <a:spcBef>
                <a:spcPts val="0"/>
              </a:spcBef>
              <a:spcAft>
                <a:spcPts val="0"/>
              </a:spcAft>
              <a:defRPr sz="1300">
                <a:solidFill>
                  <a:srgbClr val="202124"/>
                </a:solidFill>
                <a:latin typeface="Consolas"/>
              </a:defRPr>
            </a:pPr>
            <a:r>
              <a:t>  generations=5,</a:t>
            </a:r>
          </a:p>
          <a:p>
            <a:pPr>
              <a:spcBef>
                <a:spcPts val="0"/>
              </a:spcBef>
              <a:spcAft>
                <a:spcPts val="0"/>
              </a:spcAft>
              <a:defRPr sz="1300">
                <a:solidFill>
                  <a:srgbClr val="202124"/>
                </a:solidFill>
                <a:latin typeface="Consolas"/>
              </a:defRPr>
            </a:pPr>
            <a:r>
              <a:t>  population_size=4</a:t>
            </a:r>
          </a:p>
          <a:p>
            <a:pPr>
              <a:spcBef>
                <a:spcPts val="0"/>
              </a:spcBef>
              <a:spcAft>
                <a:spcPts val="0"/>
              </a:spcAft>
              <a:defRPr sz="1300">
                <a:solidFill>
                  <a:srgbClr val="202124"/>
                </a:solidFill>
                <a:latin typeface="Consolas"/>
              </a:defRPr>
            </a:pPr>
            <a:r>
              <a:t>)</a:t>
            </a:r>
          </a:p>
        </p:txBody>
      </p:sp>
      <p:sp>
        <p:nvSpPr>
          <p:cNvPr id="7" name="TextBox 6"/>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https://github.com/jswortz/geap-tour/src/optimize/run_optimize.py</a:t>
            </a:r>
          </a:p>
        </p:txBody>
      </p:sp>
      <p:sp>
        <p:nvSpPr>
          <p:cNvPr id="8" name="TextBox 7"/>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Multi-Model Router</a:t>
            </a:r>
          </a:p>
        </p:txBody>
      </p:sp>
      <p:sp>
        <p:nvSpPr>
          <p:cNvPr id="3" name="TextBox 2"/>
          <p:cNvSpPr txBox="1"/>
          <p:nvPr/>
        </p:nvSpPr>
        <p:spPr>
          <a:xfrm>
            <a:off x="731520" y="1005840"/>
            <a:ext cx="5029200" cy="365760"/>
          </a:xfrm>
          <a:prstGeom prst="rect">
            <a:avLst/>
          </a:prstGeom>
          <a:noFill/>
        </p:spPr>
        <p:txBody>
          <a:bodyPr wrap="square">
            <a:spAutoFit/>
          </a:bodyPr>
          <a:lstStyle/>
          <a:p>
            <a:pPr algn="l">
              <a:defRPr sz="2000" b="1">
                <a:solidFill>
                  <a:srgbClr val="1A73E8"/>
                </a:solidFill>
                <a:latin typeface="Calibri"/>
              </a:defRPr>
            </a:pPr>
            <a:r>
              <a:t>Complexity-Based Routing Table</a:t>
            </a:r>
          </a:p>
        </p:txBody>
      </p:sp>
      <p:graphicFrame>
        <p:nvGraphicFramePr>
          <p:cNvPr id="4" name="Table 3"/>
          <p:cNvGraphicFramePr>
            <a:graphicFrameLocks noGrp="1"/>
          </p:cNvGraphicFramePr>
          <p:nvPr/>
        </p:nvGraphicFramePr>
        <p:xfrm>
          <a:off x="731520" y="1463040"/>
          <a:ext cx="5029200" cy="2560320"/>
        </p:xfrm>
        <a:graphic>
          <a:graphicData uri="http://schemas.openxmlformats.org/drawingml/2006/table">
            <a:tbl>
              <a:tblPr firstRow="1" bandRow="1">
                <a:tableStyleId>{5C22544A-7EE6-4342-B048-85BDC9FD1C3A}</a:tableStyleId>
              </a:tblPr>
              <a:tblGrid>
                <a:gridCol w="1257300"/>
                <a:gridCol w="1257300"/>
                <a:gridCol w="1257300"/>
                <a:gridCol w="1257300"/>
              </a:tblGrid>
              <a:tr h="640080">
                <a:tc>
                  <a:txBody>
                    <a:bodyPr/>
                    <a:lstStyle/>
                    <a:p>
                      <a:pPr>
                        <a:defRPr sz="1300" b="1">
                          <a:solidFill>
                            <a:srgbClr val="FFFFFF"/>
                          </a:solidFill>
                          <a:latin typeface="Calibri"/>
                        </a:defRPr>
                      </a:pPr>
                      <a:r>
                        <a:t>Complexity</a:t>
                      </a:r>
                    </a:p>
                  </a:txBody>
                  <a:tcPr>
                    <a:solidFill>
                      <a:srgbClr val="1A73E8"/>
                    </a:solidFill>
                  </a:tcPr>
                </a:tc>
                <a:tc>
                  <a:txBody>
                    <a:bodyPr/>
                    <a:lstStyle/>
                    <a:p>
                      <a:pPr>
                        <a:defRPr sz="1300" b="1">
                          <a:solidFill>
                            <a:srgbClr val="FFFFFF"/>
                          </a:solidFill>
                          <a:latin typeface="Calibri"/>
                        </a:defRPr>
                      </a:pPr>
                      <a:r>
                        <a:t>Model</a:t>
                      </a:r>
                    </a:p>
                  </a:txBody>
                  <a:tcPr>
                    <a:solidFill>
                      <a:srgbClr val="1A73E8"/>
                    </a:solidFill>
                  </a:tcPr>
                </a:tc>
                <a:tc>
                  <a:txBody>
                    <a:bodyPr/>
                    <a:lstStyle/>
                    <a:p>
                      <a:pPr>
                        <a:defRPr sz="1300" b="1">
                          <a:solidFill>
                            <a:srgbClr val="FFFFFF"/>
                          </a:solidFill>
                          <a:latin typeface="Calibri"/>
                        </a:defRPr>
                      </a:pPr>
                      <a:r>
                        <a:t>Score Range</a:t>
                      </a:r>
                    </a:p>
                  </a:txBody>
                  <a:tcPr>
                    <a:solidFill>
                      <a:srgbClr val="1A73E8"/>
                    </a:solidFill>
                  </a:tcPr>
                </a:tc>
                <a:tc>
                  <a:txBody>
                    <a:bodyPr/>
                    <a:lstStyle/>
                    <a:p>
                      <a:pPr>
                        <a:defRPr sz="1300" b="1">
                          <a:solidFill>
                            <a:srgbClr val="FFFFFF"/>
                          </a:solidFill>
                          <a:latin typeface="Calibri"/>
                        </a:defRPr>
                      </a:pPr>
                      <a:r>
                        <a:t>Use Case</a:t>
                      </a:r>
                    </a:p>
                  </a:txBody>
                  <a:tcPr>
                    <a:solidFill>
                      <a:srgbClr val="1A73E8"/>
                    </a:solidFill>
                  </a:tcPr>
                </a:tc>
              </a:tr>
              <a:tr h="640080">
                <a:tc>
                  <a:txBody>
                    <a:bodyPr/>
                    <a:lstStyle/>
                    <a:p>
                      <a:pPr>
                        <a:defRPr sz="1200">
                          <a:solidFill>
                            <a:srgbClr val="202124"/>
                          </a:solidFill>
                          <a:latin typeface="Calibri"/>
                        </a:defRPr>
                      </a:pPr>
                      <a:r>
                        <a:t>Low</a:t>
                      </a:r>
                    </a:p>
                  </a:txBody>
                  <a:tcPr/>
                </a:tc>
                <a:tc>
                  <a:txBody>
                    <a:bodyPr/>
                    <a:lstStyle/>
                    <a:p>
                      <a:pPr>
                        <a:defRPr sz="1200">
                          <a:solidFill>
                            <a:srgbClr val="202124"/>
                          </a:solidFill>
                          <a:latin typeface="Calibri"/>
                        </a:defRPr>
                      </a:pPr>
                      <a:r>
                        <a:t>Flash Lite</a:t>
                      </a:r>
                    </a:p>
                  </a:txBody>
                  <a:tcPr/>
                </a:tc>
                <a:tc>
                  <a:txBody>
                    <a:bodyPr/>
                    <a:lstStyle/>
                    <a:p>
                      <a:pPr>
                        <a:defRPr sz="1200">
                          <a:solidFill>
                            <a:srgbClr val="202124"/>
                          </a:solidFill>
                          <a:latin typeface="Calibri"/>
                        </a:defRPr>
                      </a:pPr>
                      <a:r>
                        <a:t>&lt; 0.35</a:t>
                      </a:r>
                    </a:p>
                  </a:txBody>
                  <a:tcPr/>
                </a:tc>
                <a:tc>
                  <a:txBody>
                    <a:bodyPr/>
                    <a:lstStyle/>
                    <a:p>
                      <a:pPr>
                        <a:defRPr sz="1200">
                          <a:solidFill>
                            <a:srgbClr val="202124"/>
                          </a:solidFill>
                          <a:latin typeface="Calibri"/>
                        </a:defRPr>
                      </a:pPr>
                      <a:r>
                        <a:t>Simple lookups</a:t>
                      </a:r>
                    </a:p>
                  </a:txBody>
                  <a:tcPr/>
                </a:tc>
              </a:tr>
              <a:tr h="640080">
                <a:tc>
                  <a:txBody>
                    <a:bodyPr/>
                    <a:lstStyle/>
                    <a:p>
                      <a:pPr>
                        <a:defRPr sz="1200">
                          <a:solidFill>
                            <a:srgbClr val="202124"/>
                          </a:solidFill>
                          <a:latin typeface="Calibri"/>
                        </a:defRPr>
                      </a:pPr>
                      <a:r>
                        <a:t>Medium</a:t>
                      </a:r>
                    </a:p>
                  </a:txBody>
                  <a:tcPr>
                    <a:solidFill>
                      <a:srgbClr val="F8F9FA"/>
                    </a:solidFill>
                  </a:tcPr>
                </a:tc>
                <a:tc>
                  <a:txBody>
                    <a:bodyPr/>
                    <a:lstStyle/>
                    <a:p>
                      <a:pPr>
                        <a:defRPr sz="1200">
                          <a:solidFill>
                            <a:srgbClr val="202124"/>
                          </a:solidFill>
                          <a:latin typeface="Calibri"/>
                        </a:defRPr>
                      </a:pPr>
                      <a:r>
                        <a:t>Gemini Flash</a:t>
                      </a:r>
                    </a:p>
                  </a:txBody>
                  <a:tcPr>
                    <a:solidFill>
                      <a:srgbClr val="F8F9FA"/>
                    </a:solidFill>
                  </a:tcPr>
                </a:tc>
                <a:tc>
                  <a:txBody>
                    <a:bodyPr/>
                    <a:lstStyle/>
                    <a:p>
                      <a:pPr>
                        <a:defRPr sz="1200">
                          <a:solidFill>
                            <a:srgbClr val="202124"/>
                          </a:solidFill>
                          <a:latin typeface="Calibri"/>
                        </a:defRPr>
                      </a:pPr>
                      <a:r>
                        <a:t>0.35 – 0.64</a:t>
                      </a:r>
                    </a:p>
                  </a:txBody>
                  <a:tcPr>
                    <a:solidFill>
                      <a:srgbClr val="F8F9FA"/>
                    </a:solidFill>
                  </a:tcPr>
                </a:tc>
                <a:tc>
                  <a:txBody>
                    <a:bodyPr/>
                    <a:lstStyle/>
                    <a:p>
                      <a:pPr>
                        <a:defRPr sz="1200">
                          <a:solidFill>
                            <a:srgbClr val="202124"/>
                          </a:solidFill>
                          <a:latin typeface="Calibri"/>
                        </a:defRPr>
                      </a:pPr>
                      <a:r>
                        <a:t>Multi-step queries</a:t>
                      </a:r>
                    </a:p>
                  </a:txBody>
                  <a:tcPr>
                    <a:solidFill>
                      <a:srgbClr val="F8F9FA"/>
                    </a:solidFill>
                  </a:tcPr>
                </a:tc>
              </a:tr>
              <a:tr h="640080">
                <a:tc>
                  <a:txBody>
                    <a:bodyPr/>
                    <a:lstStyle/>
                    <a:p>
                      <a:pPr>
                        <a:defRPr sz="1200">
                          <a:solidFill>
                            <a:srgbClr val="202124"/>
                          </a:solidFill>
                          <a:latin typeface="Calibri"/>
                        </a:defRPr>
                      </a:pPr>
                      <a:r>
                        <a:t>High</a:t>
                      </a:r>
                    </a:p>
                  </a:txBody>
                  <a:tcPr/>
                </a:tc>
                <a:tc>
                  <a:txBody>
                    <a:bodyPr/>
                    <a:lstStyle/>
                    <a:p>
                      <a:pPr>
                        <a:defRPr sz="1200">
                          <a:solidFill>
                            <a:srgbClr val="202124"/>
                          </a:solidFill>
                          <a:latin typeface="Calibri"/>
                        </a:defRPr>
                      </a:pPr>
                      <a:r>
                        <a:t>Claude Opus</a:t>
                      </a:r>
                    </a:p>
                  </a:txBody>
                  <a:tcPr/>
                </a:tc>
                <a:tc>
                  <a:txBody>
                    <a:bodyPr/>
                    <a:lstStyle/>
                    <a:p>
                      <a:pPr>
                        <a:defRPr sz="1200">
                          <a:solidFill>
                            <a:srgbClr val="202124"/>
                          </a:solidFill>
                          <a:latin typeface="Calibri"/>
                        </a:defRPr>
                      </a:pPr>
                      <a:r>
                        <a:t>≥ 0.65</a:t>
                      </a:r>
                    </a:p>
                  </a:txBody>
                  <a:tcPr/>
                </a:tc>
                <a:tc>
                  <a:txBody>
                    <a:bodyPr/>
                    <a:lstStyle/>
                    <a:p>
                      <a:pPr>
                        <a:defRPr sz="1200">
                          <a:solidFill>
                            <a:srgbClr val="202124"/>
                          </a:solidFill>
                          <a:latin typeface="Calibri"/>
                        </a:defRPr>
                      </a:pPr>
                      <a:r>
                        <a:t>Deep analysis</a:t>
                      </a:r>
                    </a:p>
                  </a:txBody>
                  <a:tcPr/>
                </a:tc>
              </a:tr>
            </a:tbl>
          </a:graphicData>
        </a:graphic>
      </p:graphicFrame>
      <p:sp>
        <p:nvSpPr>
          <p:cNvPr id="5" name="TextBox 4"/>
          <p:cNvSpPr txBox="1"/>
          <p:nvPr/>
        </p:nvSpPr>
        <p:spPr>
          <a:xfrm>
            <a:off x="731520" y="4297680"/>
            <a:ext cx="5029200" cy="914400"/>
          </a:xfrm>
          <a:prstGeom prst="rect">
            <a:avLst/>
          </a:prstGeom>
          <a:noFill/>
        </p:spPr>
        <p:txBody>
          <a:bodyPr wrap="square">
            <a:spAutoFit/>
          </a:bodyPr>
          <a:lstStyle/>
          <a:p>
            <a:pPr algn="l">
              <a:defRPr sz="1600" b="0">
                <a:solidFill>
                  <a:srgbClr val="5F6368"/>
                </a:solidFill>
                <a:latin typeface="Calibri"/>
              </a:defRPr>
            </a:pPr>
            <a:r>
              <a:t>Cost savings: 60-80% by routing simple queries to lightweight models</a:t>
            </a:r>
          </a:p>
        </p:txBody>
      </p:sp>
      <p:sp>
        <p:nvSpPr>
          <p:cNvPr id="6" name="TextBox 5"/>
          <p:cNvSpPr txBox="1"/>
          <p:nvPr/>
        </p:nvSpPr>
        <p:spPr>
          <a:xfrm>
            <a:off x="6400800" y="1005840"/>
            <a:ext cx="5029200" cy="365760"/>
          </a:xfrm>
          <a:prstGeom prst="rect">
            <a:avLst/>
          </a:prstGeom>
          <a:noFill/>
        </p:spPr>
        <p:txBody>
          <a:bodyPr wrap="square">
            <a:spAutoFit/>
          </a:bodyPr>
          <a:lstStyle/>
          <a:p>
            <a:pPr algn="l">
              <a:defRPr sz="2000" b="1">
                <a:solidFill>
                  <a:srgbClr val="1A73E8"/>
                </a:solidFill>
                <a:latin typeface="Calibri"/>
              </a:defRPr>
            </a:pPr>
            <a:r>
              <a:t>before_agent_callback</a:t>
            </a:r>
          </a:p>
        </p:txBody>
      </p:sp>
      <p:sp>
        <p:nvSpPr>
          <p:cNvPr id="7" name="Rounded Rectangle 6"/>
          <p:cNvSpPr/>
          <p:nvPr/>
        </p:nvSpPr>
        <p:spPr>
          <a:xfrm>
            <a:off x="6400800" y="1463040"/>
            <a:ext cx="5029200" cy="36576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200">
                <a:solidFill>
                  <a:srgbClr val="202124"/>
                </a:solidFill>
                <a:latin typeface="Consolas"/>
              </a:defRPr>
            </a:pPr>
            <a:r>
              <a:t>async def complexity_router_callback(</a:t>
            </a:r>
          </a:p>
          <a:p>
            <a:pPr>
              <a:spcBef>
                <a:spcPts val="0"/>
              </a:spcBef>
              <a:spcAft>
                <a:spcPts val="0"/>
              </a:spcAft>
              <a:defRPr sz="1200">
                <a:solidFill>
                  <a:srgbClr val="202124"/>
                </a:solidFill>
                <a:latin typeface="Consolas"/>
              </a:defRPr>
            </a:pPr>
            <a:r>
              <a:t>    callback_context=None, **kwargs</a:t>
            </a:r>
          </a:p>
          <a:p>
            <a:pPr>
              <a:spcBef>
                <a:spcPts val="0"/>
              </a:spcBef>
              <a:spcAft>
                <a:spcPts val="0"/>
              </a:spcAft>
              <a:defRPr sz="1200">
                <a:solidFill>
                  <a:srgbClr val="202124"/>
                </a:solidFill>
                <a:latin typeface="Consolas"/>
              </a:defRPr>
            </a:pPr>
            <a:r>
              <a:t>):</a:t>
            </a:r>
          </a:p>
          <a:p>
            <a:pPr>
              <a:spcBef>
                <a:spcPts val="0"/>
              </a:spcBef>
              <a:spcAft>
                <a:spcPts val="0"/>
              </a:spcAft>
              <a:defRPr sz="1200">
                <a:solidFill>
                  <a:srgbClr val="202124"/>
                </a:solidFill>
                <a:latin typeface="Consolas"/>
              </a:defRPr>
            </a:pPr>
            <a:r>
              <a:t>    user_message = ""</a:t>
            </a:r>
          </a:p>
          <a:p>
            <a:pPr>
              <a:spcBef>
                <a:spcPts val="0"/>
              </a:spcBef>
              <a:spcAft>
                <a:spcPts val="0"/>
              </a:spcAft>
              <a:defRPr sz="1200">
                <a:solidFill>
                  <a:srgbClr val="202124"/>
                </a:solidFill>
                <a:latin typeface="Consolas"/>
              </a:defRPr>
            </a:pPr>
            <a:r>
              <a:t>    if callback_context.user_content:</a:t>
            </a:r>
          </a:p>
          <a:p>
            <a:pPr>
              <a:spcBef>
                <a:spcPts val="0"/>
              </a:spcBef>
              <a:spcAft>
                <a:spcPts val="0"/>
              </a:spcAft>
              <a:defRPr sz="1200">
                <a:solidFill>
                  <a:srgbClr val="202124"/>
                </a:solidFill>
                <a:latin typeface="Consolas"/>
              </a:defRPr>
            </a:pPr>
            <a:r>
              <a:t>        for part in callback_context.user_content.parts:</a:t>
            </a:r>
          </a:p>
          <a:p>
            <a:pPr>
              <a:spcBef>
                <a:spcPts val="0"/>
              </a:spcBef>
              <a:spcAft>
                <a:spcPts val="0"/>
              </a:spcAft>
              <a:defRPr sz="1200">
                <a:solidFill>
                  <a:srgbClr val="202124"/>
                </a:solidFill>
                <a:latin typeface="Consolas"/>
              </a:defRPr>
            </a:pPr>
            <a:r>
              <a:t>            if part.text:</a:t>
            </a:r>
          </a:p>
          <a:p>
            <a:pPr>
              <a:spcBef>
                <a:spcPts val="0"/>
              </a:spcBef>
              <a:spcAft>
                <a:spcPts val="0"/>
              </a:spcAft>
              <a:defRPr sz="1200">
                <a:solidFill>
                  <a:srgbClr val="202124"/>
                </a:solidFill>
                <a:latin typeface="Consolas"/>
              </a:defRPr>
            </a:pPr>
            <a:r>
              <a:t>                user_message += part.text</a:t>
            </a:r>
          </a:p>
          <a:p>
            <a:pPr>
              <a:spcBef>
                <a:spcPts val="0"/>
              </a:spcBef>
              <a:spcAft>
                <a:spcPts val="0"/>
              </a:spcAft>
              <a:defRPr sz="1200">
                <a:solidFill>
                  <a:srgbClr val="202124"/>
                </a:solidFill>
                <a:latin typeface="Consolas"/>
              </a:defRPr>
            </a:pPr>
          </a:p>
          <a:p>
            <a:pPr>
              <a:spcBef>
                <a:spcPts val="0"/>
              </a:spcBef>
              <a:spcAft>
                <a:spcPts val="0"/>
              </a:spcAft>
              <a:defRPr sz="1200">
                <a:solidFill>
                  <a:srgbClr val="202124"/>
                </a:solidFill>
                <a:latin typeface="Consolas"/>
              </a:defRPr>
            </a:pPr>
            <a:r>
              <a:t>    result = await classify_complexity(user_message)</a:t>
            </a:r>
          </a:p>
          <a:p>
            <a:pPr>
              <a:spcBef>
                <a:spcPts val="0"/>
              </a:spcBef>
              <a:spcAft>
                <a:spcPts val="0"/>
              </a:spcAft>
              <a:defRPr sz="1200">
                <a:solidFill>
                  <a:srgbClr val="202124"/>
                </a:solidFill>
                <a:latin typeface="Consolas"/>
              </a:defRPr>
            </a:pPr>
            <a:r>
              <a:t>    ctx = callback_context.state</a:t>
            </a:r>
          </a:p>
          <a:p>
            <a:pPr>
              <a:spcBef>
                <a:spcPts val="0"/>
              </a:spcBef>
              <a:spcAft>
                <a:spcPts val="0"/>
              </a:spcAft>
              <a:defRPr sz="1200">
                <a:solidFill>
                  <a:srgbClr val="202124"/>
                </a:solidFill>
                <a:latin typeface="Consolas"/>
              </a:defRPr>
            </a:pPr>
            <a:r>
              <a:t>    ctx["complexity_level"] = result.level</a:t>
            </a:r>
          </a:p>
          <a:p>
            <a:pPr>
              <a:spcBef>
                <a:spcPts val="0"/>
              </a:spcBef>
              <a:spcAft>
                <a:spcPts val="0"/>
              </a:spcAft>
              <a:defRPr sz="1200">
                <a:solidFill>
                  <a:srgbClr val="202124"/>
                </a:solidFill>
                <a:latin typeface="Consolas"/>
              </a:defRPr>
            </a:pPr>
            <a:r>
              <a:t>    ctx["complexity_score"] = result.score</a:t>
            </a:r>
          </a:p>
          <a:p>
            <a:pPr>
              <a:spcBef>
                <a:spcPts val="0"/>
              </a:spcBef>
              <a:spcAft>
                <a:spcPts val="0"/>
              </a:spcAft>
              <a:defRPr sz="1200">
                <a:solidFill>
                  <a:srgbClr val="202124"/>
                </a:solidFill>
                <a:latin typeface="Consolas"/>
              </a:defRPr>
            </a:pPr>
            <a:r>
              <a:t>    return None</a:t>
            </a:r>
          </a:p>
        </p:txBody>
      </p:sp>
      <p:sp>
        <p:nvSpPr>
          <p:cNvPr id="8" name="TextBox 7"/>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https://github.com/jswortz/geap-tour/src/router/agents.py</a:t>
            </a:r>
          </a:p>
        </p:txBody>
      </p:sp>
      <p:sp>
        <p:nvSpPr>
          <p:cNvPr id="9" name="TextBox 8"/>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Memory Bank &amp; User Namespaces</a:t>
            </a:r>
          </a:p>
        </p:txBody>
      </p:sp>
      <p:sp>
        <p:nvSpPr>
          <p:cNvPr id="3" name="Rounded Rectangle 2"/>
          <p:cNvSpPr/>
          <p:nvPr/>
        </p:nvSpPr>
        <p:spPr>
          <a:xfrm>
            <a:off x="731520" y="1188720"/>
            <a:ext cx="5029200" cy="384048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200">
                <a:solidFill>
                  <a:srgbClr val="202124"/>
                </a:solidFill>
                <a:latin typeface="Consolas"/>
              </a:defRPr>
            </a:pPr>
            <a:r>
              <a:t>coordinator_agent = LlmAgent(</a:t>
            </a:r>
          </a:p>
          <a:p>
            <a:pPr>
              <a:spcBef>
                <a:spcPts val="0"/>
              </a:spcBef>
              <a:spcAft>
                <a:spcPts val="0"/>
              </a:spcAft>
              <a:defRPr sz="1200">
                <a:solidFill>
                  <a:srgbClr val="202124"/>
                </a:solidFill>
                <a:latin typeface="Consolas"/>
              </a:defRPr>
            </a:pPr>
            <a:r>
              <a:t>    model=AGENT_MODEL,</a:t>
            </a:r>
          </a:p>
          <a:p>
            <a:pPr>
              <a:spcBef>
                <a:spcPts val="0"/>
              </a:spcBef>
              <a:spcAft>
                <a:spcPts val="0"/>
              </a:spcAft>
              <a:defRPr sz="1200">
                <a:solidFill>
                  <a:srgbClr val="202124"/>
                </a:solidFill>
                <a:latin typeface="Consolas"/>
              </a:defRPr>
            </a:pPr>
            <a:r>
              <a:t>    name="coordinator_agent",</a:t>
            </a:r>
          </a:p>
          <a:p>
            <a:pPr>
              <a:spcBef>
                <a:spcPts val="0"/>
              </a:spcBef>
              <a:spcAft>
                <a:spcPts val="0"/>
              </a:spcAft>
              <a:defRPr sz="1200">
                <a:solidFill>
                  <a:srgbClr val="202124"/>
                </a:solidFill>
                <a:latin typeface="Consolas"/>
              </a:defRPr>
            </a:pPr>
            <a:r>
              <a:t>    tools=[</a:t>
            </a:r>
          </a:p>
          <a:p>
            <a:pPr>
              <a:spcBef>
                <a:spcPts val="0"/>
              </a:spcBef>
              <a:spcAft>
                <a:spcPts val="0"/>
              </a:spcAft>
              <a:defRPr sz="1200">
                <a:solidFill>
                  <a:srgbClr val="202124"/>
                </a:solidFill>
                <a:latin typeface="Consolas"/>
              </a:defRPr>
            </a:pPr>
            <a:r>
              <a:t>        get_mcp_tools(SEARCH_MCP_SERVER),</a:t>
            </a:r>
          </a:p>
          <a:p>
            <a:pPr>
              <a:spcBef>
                <a:spcPts val="0"/>
              </a:spcBef>
              <a:spcAft>
                <a:spcPts val="0"/>
              </a:spcAft>
              <a:defRPr sz="1200">
                <a:solidFill>
                  <a:srgbClr val="202124"/>
                </a:solidFill>
                <a:latin typeface="Consolas"/>
              </a:defRPr>
            </a:pPr>
            <a:r>
              <a:t>        # Retrieves relevant memories at</a:t>
            </a:r>
          </a:p>
          <a:p>
            <a:pPr>
              <a:spcBef>
                <a:spcPts val="0"/>
              </a:spcBef>
              <a:spcAft>
                <a:spcPts val="0"/>
              </a:spcAft>
              <a:defRPr sz="1200">
                <a:solidFill>
                  <a:srgbClr val="202124"/>
                </a:solidFill>
                <a:latin typeface="Consolas"/>
              </a:defRPr>
            </a:pPr>
            <a:r>
              <a:t>        # turn start, injects into system</a:t>
            </a:r>
          </a:p>
          <a:p>
            <a:pPr>
              <a:spcBef>
                <a:spcPts val="0"/>
              </a:spcBef>
              <a:spcAft>
                <a:spcPts val="0"/>
              </a:spcAft>
              <a:defRPr sz="1200">
                <a:solidFill>
                  <a:srgbClr val="202124"/>
                </a:solidFill>
                <a:latin typeface="Consolas"/>
              </a:defRPr>
            </a:pPr>
            <a:r>
              <a:t>        # instruction</a:t>
            </a:r>
          </a:p>
          <a:p>
            <a:pPr>
              <a:spcBef>
                <a:spcPts val="0"/>
              </a:spcBef>
              <a:spcAft>
                <a:spcPts val="0"/>
              </a:spcAft>
              <a:defRPr sz="1200">
                <a:solidFill>
                  <a:srgbClr val="202124"/>
                </a:solidFill>
                <a:latin typeface="Consolas"/>
              </a:defRPr>
            </a:pPr>
            <a:r>
              <a:t>        PreloadMemoryTool(),</a:t>
            </a:r>
          </a:p>
          <a:p>
            <a:pPr>
              <a:spcBef>
                <a:spcPts val="0"/>
              </a:spcBef>
              <a:spcAft>
                <a:spcPts val="0"/>
              </a:spcAft>
              <a:defRPr sz="1200">
                <a:solidFill>
                  <a:srgbClr val="202124"/>
                </a:solidFill>
                <a:latin typeface="Consolas"/>
              </a:defRPr>
            </a:pPr>
            <a:r>
              <a:t>    ],</a:t>
            </a:r>
          </a:p>
          <a:p>
            <a:pPr>
              <a:spcBef>
                <a:spcPts val="0"/>
              </a:spcBef>
              <a:spcAft>
                <a:spcPts val="0"/>
              </a:spcAft>
              <a:defRPr sz="1200">
                <a:solidFill>
                  <a:srgbClr val="202124"/>
                </a:solidFill>
                <a:latin typeface="Consolas"/>
              </a:defRPr>
            </a:pPr>
            <a:r>
              <a:t>    after_agent_callback=</a:t>
            </a:r>
          </a:p>
          <a:p>
            <a:pPr>
              <a:spcBef>
                <a:spcPts val="0"/>
              </a:spcBef>
              <a:spcAft>
                <a:spcPts val="0"/>
              </a:spcAft>
              <a:defRPr sz="1200">
                <a:solidFill>
                  <a:srgbClr val="202124"/>
                </a:solidFill>
                <a:latin typeface="Consolas"/>
              </a:defRPr>
            </a:pPr>
            <a:r>
              <a:t>        save_memories_callback,</a:t>
            </a:r>
          </a:p>
          <a:p>
            <a:pPr>
              <a:spcBef>
                <a:spcPts val="0"/>
              </a:spcBef>
              <a:spcAft>
                <a:spcPts val="0"/>
              </a:spcAft>
              <a:defRPr sz="1200">
                <a:solidFill>
                  <a:srgbClr val="202124"/>
                </a:solidFill>
                <a:latin typeface="Consolas"/>
              </a:defRPr>
            </a:pPr>
            <a:r>
              <a:t>)</a:t>
            </a:r>
          </a:p>
          <a:p>
            <a:pPr>
              <a:spcBef>
                <a:spcPts val="0"/>
              </a:spcBef>
              <a:spcAft>
                <a:spcPts val="0"/>
              </a:spcAft>
              <a:defRPr sz="1200">
                <a:solidFill>
                  <a:srgbClr val="202124"/>
                </a:solidFill>
                <a:latin typeface="Consolas"/>
              </a:defRPr>
            </a:pPr>
          </a:p>
          <a:p>
            <a:pPr>
              <a:spcBef>
                <a:spcPts val="0"/>
              </a:spcBef>
              <a:spcAft>
                <a:spcPts val="0"/>
              </a:spcAft>
              <a:defRPr sz="1200">
                <a:solidFill>
                  <a:srgbClr val="202124"/>
                </a:solidFill>
                <a:latin typeface="Consolas"/>
              </a:defRPr>
            </a:pPr>
            <a:r>
              <a:t>async def save_memories_callback(ctx):</a:t>
            </a:r>
          </a:p>
          <a:p>
            <a:pPr>
              <a:spcBef>
                <a:spcPts val="0"/>
              </a:spcBef>
              <a:spcAft>
                <a:spcPts val="0"/>
              </a:spcAft>
              <a:defRPr sz="1200">
                <a:solidFill>
                  <a:srgbClr val="202124"/>
                </a:solidFill>
                <a:latin typeface="Consolas"/>
              </a:defRPr>
            </a:pPr>
            <a:r>
              <a:t>    await ctx.add_events_to_memory(</a:t>
            </a:r>
          </a:p>
          <a:p>
            <a:pPr>
              <a:spcBef>
                <a:spcPts val="0"/>
              </a:spcBef>
              <a:spcAft>
                <a:spcPts val="0"/>
              </a:spcAft>
              <a:defRPr sz="1200">
                <a:solidFill>
                  <a:srgbClr val="202124"/>
                </a:solidFill>
                <a:latin typeface="Consolas"/>
              </a:defRPr>
            </a:pPr>
            <a:r>
              <a:t>        events=ctx.session.events,</a:t>
            </a:r>
          </a:p>
          <a:p>
            <a:pPr>
              <a:spcBef>
                <a:spcPts val="0"/>
              </a:spcBef>
              <a:spcAft>
                <a:spcPts val="0"/>
              </a:spcAft>
              <a:defRPr sz="1200">
                <a:solidFill>
                  <a:srgbClr val="202124"/>
                </a:solidFill>
                <a:latin typeface="Consolas"/>
              </a:defRPr>
            </a:pPr>
            <a:r>
              <a:t>        custom_metadata={"wait_for_completion": True}</a:t>
            </a:r>
          </a:p>
          <a:p>
            <a:pPr>
              <a:spcBef>
                <a:spcPts val="0"/>
              </a:spcBef>
              <a:spcAft>
                <a:spcPts val="0"/>
              </a:spcAft>
              <a:defRPr sz="1200">
                <a:solidFill>
                  <a:srgbClr val="202124"/>
                </a:solidFill>
                <a:latin typeface="Consolas"/>
              </a:defRPr>
            </a:pPr>
            <a:r>
              <a:t>    )</a:t>
            </a:r>
          </a:p>
          <a:p>
            <a:pPr>
              <a:spcBef>
                <a:spcPts val="0"/>
              </a:spcBef>
              <a:spcAft>
                <a:spcPts val="0"/>
              </a:spcAft>
              <a:defRPr sz="1200">
                <a:solidFill>
                  <a:srgbClr val="202124"/>
                </a:solidFill>
                <a:latin typeface="Consolas"/>
              </a:defRPr>
            </a:pPr>
            <a:r>
              <a:t>    return None</a:t>
            </a:r>
          </a:p>
        </p:txBody>
      </p:sp>
      <p:sp>
        <p:nvSpPr>
          <p:cNvPr id="4" name="Rounded Rectangle 3"/>
          <p:cNvSpPr/>
          <p:nvPr/>
        </p:nvSpPr>
        <p:spPr>
          <a:xfrm>
            <a:off x="6400800" y="1188720"/>
            <a:ext cx="5029200" cy="182880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Memory Recall</a:t>
            </a:r>
          </a:p>
          <a:p>
            <a:pPr>
              <a:spcBef>
                <a:spcPts val="600"/>
              </a:spcBef>
              <a:defRPr sz="1300">
                <a:solidFill>
                  <a:srgbClr val="5F6368"/>
                </a:solidFill>
                <a:latin typeface="Calibri"/>
              </a:defRPr>
            </a:pPr>
            <a:r>
              <a:t>PreloadMemoryTool retrieves relevant memories at turn start and injects them into the system instruction — the agent has user context before it responds</a:t>
            </a:r>
          </a:p>
        </p:txBody>
      </p:sp>
      <p:sp>
        <p:nvSpPr>
          <p:cNvPr id="5" name="Rounded Rectangle 4"/>
          <p:cNvSpPr/>
          <p:nvPr/>
        </p:nvSpPr>
        <p:spPr>
          <a:xfrm>
            <a:off x="6400800" y="3291840"/>
            <a:ext cx="5029200" cy="182880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User Namespaces</a:t>
            </a:r>
          </a:p>
          <a:p>
            <a:pPr>
              <a:spcBef>
                <a:spcPts val="600"/>
              </a:spcBef>
              <a:defRPr sz="1300">
                <a:solidFill>
                  <a:srgbClr val="5F6368"/>
                </a:solidFill>
                <a:latin typeface="Calibri"/>
              </a:defRPr>
            </a:pPr>
            <a:r>
              <a:t>Memories are scoped to {user_id, app_name} — each user gets an isolated memory space with no cross-contamination</a:t>
            </a:r>
          </a:p>
        </p:txBody>
      </p:sp>
      <p:sp>
        <p:nvSpPr>
          <p:cNvPr id="6" name="TextBox 5"/>
          <p:cNvSpPr txBox="1"/>
          <p:nvPr/>
        </p:nvSpPr>
        <p:spPr>
          <a:xfrm>
            <a:off x="274320" y="630936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https://github.com/jswortz/geap-tour/src/agents/coordinator_agent.py</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600" b="1">
                <a:solidFill>
                  <a:srgbClr val="F9AB00"/>
                </a:solidFill>
                <a:latin typeface="Calibri"/>
              </a:defRPr>
            </a:pPr>
            <a:r>
              <a:t>Session 3</a:t>
            </a:r>
          </a:p>
        </p:txBody>
      </p:sp>
      <p:sp>
        <p:nvSpPr>
          <p:cNvPr id="3" name="TextBox 2"/>
          <p:cNvSpPr txBox="1"/>
          <p:nvPr/>
        </p:nvSpPr>
        <p:spPr>
          <a:xfrm>
            <a:off x="731520" y="1828800"/>
            <a:ext cx="10058400" cy="1371600"/>
          </a:xfrm>
          <a:prstGeom prst="rect">
            <a:avLst/>
          </a:prstGeom>
          <a:noFill/>
        </p:spPr>
        <p:txBody>
          <a:bodyPr wrap="square">
            <a:spAutoFit/>
          </a:bodyPr>
          <a:lstStyle/>
          <a:p>
            <a:pPr algn="l">
              <a:defRPr sz="5200" b="1">
                <a:solidFill>
                  <a:srgbClr val="FFFFFF"/>
                </a:solidFill>
                <a:latin typeface="Calibri"/>
              </a:defRPr>
            </a:pPr>
            <a:r>
              <a:t>Agent Registry</a:t>
            </a:r>
          </a:p>
        </p:txBody>
      </p:sp>
      <p:sp>
        <p:nvSpPr>
          <p:cNvPr id="4" name="TextBox 3"/>
          <p:cNvSpPr txBox="1"/>
          <p:nvPr/>
        </p:nvSpPr>
        <p:spPr>
          <a:xfrm>
            <a:off x="731520" y="3474720"/>
            <a:ext cx="10058400" cy="548640"/>
          </a:xfrm>
          <a:prstGeom prst="rect">
            <a:avLst/>
          </a:prstGeom>
          <a:noFill/>
        </p:spPr>
        <p:txBody>
          <a:bodyPr wrap="square">
            <a:spAutoFit/>
          </a:bodyPr>
          <a:lstStyle/>
          <a:p>
            <a:pPr algn="l">
              <a:defRPr sz="2200" b="0">
                <a:solidFill>
                  <a:srgbClr val="9AA0A6"/>
                </a:solidFill>
                <a:latin typeface="Calibri"/>
              </a:defRPr>
            </a:pPr>
            <a:r>
              <a:t>Agent registration, discovery, and governance</a:t>
            </a:r>
          </a:p>
        </p:txBody>
      </p:sp>
      <p:sp>
        <p:nvSpPr>
          <p:cNvPr id="5" name="TextBox 4"/>
          <p:cNvSpPr txBox="1"/>
          <p:nvPr/>
        </p:nvSpPr>
        <p:spPr>
          <a:xfrm>
            <a:off x="274320" y="594360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a:t>
            </a:r>
          </a:p>
        </p:txBody>
      </p:sp>
      <p:sp>
        <p:nvSpPr>
          <p:cNvPr id="6" name="TextBox 5"/>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3600" b="1">
                <a:solidFill>
                  <a:srgbClr val="202124"/>
                </a:solidFill>
                <a:latin typeface="Calibri"/>
              </a:defRPr>
            </a:pPr>
            <a:r>
              <a:t>Agent Registry &amp; Discovery</a:t>
            </a:r>
          </a:p>
        </p:txBody>
      </p:sp>
      <p:sp>
        <p:nvSpPr>
          <p:cNvPr id="3" name="TextBox 2"/>
          <p:cNvSpPr txBox="1"/>
          <p:nvPr/>
        </p:nvSpPr>
        <p:spPr>
          <a:xfrm>
            <a:off x="731520" y="1188720"/>
            <a:ext cx="5029200" cy="2286000"/>
          </a:xfrm>
          <a:prstGeom prst="rect">
            <a:avLst/>
          </a:prstGeom>
          <a:noFill/>
        </p:spPr>
        <p:txBody>
          <a:bodyPr wrap="square">
            <a:spAutoFit/>
          </a:bodyPr>
          <a:lstStyle/>
          <a:p>
            <a:pPr>
              <a:spcAft>
                <a:spcPts val="800"/>
              </a:spcAft>
              <a:defRPr sz="2200" b="1">
                <a:solidFill>
                  <a:srgbClr val="1A73E8"/>
                </a:solidFill>
                <a:latin typeface="Calibri"/>
              </a:defRPr>
            </a:pPr>
            <a:r>
              <a:t>Registry Capabilities</a:t>
            </a:r>
          </a:p>
          <a:p>
            <a:pPr>
              <a:spcBef>
                <a:spcPts val="600"/>
              </a:spcBef>
              <a:defRPr sz="1800">
                <a:solidFill>
                  <a:srgbClr val="202124"/>
                </a:solidFill>
                <a:latin typeface="Calibri"/>
              </a:defRPr>
            </a:pPr>
            <a:r>
              <a:t>Register agents with metadata, toolspecs, and versioning</a:t>
            </a:r>
          </a:p>
          <a:p>
            <a:pPr>
              <a:spcBef>
                <a:spcPts val="600"/>
              </a:spcBef>
              <a:defRPr sz="1800">
                <a:solidFill>
                  <a:srgbClr val="202124"/>
                </a:solidFill>
                <a:latin typeface="Calibri"/>
              </a:defRPr>
            </a:pPr>
            <a:r>
              <a:t>Discover available agents and their capabilities</a:t>
            </a:r>
          </a:p>
          <a:p>
            <a:pPr>
              <a:spcBef>
                <a:spcPts val="600"/>
              </a:spcBef>
              <a:defRPr sz="1800">
                <a:solidFill>
                  <a:srgbClr val="202124"/>
                </a:solidFill>
                <a:latin typeface="Calibri"/>
              </a:defRPr>
            </a:pPr>
            <a:r>
              <a:t>Associate MCP tool specifications with agents</a:t>
            </a:r>
          </a:p>
          <a:p>
            <a:pPr>
              <a:spcBef>
                <a:spcPts val="600"/>
              </a:spcBef>
              <a:defRPr sz="1800">
                <a:solidFill>
                  <a:srgbClr val="202124"/>
                </a:solidFill>
                <a:latin typeface="Calibri"/>
              </a:defRPr>
            </a:pPr>
            <a:r>
              <a:t>Govern agent lifecycle and access control</a:t>
            </a:r>
          </a:p>
        </p:txBody>
      </p:sp>
      <p:sp>
        <p:nvSpPr>
          <p:cNvPr id="4" name="TextBox 3"/>
          <p:cNvSpPr txBox="1"/>
          <p:nvPr/>
        </p:nvSpPr>
        <p:spPr>
          <a:xfrm>
            <a:off x="731520" y="3657600"/>
            <a:ext cx="5029200" cy="365760"/>
          </a:xfrm>
          <a:prstGeom prst="rect">
            <a:avLst/>
          </a:prstGeom>
          <a:noFill/>
        </p:spPr>
        <p:txBody>
          <a:bodyPr wrap="square">
            <a:spAutoFit/>
          </a:bodyPr>
          <a:lstStyle/>
          <a:p>
            <a:pPr algn="l">
              <a:defRPr sz="2000" b="1">
                <a:solidFill>
                  <a:srgbClr val="1A73E8"/>
                </a:solidFill>
                <a:latin typeface="Calibri"/>
              </a:defRPr>
            </a:pPr>
            <a:r>
              <a:t>Toolspec Association</a:t>
            </a:r>
          </a:p>
        </p:txBody>
      </p:sp>
      <p:sp>
        <p:nvSpPr>
          <p:cNvPr id="5" name="Rounded Rectangle 4"/>
          <p:cNvSpPr/>
          <p:nvPr/>
        </p:nvSpPr>
        <p:spPr>
          <a:xfrm>
            <a:off x="731520" y="4114800"/>
            <a:ext cx="5029200" cy="1371600"/>
          </a:xfrm>
          <a:prstGeom prst="roundRect">
            <a:avLst/>
          </a:prstGeom>
          <a:solidFill>
            <a:srgbClr val="F8F9FA"/>
          </a:solidFill>
          <a:ln w="12700">
            <a:solidFill>
              <a:srgbClr val="DADCE0"/>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rIns="152400" bIns="101600"/>
          <a:lstStyle/>
          <a:p>
            <a:pPr algn="ctr">
              <a:spcBef>
                <a:spcPts val="0"/>
              </a:spcBef>
              <a:spcAft>
                <a:spcPts val="0"/>
              </a:spcAft>
              <a:defRPr sz="1200">
                <a:solidFill>
                  <a:srgbClr val="202124"/>
                </a:solidFill>
                <a:latin typeface="Consolas"/>
              </a:defRPr>
            </a:pPr>
            <a:r>
              <a:t>gcloud agent-platform agent-registry \</a:t>
            </a:r>
          </a:p>
          <a:p>
            <a:pPr>
              <a:spcBef>
                <a:spcPts val="0"/>
              </a:spcBef>
              <a:spcAft>
                <a:spcPts val="0"/>
              </a:spcAft>
              <a:defRPr sz="1200">
                <a:solidFill>
                  <a:srgbClr val="202124"/>
                </a:solidFill>
                <a:latin typeface="Consolas"/>
              </a:defRPr>
            </a:pPr>
            <a:r>
              <a:t>  toolspecs associate \</a:t>
            </a:r>
          </a:p>
          <a:p>
            <a:pPr>
              <a:spcBef>
                <a:spcPts val="0"/>
              </a:spcBef>
              <a:spcAft>
                <a:spcPts val="0"/>
              </a:spcAft>
              <a:defRPr sz="1200">
                <a:solidFill>
                  <a:srgbClr val="202124"/>
                </a:solidFill>
                <a:latin typeface="Consolas"/>
              </a:defRPr>
            </a:pPr>
            <a:r>
              <a:t>  --agent=geap-coordinator \</a:t>
            </a:r>
          </a:p>
          <a:p>
            <a:pPr>
              <a:spcBef>
                <a:spcPts val="0"/>
              </a:spcBef>
              <a:spcAft>
                <a:spcPts val="0"/>
              </a:spcAft>
              <a:defRPr sz="1200">
                <a:solidFill>
                  <a:srgbClr val="202124"/>
                </a:solidFill>
                <a:latin typeface="Consolas"/>
              </a:defRPr>
            </a:pPr>
            <a:r>
              <a:t>  --toolspec=search-mcp-spec.yaml</a:t>
            </a:r>
          </a:p>
        </p:txBody>
      </p:sp>
      <p:pic>
        <p:nvPicPr>
          <p:cNvPr id="6" name="Picture 5" descr="session3_agent_registry_mcp.png"/>
          <p:cNvPicPr>
            <a:picLocks noChangeAspect="1"/>
          </p:cNvPicPr>
          <p:nvPr/>
        </p:nvPicPr>
        <p:blipFill>
          <a:blip r:embed="rId2"/>
          <a:stretch>
            <a:fillRect/>
          </a:stretch>
        </p:blipFill>
        <p:spPr>
          <a:xfrm>
            <a:off x="6400800" y="1188720"/>
            <a:ext cx="5303520" cy="3352097"/>
          </a:xfrm>
          <a:prstGeom prst="rect">
            <a:avLst/>
          </a:prstGeom>
        </p:spPr>
      </p:pic>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200" b="1">
                <a:solidFill>
                  <a:srgbClr val="FFFFFF"/>
                </a:solidFill>
                <a:latin typeface="Calibri"/>
              </a:defRPr>
            </a:pPr>
            <a:r>
              <a:t>Console: Business Policies</a:t>
            </a:r>
          </a:p>
        </p:txBody>
      </p:sp>
      <p:pic>
        <p:nvPicPr>
          <p:cNvPr id="3" name="Picture 2" descr="session3_policies.png"/>
          <p:cNvPicPr>
            <a:picLocks noChangeAspect="1"/>
          </p:cNvPicPr>
          <p:nvPr/>
        </p:nvPicPr>
        <p:blipFill>
          <a:blip r:embed="rId2"/>
          <a:stretch>
            <a:fillRect/>
          </a:stretch>
        </p:blipFill>
        <p:spPr>
          <a:xfrm>
            <a:off x="731520" y="1188720"/>
            <a:ext cx="10515600" cy="6646398"/>
          </a:xfrm>
          <a:prstGeom prst="rect">
            <a:avLst/>
          </a:prstGeom>
        </p:spPr>
      </p:pic>
      <p:sp>
        <p:nvSpPr>
          <p:cNvPr id="4" name="TextBox 3"/>
          <p:cNvSpPr txBox="1"/>
          <p:nvPr/>
        </p:nvSpPr>
        <p:spPr>
          <a:xfrm>
            <a:off x="6400800" y="6309360"/>
            <a:ext cx="3657600" cy="274320"/>
          </a:xfrm>
          <a:prstGeom prst="rect">
            <a:avLst/>
          </a:prstGeom>
          <a:noFill/>
        </p:spPr>
        <p:txBody>
          <a:bodyPr wrap="square">
            <a:spAutoFit/>
          </a:bodyPr>
          <a:lstStyle/>
          <a:p>
            <a:pPr algn="l"/>
            <a:r>
              <a:rPr sz="1000">
                <a:solidFill>
                  <a:srgbClr val="AAAAAA"/>
                </a:solidFill>
                <a:latin typeface="Calibri"/>
                <a:hlinkClick r:id="rId3"/>
              </a:rPr>
              <a:t>Open in Cloud Console</a:t>
            </a:r>
          </a:p>
        </p:txBody>
      </p:sp>
      <p:sp>
        <p:nvSpPr>
          <p:cNvPr id="5" name="TextBox 4"/>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gradFill rotWithShape="1">
          <a:gsLst>
            <a:gs pos="0">
              <a:srgbClr val="C5221F"/>
            </a:gs>
            <a:gs pos="100000">
              <a:srgbClr val="D93025"/>
            </a:gs>
          </a:gsLst>
          <a:lin scaled="0"/>
        </a:gra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600" b="1">
                <a:solidFill>
                  <a:srgbClr val="FFCCCC"/>
                </a:solidFill>
                <a:latin typeface="Calibri"/>
              </a:defRPr>
            </a:pPr>
            <a:r>
              <a:t>Session 4</a:t>
            </a:r>
          </a:p>
        </p:txBody>
      </p:sp>
      <p:sp>
        <p:nvSpPr>
          <p:cNvPr id="3" name="TextBox 2"/>
          <p:cNvSpPr txBox="1"/>
          <p:nvPr/>
        </p:nvSpPr>
        <p:spPr>
          <a:xfrm>
            <a:off x="731520" y="1828800"/>
            <a:ext cx="10058400" cy="1371600"/>
          </a:xfrm>
          <a:prstGeom prst="rect">
            <a:avLst/>
          </a:prstGeom>
          <a:noFill/>
        </p:spPr>
        <p:txBody>
          <a:bodyPr wrap="square">
            <a:spAutoFit/>
          </a:bodyPr>
          <a:lstStyle/>
          <a:p>
            <a:pPr algn="l">
              <a:defRPr sz="4800" b="1">
                <a:solidFill>
                  <a:srgbClr val="FFFFFF"/>
                </a:solidFill>
                <a:latin typeface="Calibri"/>
              </a:defRPr>
            </a:pPr>
            <a:r>
              <a:t>Model Security /</a:t>
            </a:r>
            <a:br/>
            <a:r>
              <a:t>Model Armor</a:t>
            </a:r>
          </a:p>
        </p:txBody>
      </p:sp>
      <p:sp>
        <p:nvSpPr>
          <p:cNvPr id="4" name="TextBox 3"/>
          <p:cNvSpPr txBox="1"/>
          <p:nvPr/>
        </p:nvSpPr>
        <p:spPr>
          <a:xfrm>
            <a:off x="731520" y="3840480"/>
            <a:ext cx="10058400" cy="548640"/>
          </a:xfrm>
          <a:prstGeom prst="rect">
            <a:avLst/>
          </a:prstGeom>
          <a:noFill/>
        </p:spPr>
        <p:txBody>
          <a:bodyPr wrap="square">
            <a:spAutoFit/>
          </a:bodyPr>
          <a:lstStyle/>
          <a:p>
            <a:pPr algn="l">
              <a:defRPr sz="2200" b="0">
                <a:solidFill>
                  <a:srgbClr val="FFCCCC"/>
                </a:solidFill>
                <a:latin typeface="Calibri"/>
              </a:defRPr>
            </a:pPr>
            <a:r>
              <a:t>Input/output screening, guardrails, and content safety</a:t>
            </a:r>
          </a:p>
        </p:txBody>
      </p:sp>
      <p:sp>
        <p:nvSpPr>
          <p:cNvPr id="5" name="TextBox 4"/>
          <p:cNvSpPr txBox="1"/>
          <p:nvPr/>
        </p:nvSpPr>
        <p:spPr>
          <a:xfrm>
            <a:off x="274320" y="5943600"/>
            <a:ext cx="6400800" cy="274320"/>
          </a:xfrm>
          <a:prstGeom prst="rect">
            <a:avLst/>
          </a:prstGeom>
          <a:noFill/>
        </p:spPr>
        <p:txBody>
          <a:bodyPr wrap="square">
            <a:spAutoFit/>
          </a:bodyPr>
          <a:lstStyle/>
          <a:p>
            <a:pPr algn="l"/>
            <a:r>
              <a:rPr sz="1000">
                <a:solidFill>
                  <a:srgbClr val="5F6368"/>
                </a:solidFill>
                <a:latin typeface="Calibri"/>
                <a:hlinkClick r:id="rId2"/>
              </a:rPr>
              <a:t>https://github.com/jswortz/geap-tour</a:t>
            </a:r>
          </a:p>
        </p:txBody>
      </p:sp>
      <p:sp>
        <p:nvSpPr>
          <p:cNvPr id="6" name="TextBox 5"/>
          <p:cNvSpPr txBox="1"/>
          <p:nvPr/>
        </p:nvSpPr>
        <p:spPr>
          <a:xfrm>
            <a:off x="10058400" y="6309360"/>
            <a:ext cx="1828800" cy="365760"/>
          </a:xfrm>
          <a:prstGeom prst="rect">
            <a:avLst/>
          </a:prstGeom>
          <a:noFill/>
        </p:spPr>
        <p:txBody>
          <a:bodyPr wrap="square">
            <a:spAutoFit/>
          </a:bodyPr>
          <a:lstStyle/>
          <a:p>
            <a:pPr algn="r">
              <a:defRPr sz="1400" b="0">
                <a:solidFill>
                  <a:srgbClr val="FF9999"/>
                </a:solidFill>
                <a:latin typeface="Calibri"/>
              </a:defRPr>
            </a:pPr>
            <a:r>
              <a:t>Google Cloud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600" b="1">
                <a:solidFill>
                  <a:srgbClr val="202124"/>
                </a:solidFill>
                <a:latin typeface="Calibri"/>
              </a:defRPr>
            </a:pPr>
            <a:r>
              <a:t>Model Armor — Content Safety Integration</a:t>
            </a:r>
          </a:p>
        </p:txBody>
      </p:sp>
      <p:pic>
        <p:nvPicPr>
          <p:cNvPr id="3" name="Picture 2" descr="07_agent_armor.png"/>
          <p:cNvPicPr>
            <a:picLocks noChangeAspect="1"/>
          </p:cNvPicPr>
          <p:nvPr/>
        </p:nvPicPr>
        <p:blipFill>
          <a:blip r:embed="rId2"/>
          <a:stretch>
            <a:fillRect/>
          </a:stretch>
        </p:blipFill>
        <p:spPr>
          <a:xfrm>
            <a:off x="457200" y="1188720"/>
            <a:ext cx="5486400" cy="3062177"/>
          </a:xfrm>
          <a:prstGeom prst="rect">
            <a:avLst/>
          </a:prstGeom>
        </p:spPr>
      </p:pic>
      <p:sp>
        <p:nvSpPr>
          <p:cNvPr id="4" name="Rounded Rectangle 3"/>
          <p:cNvSpPr/>
          <p:nvPr/>
        </p:nvSpPr>
        <p:spPr>
          <a:xfrm>
            <a:off x="6400800" y="1188720"/>
            <a:ext cx="5029200" cy="1371600"/>
          </a:xfrm>
          <a:prstGeom prst="roundRect">
            <a:avLst/>
          </a:prstGeom>
          <a:solidFill>
            <a:srgbClr val="FFFFFF"/>
          </a:solidFill>
          <a:ln w="25400">
            <a:solidFill>
              <a:srgbClr val="D93025"/>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D93025"/>
                </a:solidFill>
                <a:latin typeface="Calibri"/>
              </a:defRPr>
            </a:pPr>
            <a:r>
              <a:t>Input Screening</a:t>
            </a:r>
          </a:p>
          <a:p>
            <a:pPr>
              <a:spcBef>
                <a:spcPts val="600"/>
              </a:spcBef>
              <a:defRPr sz="1300">
                <a:solidFill>
                  <a:srgbClr val="5F6368"/>
                </a:solidFill>
                <a:latin typeface="Calibri"/>
              </a:defRPr>
            </a:pPr>
            <a:r>
              <a:t>Prompt injection detection, jailbreak prevention, PII filtering before model call</a:t>
            </a:r>
          </a:p>
        </p:txBody>
      </p:sp>
      <p:sp>
        <p:nvSpPr>
          <p:cNvPr id="5" name="Rounded Rectangle 4"/>
          <p:cNvSpPr/>
          <p:nvPr/>
        </p:nvSpPr>
        <p:spPr>
          <a:xfrm>
            <a:off x="6400800" y="2834640"/>
            <a:ext cx="5029200" cy="137160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A73E8"/>
                </a:solidFill>
                <a:latin typeface="Calibri"/>
              </a:defRPr>
            </a:pPr>
            <a:r>
              <a:t>Output Screening</a:t>
            </a:r>
          </a:p>
          <a:p>
            <a:pPr>
              <a:spcBef>
                <a:spcPts val="600"/>
              </a:spcBef>
              <a:defRPr sz="1300">
                <a:solidFill>
                  <a:srgbClr val="5F6368"/>
                </a:solidFill>
                <a:latin typeface="Calibri"/>
              </a:defRPr>
            </a:pPr>
            <a:r>
              <a:t>Harmful content filtering, hallucination flags, safety score thresholds</a:t>
            </a:r>
          </a:p>
        </p:txBody>
      </p:sp>
      <p:sp>
        <p:nvSpPr>
          <p:cNvPr id="6" name="Rounded Rectangle 5"/>
          <p:cNvSpPr/>
          <p:nvPr/>
        </p:nvSpPr>
        <p:spPr>
          <a:xfrm>
            <a:off x="6400800" y="4480560"/>
            <a:ext cx="5029200" cy="137160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52400" tIns="101600"/>
          <a:lstStyle/>
          <a:p>
            <a:pPr algn="ctr">
              <a:defRPr sz="1600" b="1">
                <a:solidFill>
                  <a:srgbClr val="1E8E3E"/>
                </a:solidFill>
                <a:latin typeface="Calibri"/>
              </a:defRPr>
            </a:pPr>
            <a:r>
              <a:t>ADK Guardrail Callbacks</a:t>
            </a:r>
          </a:p>
          <a:p>
            <a:pPr>
              <a:spcBef>
                <a:spcPts val="600"/>
              </a:spcBef>
              <a:defRPr sz="1300">
                <a:solidFill>
                  <a:srgbClr val="5F6368"/>
                </a:solidFill>
                <a:latin typeface="Calibri"/>
              </a:defRPr>
            </a:pPr>
            <a:r>
              <a:t>before_model_callback and after_model_callback hooks integrated into agent lifecycle</a:t>
            </a:r>
          </a:p>
        </p:txBody>
      </p:sp>
      <p:sp>
        <p:nvSpPr>
          <p:cNvPr id="7" name="TextBox 6"/>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2" name="TextBox 1"/>
          <p:cNvSpPr txBox="1"/>
          <p:nvPr/>
        </p:nvSpPr>
        <p:spPr>
          <a:xfrm>
            <a:off x="731520" y="274320"/>
            <a:ext cx="9144000" cy="731520"/>
          </a:xfrm>
          <a:prstGeom prst="rect">
            <a:avLst/>
          </a:prstGeom>
          <a:noFill/>
        </p:spPr>
        <p:txBody>
          <a:bodyPr wrap="square">
            <a:spAutoFit/>
          </a:bodyPr>
          <a:lstStyle/>
          <a:p>
            <a:pPr algn="l">
              <a:defRPr sz="3200" b="1">
                <a:solidFill>
                  <a:srgbClr val="FFFFFF"/>
                </a:solidFill>
                <a:latin typeface="Calibri"/>
              </a:defRPr>
            </a:pPr>
            <a:r>
              <a:t>Console: Model Armor</a:t>
            </a:r>
          </a:p>
        </p:txBody>
      </p:sp>
      <p:pic>
        <p:nvPicPr>
          <p:cNvPr id="3" name="Picture 2" descr="session4_model_armor.png"/>
          <p:cNvPicPr>
            <a:picLocks noChangeAspect="1"/>
          </p:cNvPicPr>
          <p:nvPr/>
        </p:nvPicPr>
        <p:blipFill>
          <a:blip r:embed="rId2"/>
          <a:stretch>
            <a:fillRect/>
          </a:stretch>
        </p:blipFill>
        <p:spPr>
          <a:xfrm>
            <a:off x="731520" y="1188720"/>
            <a:ext cx="10515600" cy="6572250"/>
          </a:xfrm>
          <a:prstGeom prst="rect">
            <a:avLst/>
          </a:prstGeom>
        </p:spPr>
      </p:pic>
      <p:sp>
        <p:nvSpPr>
          <p:cNvPr id="4" name="TextBox 3"/>
          <p:cNvSpPr txBox="1"/>
          <p:nvPr/>
        </p:nvSpPr>
        <p:spPr>
          <a:xfrm>
            <a:off x="6400800" y="6309360"/>
            <a:ext cx="3657600" cy="274320"/>
          </a:xfrm>
          <a:prstGeom prst="rect">
            <a:avLst/>
          </a:prstGeom>
          <a:noFill/>
        </p:spPr>
        <p:txBody>
          <a:bodyPr wrap="square">
            <a:spAutoFit/>
          </a:bodyPr>
          <a:lstStyle/>
          <a:p>
            <a:pPr algn="l"/>
            <a:r>
              <a:rPr sz="1000">
                <a:solidFill>
                  <a:srgbClr val="AAAAAA"/>
                </a:solidFill>
                <a:latin typeface="Calibri"/>
                <a:hlinkClick r:id="rId3"/>
              </a:rPr>
              <a:t>Open in Cloud Console</a:t>
            </a:r>
          </a:p>
        </p:txBody>
      </p:sp>
      <p:sp>
        <p:nvSpPr>
          <p:cNvPr id="5" name="TextBox 4"/>
          <p:cNvSpPr txBox="1"/>
          <p:nvPr/>
        </p:nvSpPr>
        <p:spPr>
          <a:xfrm>
            <a:off x="10058400" y="6309360"/>
            <a:ext cx="1828800" cy="365760"/>
          </a:xfrm>
          <a:prstGeom prst="rect">
            <a:avLst/>
          </a:prstGeom>
          <a:noFill/>
        </p:spPr>
        <p:txBody>
          <a:bodyPr wrap="square">
            <a:spAutoFit/>
          </a:bodyPr>
          <a:lstStyle/>
          <a:p>
            <a:pPr algn="r">
              <a:defRPr sz="1400" b="0">
                <a:solidFill>
                  <a:srgbClr val="888888"/>
                </a:solidFill>
                <a:latin typeface="Calibri"/>
              </a:defRPr>
            </a:pPr>
            <a:r>
              <a:t>Google Cloud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
            <a:ext cx="7315200" cy="731520"/>
          </a:xfrm>
          <a:prstGeom prst="rect">
            <a:avLst/>
          </a:prstGeom>
          <a:noFill/>
        </p:spPr>
        <p:txBody>
          <a:bodyPr wrap="square">
            <a:spAutoFit/>
          </a:bodyPr>
          <a:lstStyle/>
          <a:p>
            <a:pPr algn="l">
              <a:defRPr sz="4200" b="1">
                <a:solidFill>
                  <a:srgbClr val="202124"/>
                </a:solidFill>
                <a:latin typeface="Calibri"/>
              </a:defRPr>
            </a:pPr>
            <a:r>
              <a:t>Platform Summary</a:t>
            </a:r>
          </a:p>
        </p:txBody>
      </p:sp>
      <p:sp>
        <p:nvSpPr>
          <p:cNvPr id="3" name="Rounded Rectangle 2"/>
          <p:cNvSpPr/>
          <p:nvPr/>
        </p:nvSpPr>
        <p:spPr>
          <a:xfrm>
            <a:off x="731520" y="1371600"/>
            <a:ext cx="3383280" cy="219456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defRPr sz="2000" b="1">
                <a:solidFill>
                  <a:srgbClr val="1A73E8"/>
                </a:solidFill>
                <a:latin typeface="Calibri"/>
              </a:defRPr>
            </a:pPr>
            <a:r>
              <a:t>Build</a:t>
            </a:r>
          </a:p>
          <a:p>
            <a:pPr>
              <a:spcBef>
                <a:spcPts val="400"/>
              </a:spcBef>
              <a:defRPr sz="1400">
                <a:solidFill>
                  <a:srgbClr val="5F6368"/>
                </a:solidFill>
                <a:latin typeface="Calibri"/>
              </a:defRPr>
            </a:pPr>
            <a:r>
              <a:t>• ADK agents with LlmAgent</a:t>
            </a:r>
          </a:p>
          <a:p>
            <a:pPr>
              <a:spcBef>
                <a:spcPts val="400"/>
              </a:spcBef>
              <a:defRPr sz="1400">
                <a:solidFill>
                  <a:srgbClr val="5F6368"/>
                </a:solidFill>
                <a:latin typeface="Calibri"/>
              </a:defRPr>
            </a:pPr>
            <a:r>
              <a:t>• FastMCP tool servers</a:t>
            </a:r>
          </a:p>
          <a:p>
            <a:pPr>
              <a:spcBef>
                <a:spcPts val="400"/>
              </a:spcBef>
              <a:defRPr sz="1400">
                <a:solidFill>
                  <a:srgbClr val="5F6368"/>
                </a:solidFill>
                <a:latin typeface="Calibri"/>
              </a:defRPr>
            </a:pPr>
            <a:r>
              <a:t>• Memory Bank + Router</a:t>
            </a:r>
          </a:p>
        </p:txBody>
      </p:sp>
      <p:sp>
        <p:nvSpPr>
          <p:cNvPr id="4" name="Rounded Rectangle 3"/>
          <p:cNvSpPr/>
          <p:nvPr/>
        </p:nvSpPr>
        <p:spPr>
          <a:xfrm>
            <a:off x="4480559" y="1371600"/>
            <a:ext cx="3383280" cy="219456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defRPr sz="2000" b="1">
                <a:solidFill>
                  <a:srgbClr val="1E8E3E"/>
                </a:solidFill>
                <a:latin typeface="Calibri"/>
              </a:defRPr>
            </a:pPr>
            <a:r>
              <a:t>Deploy</a:t>
            </a:r>
          </a:p>
          <a:p>
            <a:pPr>
              <a:spcBef>
                <a:spcPts val="400"/>
              </a:spcBef>
              <a:defRPr sz="1400">
                <a:solidFill>
                  <a:srgbClr val="5F6368"/>
                </a:solidFill>
                <a:latin typeface="Calibri"/>
              </a:defRPr>
            </a:pPr>
            <a:r>
              <a:t>• Cloud Run (MCP servers)</a:t>
            </a:r>
          </a:p>
          <a:p>
            <a:pPr>
              <a:spcBef>
                <a:spcPts val="400"/>
              </a:spcBef>
              <a:defRPr sz="1400">
                <a:solidFill>
                  <a:srgbClr val="5F6368"/>
                </a:solidFill>
                <a:latin typeface="Calibri"/>
              </a:defRPr>
            </a:pPr>
            <a:r>
              <a:t>• Agent Runtime (agents)</a:t>
            </a:r>
          </a:p>
          <a:p>
            <a:pPr>
              <a:spcBef>
                <a:spcPts val="400"/>
              </a:spcBef>
              <a:defRPr sz="1400">
                <a:solidFill>
                  <a:srgbClr val="5F6368"/>
                </a:solidFill>
                <a:latin typeface="Calibri"/>
              </a:defRPr>
            </a:pPr>
            <a:r>
              <a:t>• One-command deployment</a:t>
            </a:r>
          </a:p>
        </p:txBody>
      </p:sp>
      <p:sp>
        <p:nvSpPr>
          <p:cNvPr id="5" name="Rounded Rectangle 4"/>
          <p:cNvSpPr/>
          <p:nvPr/>
        </p:nvSpPr>
        <p:spPr>
          <a:xfrm>
            <a:off x="8229600" y="1371600"/>
            <a:ext cx="3383280" cy="2194560"/>
          </a:xfrm>
          <a:prstGeom prst="roundRect">
            <a:avLst/>
          </a:prstGeom>
          <a:solidFill>
            <a:srgbClr val="FFFFFF"/>
          </a:solidFill>
          <a:ln w="25400">
            <a:solidFill>
              <a:srgbClr val="F9AB00"/>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defRPr sz="2000" b="1">
                <a:solidFill>
                  <a:srgbClr val="F9AB00"/>
                </a:solidFill>
                <a:latin typeface="Calibri"/>
              </a:defRPr>
            </a:pPr>
            <a:r>
              <a:t>Govern</a:t>
            </a:r>
          </a:p>
          <a:p>
            <a:pPr>
              <a:spcBef>
                <a:spcPts val="400"/>
              </a:spcBef>
              <a:defRPr sz="1400">
                <a:solidFill>
                  <a:srgbClr val="5F6368"/>
                </a:solidFill>
                <a:latin typeface="Calibri"/>
              </a:defRPr>
            </a:pPr>
            <a:r>
              <a:t>• SPIFFE identity</a:t>
            </a:r>
          </a:p>
          <a:p>
            <a:pPr>
              <a:spcBef>
                <a:spcPts val="400"/>
              </a:spcBef>
              <a:defRPr sz="1400">
                <a:solidFill>
                  <a:srgbClr val="5F6368"/>
                </a:solidFill>
                <a:latin typeface="Calibri"/>
              </a:defRPr>
            </a:pPr>
            <a:r>
              <a:t>• Agent Gateway (dual)</a:t>
            </a:r>
          </a:p>
          <a:p>
            <a:pPr>
              <a:spcBef>
                <a:spcPts val="400"/>
              </a:spcBef>
              <a:defRPr sz="1400">
                <a:solidFill>
                  <a:srgbClr val="5F6368"/>
                </a:solidFill>
                <a:latin typeface="Calibri"/>
              </a:defRPr>
            </a:pPr>
            <a:r>
              <a:t>• Agent Registry</a:t>
            </a:r>
          </a:p>
        </p:txBody>
      </p:sp>
      <p:sp>
        <p:nvSpPr>
          <p:cNvPr id="6" name="Rounded Rectangle 5"/>
          <p:cNvSpPr/>
          <p:nvPr/>
        </p:nvSpPr>
        <p:spPr>
          <a:xfrm>
            <a:off x="731520" y="3931920"/>
            <a:ext cx="3383280" cy="2194560"/>
          </a:xfrm>
          <a:prstGeom prst="roundRect">
            <a:avLst/>
          </a:prstGeom>
          <a:solidFill>
            <a:srgbClr val="FFFFFF"/>
          </a:solidFill>
          <a:ln w="25400">
            <a:solidFill>
              <a:srgbClr val="D93025"/>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defRPr sz="2000" b="1">
                <a:solidFill>
                  <a:srgbClr val="D93025"/>
                </a:solidFill>
                <a:latin typeface="Calibri"/>
              </a:defRPr>
            </a:pPr>
            <a:r>
              <a:t>Secure</a:t>
            </a:r>
          </a:p>
          <a:p>
            <a:pPr>
              <a:spcBef>
                <a:spcPts val="400"/>
              </a:spcBef>
              <a:defRPr sz="1400">
                <a:solidFill>
                  <a:srgbClr val="5F6368"/>
                </a:solidFill>
                <a:latin typeface="Calibri"/>
              </a:defRPr>
            </a:pPr>
            <a:r>
              <a:t>• Model Armor templates</a:t>
            </a:r>
          </a:p>
          <a:p>
            <a:pPr>
              <a:spcBef>
                <a:spcPts val="400"/>
              </a:spcBef>
              <a:defRPr sz="1400">
                <a:solidFill>
                  <a:srgbClr val="5F6368"/>
                </a:solidFill>
                <a:latin typeface="Calibri"/>
              </a:defRPr>
            </a:pPr>
            <a:r>
              <a:t>• Input/output screening</a:t>
            </a:r>
          </a:p>
          <a:p>
            <a:pPr>
              <a:spcBef>
                <a:spcPts val="400"/>
              </a:spcBef>
              <a:defRPr sz="1400">
                <a:solidFill>
                  <a:srgbClr val="5F6368"/>
                </a:solidFill>
                <a:latin typeface="Calibri"/>
              </a:defRPr>
            </a:pPr>
            <a:r>
              <a:t>• Guardrail callbacks</a:t>
            </a:r>
          </a:p>
        </p:txBody>
      </p:sp>
      <p:sp>
        <p:nvSpPr>
          <p:cNvPr id="7" name="Rounded Rectangle 6"/>
          <p:cNvSpPr/>
          <p:nvPr/>
        </p:nvSpPr>
        <p:spPr>
          <a:xfrm>
            <a:off x="4480559" y="3931920"/>
            <a:ext cx="3383280" cy="2194560"/>
          </a:xfrm>
          <a:prstGeom prst="roundRect">
            <a:avLst/>
          </a:prstGeom>
          <a:solidFill>
            <a:srgbClr val="FFFFFF"/>
          </a:solidFill>
          <a:ln w="2540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defRPr sz="2000" b="1">
                <a:solidFill>
                  <a:srgbClr val="1A73E8"/>
                </a:solidFill>
                <a:latin typeface="Calibri"/>
              </a:defRPr>
            </a:pPr>
            <a:r>
              <a:t>Evaluate</a:t>
            </a:r>
          </a:p>
          <a:p>
            <a:pPr>
              <a:spcBef>
                <a:spcPts val="400"/>
              </a:spcBef>
              <a:defRPr sz="1400">
                <a:solidFill>
                  <a:srgbClr val="5F6368"/>
                </a:solidFill>
                <a:latin typeface="Calibri"/>
              </a:defRPr>
            </a:pPr>
            <a:r>
              <a:t>• One-time eval</a:t>
            </a:r>
          </a:p>
          <a:p>
            <a:pPr>
              <a:spcBef>
                <a:spcPts val="400"/>
              </a:spcBef>
              <a:defRPr sz="1400">
                <a:solidFill>
                  <a:srgbClr val="5F6368"/>
                </a:solidFill>
                <a:latin typeface="Calibri"/>
              </a:defRPr>
            </a:pPr>
            <a:r>
              <a:t>• Failure clusters</a:t>
            </a:r>
          </a:p>
          <a:p>
            <a:pPr>
              <a:spcBef>
                <a:spcPts val="400"/>
              </a:spcBef>
              <a:defRPr sz="1400">
                <a:solidFill>
                  <a:srgbClr val="5F6368"/>
                </a:solidFill>
                <a:latin typeface="Calibri"/>
              </a:defRPr>
            </a:pPr>
            <a:r>
              <a:t>• CI/CD eval gate</a:t>
            </a:r>
          </a:p>
        </p:txBody>
      </p:sp>
      <p:sp>
        <p:nvSpPr>
          <p:cNvPr id="8" name="Rounded Rectangle 7"/>
          <p:cNvSpPr/>
          <p:nvPr/>
        </p:nvSpPr>
        <p:spPr>
          <a:xfrm>
            <a:off x="8229600" y="3931920"/>
            <a:ext cx="3383280" cy="2194560"/>
          </a:xfrm>
          <a:prstGeom prst="roundRect">
            <a:avLst/>
          </a:prstGeom>
          <a:solidFill>
            <a:srgbClr val="FFFFFF"/>
          </a:solidFill>
          <a:ln w="25400">
            <a:solidFill>
              <a:srgbClr val="1E8E3E"/>
            </a:solidFill>
          </a:ln>
        </p:spPr>
        <p:style>
          <a:lnRef idx="1">
            <a:schemeClr val="accent1"/>
          </a:lnRef>
          <a:fillRef idx="3">
            <a:schemeClr val="accent1"/>
          </a:fillRef>
          <a:effectRef idx="2">
            <a:schemeClr val="accent1"/>
          </a:effectRef>
          <a:fontRef idx="minor">
            <a:schemeClr val="lt1"/>
          </a:fontRef>
        </p:style>
        <p:txBody>
          <a:bodyPr rtlCol="0" anchor="ctr" wrap="square" lIns="177800" tIns="127000"/>
          <a:lstStyle/>
          <a:p>
            <a:pPr algn="ctr">
              <a:defRPr sz="2000" b="1">
                <a:solidFill>
                  <a:srgbClr val="1E8E3E"/>
                </a:solidFill>
                <a:latin typeface="Calibri"/>
              </a:defRPr>
            </a:pPr>
            <a:r>
              <a:t>Optimize</a:t>
            </a:r>
          </a:p>
          <a:p>
            <a:pPr>
              <a:spcBef>
                <a:spcPts val="400"/>
              </a:spcBef>
              <a:defRPr sz="1400">
                <a:solidFill>
                  <a:srgbClr val="5F6368"/>
                </a:solidFill>
                <a:latin typeface="Calibri"/>
              </a:defRPr>
            </a:pPr>
            <a:r>
              <a:t>• GEPA algorithm</a:t>
            </a:r>
          </a:p>
          <a:p>
            <a:pPr>
              <a:spcBef>
                <a:spcPts val="400"/>
              </a:spcBef>
              <a:defRPr sz="1400">
                <a:solidFill>
                  <a:srgbClr val="5F6368"/>
                </a:solidFill>
                <a:latin typeface="Calibri"/>
              </a:defRPr>
            </a:pPr>
            <a:r>
              <a:t>• Multi-model routing</a:t>
            </a:r>
          </a:p>
          <a:p>
            <a:pPr>
              <a:spcBef>
                <a:spcPts val="400"/>
              </a:spcBef>
              <a:defRPr sz="1400">
                <a:solidFill>
                  <a:srgbClr val="5F6368"/>
                </a:solidFill>
                <a:latin typeface="Calibri"/>
              </a:defRPr>
            </a:pPr>
            <a:r>
              <a:t>• OTel observability</a:t>
            </a:r>
          </a:p>
        </p:txBody>
      </p:sp>
      <p:sp>
        <p:nvSpPr>
          <p:cNvPr id="9" name="TextBox 8"/>
          <p:cNvSpPr txBox="1"/>
          <p:nvPr/>
        </p:nvSpPr>
        <p:spPr>
          <a:xfrm>
            <a:off x="10058400" y="6309360"/>
            <a:ext cx="1828800" cy="365760"/>
          </a:xfrm>
          <a:prstGeom prst="rect">
            <a:avLst/>
          </a:prstGeom>
          <a:noFill/>
        </p:spPr>
        <p:txBody>
          <a:bodyPr wrap="square">
            <a:spAutoFit/>
          </a:bodyPr>
          <a:lstStyle/>
          <a:p>
            <a:pPr algn="r">
              <a:defRPr sz="1400" b="0">
                <a:solidFill>
                  <a:srgbClr val="5F6368"/>
                </a:solidFill>
                <a:latin typeface="Calibri"/>
              </a:defRPr>
            </a:pPr>
            <a:r>
              <a:t>Google Cloud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gradFill rotWithShape="1">
          <a:gsLst>
            <a:gs pos="0">
              <a:srgbClr val="174EA6"/>
            </a:gs>
            <a:gs pos="100000">
              <a:srgbClr val="1A73E8"/>
            </a:gs>
          </a:gsLst>
          <a:lin scaled="0"/>
        </a:gradFill>
        <a:effectLst/>
      </p:bgPr>
    </p:bg>
    <p:spTree>
      <p:nvGrpSpPr>
        <p:cNvPr id="1" name=""/>
        <p:cNvGrpSpPr/>
        <p:nvPr/>
      </p:nvGrpSpPr>
      <p:grpSpPr/>
      <p:sp>
        <p:nvSpPr>
          <p:cNvPr id="2" name="TextBox 1"/>
          <p:cNvSpPr txBox="1"/>
          <p:nvPr/>
        </p:nvSpPr>
        <p:spPr>
          <a:xfrm>
            <a:off x="731520" y="548640"/>
            <a:ext cx="4572000" cy="365760"/>
          </a:xfrm>
          <a:prstGeom prst="rect">
            <a:avLst/>
          </a:prstGeom>
          <a:noFill/>
        </p:spPr>
        <p:txBody>
          <a:bodyPr wrap="square">
            <a:spAutoFit/>
          </a:bodyPr>
          <a:lstStyle/>
          <a:p>
            <a:pPr algn="l">
              <a:defRPr sz="1600" b="1">
                <a:solidFill>
                  <a:srgbClr val="CCDDFF"/>
                </a:solidFill>
                <a:latin typeface="Calibri"/>
              </a:defRPr>
            </a:pPr>
            <a:r>
              <a:t>Resources</a:t>
            </a:r>
          </a:p>
        </p:txBody>
      </p:sp>
      <p:sp>
        <p:nvSpPr>
          <p:cNvPr id="3" name="TextBox 2"/>
          <p:cNvSpPr txBox="1"/>
          <p:nvPr/>
        </p:nvSpPr>
        <p:spPr>
          <a:xfrm>
            <a:off x="731520" y="1188720"/>
            <a:ext cx="10058400" cy="914400"/>
          </a:xfrm>
          <a:prstGeom prst="rect">
            <a:avLst/>
          </a:prstGeom>
          <a:noFill/>
        </p:spPr>
        <p:txBody>
          <a:bodyPr wrap="square">
            <a:spAutoFit/>
          </a:bodyPr>
          <a:lstStyle/>
          <a:p>
            <a:pPr algn="l">
              <a:defRPr sz="4800" b="1">
                <a:solidFill>
                  <a:srgbClr val="FFFFFF"/>
                </a:solidFill>
                <a:latin typeface="Calibri"/>
              </a:defRPr>
            </a:pPr>
            <a:r>
              <a:t>Get Started</a:t>
            </a:r>
          </a:p>
        </p:txBody>
      </p:sp>
      <p:sp>
        <p:nvSpPr>
          <p:cNvPr id="4" name="TextBox 3"/>
          <p:cNvSpPr txBox="1"/>
          <p:nvPr/>
        </p:nvSpPr>
        <p:spPr>
          <a:xfrm>
            <a:off x="731520" y="2560320"/>
            <a:ext cx="9144000" cy="2743200"/>
          </a:xfrm>
          <a:prstGeom prst="rect">
            <a:avLst/>
          </a:prstGeom>
          <a:noFill/>
        </p:spPr>
        <p:txBody>
          <a:bodyPr wrap="square">
            <a:spAutoFit/>
          </a:bodyPr>
          <a:lstStyle/>
          <a:p>
            <a:pPr>
              <a:spcBef>
                <a:spcPts val="600"/>
              </a:spcBef>
              <a:defRPr sz="2400">
                <a:solidFill>
                  <a:srgbClr val="EEEEFF"/>
                </a:solidFill>
                <a:latin typeface="Calibri"/>
              </a:defRPr>
            </a:pPr>
            <a:r>
              <a:t>Workshop repo:  github.com/jswortz/geap-tour</a:t>
            </a:r>
          </a:p>
          <a:p>
            <a:pPr>
              <a:spcBef>
                <a:spcPts val="600"/>
              </a:spcBef>
              <a:defRPr sz="2400">
                <a:solidFill>
                  <a:srgbClr val="EEEEFF"/>
                </a:solidFill>
                <a:latin typeface="Calibri"/>
              </a:defRPr>
            </a:pPr>
            <a:r>
              <a:t>Workshop guide:  docs/workshop_guide.md</a:t>
            </a:r>
          </a:p>
          <a:p>
            <a:pPr>
              <a:spcBef>
                <a:spcPts val="600"/>
              </a:spcBef>
              <a:defRPr sz="2400">
                <a:solidFill>
                  <a:srgbClr val="EEEEFF"/>
                </a:solidFill>
                <a:latin typeface="Calibri"/>
              </a:defRPr>
            </a:pPr>
            <a:r>
              <a:t>Agent Development Kit:  google.github.io/adk-docs</a:t>
            </a:r>
          </a:p>
          <a:p>
            <a:pPr>
              <a:spcBef>
                <a:spcPts val="600"/>
              </a:spcBef>
              <a:defRPr sz="2400">
                <a:solidFill>
                  <a:srgbClr val="EEEEFF"/>
                </a:solidFill>
                <a:latin typeface="Calibri"/>
              </a:defRPr>
            </a:pPr>
            <a:r>
              <a:t>MCP Protocol:  modelcontextprotocol.io</a:t>
            </a:r>
          </a:p>
          <a:p>
            <a:pPr>
              <a:spcBef>
                <a:spcPts val="600"/>
              </a:spcBef>
              <a:defRPr sz="2400">
                <a:solidFill>
                  <a:srgbClr val="EEEEFF"/>
                </a:solidFill>
                <a:latin typeface="Calibri"/>
              </a:defRPr>
            </a:pPr>
            <a:r>
              <a:t>Agent Platform:  cloud.google.com/agent-platform</a:t>
            </a:r>
          </a:p>
        </p:txBody>
      </p:sp>
      <p:sp>
        <p:nvSpPr>
          <p:cNvPr id="5" name="TextBox 4"/>
          <p:cNvSpPr txBox="1"/>
          <p:nvPr/>
        </p:nvSpPr>
        <p:spPr>
          <a:xfrm>
            <a:off x="731520" y="5486400"/>
            <a:ext cx="10058400" cy="457200"/>
          </a:xfrm>
          <a:prstGeom prst="rect">
            <a:avLst/>
          </a:prstGeom>
          <a:noFill/>
        </p:spPr>
        <p:txBody>
          <a:bodyPr wrap="square">
            <a:spAutoFit/>
          </a:bodyPr>
          <a:lstStyle/>
          <a:p>
            <a:pPr algn="l">
              <a:defRPr sz="2200" b="0">
                <a:solidFill>
                  <a:srgbClr val="AABBDD"/>
                </a:solidFill>
                <a:latin typeface="Calibri"/>
              </a:defRPr>
            </a:pPr>
            <a:r>
              <a:t>Thank you!</a:t>
            </a:r>
          </a:p>
        </p:txBody>
      </p:sp>
      <p:sp>
        <p:nvSpPr>
          <p:cNvPr id="6" name="TextBox 5"/>
          <p:cNvSpPr txBox="1"/>
          <p:nvPr/>
        </p:nvSpPr>
        <p:spPr>
          <a:xfrm>
            <a:off x="10058400" y="6309360"/>
            <a:ext cx="1828800" cy="365760"/>
          </a:xfrm>
          <a:prstGeom prst="rect">
            <a:avLst/>
          </a:prstGeom>
          <a:noFill/>
        </p:spPr>
        <p:txBody>
          <a:bodyPr wrap="square">
            <a:spAutoFit/>
          </a:bodyPr>
          <a:lstStyle/>
          <a:p>
            <a:pPr algn="r">
              <a:defRPr sz="1400" b="0">
                <a:solidFill>
                  <a:srgbClr val="8899CC"/>
                </a:solidFill>
                <a:latin typeface="Calibri"/>
              </a:defRPr>
            </a:pPr>
            <a:r>
              <a:t>Google Cloud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